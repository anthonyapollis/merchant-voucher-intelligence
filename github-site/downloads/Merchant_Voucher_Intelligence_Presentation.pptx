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74" r:id="rId26"/>
    <p:sldId id="260" r:id="rId11"/>
    <p:sldId id="261" r:id="rId12"/>
    <p:sldId id="262" r:id="rId13"/>
    <p:sldId id="263" r:id="rId14"/>
    <p:sldId id="264" r:id="rId15"/>
    <p:sldId id="265" r:id="rId16"/>
    <p:sldId id="266" r:id="rId17"/>
    <p:sldId id="275" r:id="rId2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notesMaster" Target="notesMasters/notesMaster1.xml"/><Relationship Id="rId26" Type="http://schemas.openxmlformats.org/officeDocument/2006/relationships/slide" Target="slides/slide5.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Open here — do not read the slide.</a:t>
            </a:r>
          </a:p>
          <a:p/>
          <a:p>
            <a:r>
              <a:t>"This is the second-round practical task. Four CSV files came in. What I will walk you through</a:t>
            </a:r>
          </a:p>
          <a:p>
            <a:r>
              <a:t>is what I built from them, and more to the point, how I know the numbers are right."</a:t>
            </a:r>
          </a:p>
          <a:p/>
          <a:p>
            <a:r>
              <a:t>Set the frame early: this is about trustworthy reporting, not about a dashboard. If anyone in</a:t>
            </a:r>
          </a:p>
          <a:p>
            <a:r>
              <a:t>the room owns finance, that is the thing they care about.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 The line that matters: every figure in this deck is reproducible — one command</a:t>
            </a:r>
          </a:p>
          <a:p>
            <a:r>
              <a:t>rebuilds the whole thing in about two minutes.</a:t>
            </a:r>
          </a:p>
          <a:p/>
          <a:p>
            <a:r>
              <a:t>Then the point of the slide: the gold layer is built TWICE, once in Python and once in SQL,</a:t>
            </a:r>
          </a:p>
          <a:p>
            <a:r>
              <a:t>and they must agree to the cent before anything ships. That turns "the numbers tie" from a</a:t>
            </a:r>
          </a:p>
          <a:p>
            <a:r>
              <a:t>claim into something checkable.</a:t>
            </a:r>
          </a:p>
          <a:p/>
          <a:p>
            <a:r>
              <a:t>Plant the two defects it caught, but do not explain them — slide 13 does that. Just establish</a:t>
            </a:r>
          </a:p>
          <a:p>
            <a:r>
              <a:t>that the checking found real things.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Follow the row left to right. A file lands here, and by the time it reaches</a:t>
            </a:r>
          </a:p>
          <a:p>
            <a:r>
              <a:t>Power BI it has passed a quality gate that stops the build if it fails.</a:t>
            </a:r>
          </a:p>
          <a:p/>
          <a:p>
            <a:r>
              <a:t>The stage worth pausing on is the gate between silver and gold. If a test fails, gold is NOT</a:t>
            </a:r>
          </a:p>
          <a:p>
            <a:r>
              <a:t>rebuilt, so the report keeps showing yesterday's correct numbers rather than today's wrong</a:t>
            </a:r>
          </a:p>
          <a:p>
            <a:r>
              <a:t>ones. Stale and right beats fresh and wrong — that is a deliberate choice, not a limitation.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This diagram is generated from dbt's manifest, not drawn by hand, so it cannot</a:t>
            </a:r>
          </a:p>
          <a:p>
            <a:r>
              <a:t>drift from the code.</a:t>
            </a:r>
          </a:p>
          <a:p/>
          <a:p>
            <a:r>
              <a:t>That is the whole point. Documentation maintained separately from code is wrong within a</a:t>
            </a:r>
          </a:p>
          <a:p>
            <a:r>
              <a:t>month. Move on quickly unless asked — a technical audience will notice the lineage without you</a:t>
            </a:r>
          </a:p>
          <a:p>
            <a:r>
              <a:t>labouring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Be blunt about the starting point. Four flat files. The same merchant name in</a:t>
            </a:r>
          </a:p>
          <a:p>
            <a:r>
              <a:t>four places, nothing enforcing they agree, every value arriving as text, and no calendar at</a:t>
            </a:r>
          </a:p>
          <a:p>
            <a:r>
              <a:t>all.</a:t>
            </a:r>
          </a:p>
          <a:p/>
          <a:p>
            <a:r>
              <a:t>The dashed lines are joins nobody validates — string matches that would fail silently. This</a:t>
            </a:r>
          </a:p>
          <a:p>
            <a:r>
              <a:t>slide exists to make the next one mean something.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 Same data, after modelling. Fifteen foreign keys, and each one is a test that</a:t>
            </a:r>
          </a:p>
          <a:p>
            <a:r>
              <a:t>runs on every build.</a:t>
            </a:r>
          </a:p>
          <a:p/>
          <a:p>
            <a:r>
              <a:t>The line for a technical room: a broken join does not throw an error, it returns FEWER ROWS.</a:t>
            </a:r>
          </a:p>
          <a:p>
            <a:r>
              <a:t>The totals quietly get smaller and nobody is told. That is why they are tested rather than</a:t>
            </a:r>
          </a:p>
          <a:p>
            <a:r>
              <a:t>trusted.</a:t>
            </a:r>
          </a:p>
          <a:p/>
          <a:p>
            <a:r>
              <a:t>If asked why dimensions are flat rather than fully normalised: at this size normalising saves</a:t>
            </a:r>
          </a:p>
          <a:p>
            <a:r>
              <a:t>no meaningful storage and costs an extra join on every query. That is Kimball's own guidance,</a:t>
            </a:r>
          </a:p>
          <a:p>
            <a:r>
              <a:t>not a shortcut.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 Expect a challenge, so raise it yourself. The README suggests five tables and I</a:t>
            </a:r>
          </a:p>
          <a:p>
            <a:r>
              <a:t>built fourteen — that needs justifying table by table, not waving through.</a:t>
            </a:r>
          </a:p>
          <a:p/>
          <a:p>
            <a:r>
              <a:t>Four come from supplied CSVs. One is DimDate, which the README asks for but does not supply.</a:t>
            </a:r>
          </a:p>
          <a:p>
            <a:r>
              <a:t>Four exist because the brief requires them. One is a grain necessity. Four are mine, and they</a:t>
            </a:r>
          </a:p>
          <a:p>
            <a:r>
              <a:t>are labelled as mine in the model itself.</a:t>
            </a:r>
          </a:p>
          <a:p/>
          <a:p>
            <a:r>
              <a:t>The concession if pushed: those last four are the exposed surface. Say so before they 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Slow down and let the numbers sit. R65.5 million, 510,127 transactions, 84.2</a:t>
            </a:r>
          </a:p>
          <a:p>
            <a:r>
              <a:t>percent redemption.</a:t>
            </a:r>
          </a:p>
          <a:p/>
          <a:p>
            <a:r>
              <a:t>These are the same figures in the Power BI report, the Excel pack and the SQL — because they</a:t>
            </a:r>
          </a:p>
          <a:p>
            <a:r>
              <a:t>come from one model, not three spreadsheets.</a:t>
            </a:r>
          </a:p>
          <a:p/>
          <a:p>
            <a:r>
              <a:t>For a CFO, that sentence is the entire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brief's actual question set. The panel will care most about this slide. One</a:t>
            </a:r>
          </a:p>
          <a:p>
            <a:r>
              <a:t>sentence each, then stop.</a:t>
            </a:r>
          </a:p>
          <a:p/>
          <a:p>
            <a:r>
              <a:t>Two worth dwelling on. Voucher type: Airtime 92.8 percent against Gaming 76.0 — a 16.9 point</a:t>
            </a:r>
          </a:p>
          <a:p>
            <a:r>
              <a:t>spread, and time-to-redeem is flat across types, so the difference is WHETHER customers</a:t>
            </a:r>
          </a:p>
          <a:p>
            <a:r>
              <a:t>redeem, not how quickly.</a:t>
            </a:r>
          </a:p>
          <a:p/>
          <a:p>
            <a:r>
              <a:t>And where management should focus: ranking by percentage decline sends you to the smallest</a:t>
            </a:r>
          </a:p>
          <a:p>
            <a:r>
              <a:t>merchants. Ranking by RAND at risk sends you to the ones that matter.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The intellectual honesty slide. Take your time here.</a:t>
            </a:r>
          </a:p>
          <a:p/>
          <a:p>
            <a:r>
              <a:t>The obvious analysis says tickets are associated with weaker performance — correlation minus</a:t>
            </a:r>
          </a:p>
          <a:p>
            <a:r>
              <a:t>0.56. But it is confounded by size: bigger merchants have more of everything.</a:t>
            </a:r>
          </a:p>
          <a:p/>
          <a:p>
            <a:r>
              <a:t>Control for size and it collapses to minus 0.20. So the portfolio-level rule is not supported.</a:t>
            </a:r>
          </a:p>
          <a:p>
            <a:r>
              <a:t>The real signal is event-level — Umhlanga, tickets up 693 percent while sales fell 42.5</a:t>
            </a:r>
          </a:p>
          <a:p>
            <a:r>
              <a:t>percent in the same month.</a:t>
            </a:r>
          </a:p>
          <a:p/>
          <a:p>
            <a:r>
              <a:t>If they remember one slide about how you think, make it this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 Keep it short and resist the jargon.</a:t>
            </a:r>
          </a:p>
          <a:p/>
          <a:p>
            <a:r>
              <a:t>Five models, all validated on time-based splits — never a random split, because a random split</a:t>
            </a:r>
          </a:p>
          <a:p>
            <a:r>
              <a:t>on time-series data lets the model see the future and reports a score you cannot reproduce in</a:t>
            </a:r>
          </a:p>
          <a:p>
            <a:r>
              <a:t>production.</a:t>
            </a:r>
          </a:p>
          <a:p/>
          <a:p>
            <a:r>
              <a:t>The honest line: the redemption model reaches AUC 0.620 against a theoretical ceiling of 0.621</a:t>
            </a:r>
          </a:p>
          <a:p>
            <a:r>
              <a:t>for this dataset. That is 99.8 percent of the available signal. It is low because the data has</a:t>
            </a:r>
          </a:p>
          <a:p>
            <a:r>
              <a:t>no customer-level features, not because the model is weak.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Five provinces, and the useful finding is where the business is NOT.</a:t>
            </a:r>
          </a:p>
          <a:p/>
          <a:p>
            <a:r>
              <a:t>Eastern Cape is the only region below its own peak. Keep it brief — the map is doing the work,</a:t>
            </a:r>
          </a:p>
          <a:p>
            <a:r>
              <a:t>and the detail sits on the Business Answers page if anyone wants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Your strongest slide with a finance audience.</a:t>
            </a:r>
          </a:p>
          <a:p/>
          <a:p>
            <a:r>
              <a:t>Twenty-eight controls. Twenty-seven tie exactly. One is a documented rounding convention. And</a:t>
            </a:r>
          </a:p>
          <a:p>
            <a:r>
              <a:t>one variance of R43.5 million is recorded as EXPECTED, with its reason attached.</a:t>
            </a:r>
          </a:p>
          <a:p/>
          <a:p>
            <a:r>
              <a:t>Explain that last part: the sales fact and the voucher fact count different populations —</a:t>
            </a:r>
          </a:p>
          <a:p>
            <a:r>
              <a:t>510,127 transactions against 120,969 vouchers. They must NOT agree. Recording it as expected</a:t>
            </a:r>
          </a:p>
          <a:p>
            <a:r>
              <a:t>is what stops someone escalating it as a break every quarter.</a:t>
            </a:r>
          </a:p>
          <a:p/>
          <a:p>
            <a:r>
              <a:t>Then the R984,046 story, about forty-five seconds. Lead with the mechanism, not the mistake:</a:t>
            </a:r>
          </a:p>
          <a:p>
            <a:r>
              <a:t>two implementations disagreed, and the gap pointed at a date window no schema test could see.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 Frame it as prevent, detect, correct — detection alone is not a control</a:t>
            </a:r>
          </a:p>
          <a:p>
            <a:r>
              <a:t>framework.</a:t>
            </a:r>
          </a:p>
          <a:p/>
          <a:p>
            <a:r>
              <a:t>The part that lands: four controls CANNOT be built on this data, and each one names what it</a:t>
            </a:r>
          </a:p>
          <a:p>
            <a:r>
              <a:t>would need. Duplicate redemption needs the raw event log including failed attempts. Customer</a:t>
            </a:r>
          </a:p>
          <a:p>
            <a:r>
              <a:t>velocity needs a customer identifier, which does not exist in any of the four files.</a:t>
            </a:r>
          </a:p>
          <a:p/>
          <a:p>
            <a:r>
              <a:t>Saying what you cannot do is more useful than a dashboard implying you can.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 Provisioned by REST API, authenticated with a CLI token — no service principal</a:t>
            </a:r>
          </a:p>
          <a:p>
            <a:r>
              <a:t>secret stored anywhere in the repository.</a:t>
            </a:r>
          </a:p>
          <a:p/>
          <a:p>
            <a:r>
              <a:t>The number to land: the medallion pipeline completed in five minutes fifty-four seconds, and</a:t>
            </a:r>
          </a:p>
          <a:p>
            <a:r>
              <a:t>the gold tables in the Warehouse tie to R65,521,298.75 — the same figure as the local build,</a:t>
            </a:r>
          </a:p>
          <a:p>
            <a:r>
              <a:t>to the cent.</a:t>
            </a:r>
          </a:p>
          <a:p/>
          <a:p>
            <a:r>
              <a:t>The cost-control card is deliberate. Unattended compute does not stop on its own, so there is</a:t>
            </a:r>
          </a:p>
          <a:p>
            <a:r>
              <a:t>a kill switch and a hard end date. In a room with a CIO that is worth ten seconds.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Ranked by revenue at risk, not severity of decline. Say that first.</a:t>
            </a:r>
          </a:p>
          <a:p/>
          <a:p>
            <a:r>
              <a:t>Umhlanga: R571,518 at risk, sales down 42.5 percent and tickets up 693 percent in the same</a:t>
            </a:r>
          </a:p>
          <a:p>
            <a:r>
              <a:t>month. Operational failure causing commercial damage — which means it is plausibly</a:t>
            </a:r>
          </a:p>
          <a:p>
            <a:r>
              <a:t>recoverable, and that is why it is first.</a:t>
            </a:r>
          </a:p>
          <a:p/>
          <a:p>
            <a:r>
              <a:t>Each recommendation names a merchant, a number and an owner. Account manager is carried onto</a:t>
            </a:r>
          </a:p>
          <a:p>
            <a:r>
              <a:t>the risk register precisely so this resolves to a person rather than to a queue.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 Questions the solution raises beyond the brief. Use this to show you thought</a:t>
            </a:r>
          </a:p>
          <a:p>
            <a:r>
              <a:t>past the task.</a:t>
            </a:r>
          </a:p>
          <a:p/>
          <a:p>
            <a:r>
              <a:t>If time is short this is the slide to drop. It is fine to say there is more detail here if</a:t>
            </a:r>
          </a:p>
          <a:p>
            <a:r>
              <a:t>useful,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Close on principles, not features.</a:t>
            </a:r>
          </a:p>
          <a:p/>
          <a:p>
            <a:r>
              <a:t>Figures are verifiable rather than asserted. The gold layer is built twice by independent</a:t>
            </a:r>
          </a:p>
          <a:p>
            <a:r>
              <a:t>implementations. Assumptions are labelled as assumptions — of the 34 source columns, 12 are</a:t>
            </a:r>
          </a:p>
          <a:p>
            <a:r>
              <a:t>documented by the supplier and 22 are inferred, and the documentation says which is which.</a:t>
            </a:r>
          </a:p>
          <a:p/>
          <a:p>
            <a:r>
              <a:t>Then stop talking. Do not summarise the deck.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sec] This is the answer to "why not just write Python".</a:t>
            </a:r>
          </a:p>
          <a:p/>
          <a:p>
            <a:r>
              <a:t>Left column: every one of those is a contract that stops a bad build. The line that lands is the first one — a broken join does not error, it returns fewer rows, so the totals quietly shrink and nobody is told.</a:t>
            </a:r>
          </a:p>
          <a:p/>
          <a:p>
            <a:r>
              <a:t>Right column is the one to dwell on. MerchantReference is a current-state extract; every load overwrites status, owner and target. Two merchants read At Risk today. Without the snapshot, when that changed is gone forever — and that is the question an account manager actually asks.</a:t>
            </a:r>
          </a:p>
          <a:p/>
          <a:p>
            <a:r>
              <a:t>Close on the amber card yourself, before they raise it: the transformation could have been Python, and it was. The duplication is the point — it is what caught the R984,046 defect that every dbt test passed straight through.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Only use this slide if the room needs it — if they are technical, skip straight past.</a:t>
            </a:r>
          </a:p>
          <a:p/>
          <a:p>
            <a:r>
              <a:t>The line that does the work: "0.620 against a ceiling of 0.621 — so the model is capturing 99.8 percent of the signal that exists in this data. It looks low because there is no customer-level information in these files, not because the model is poor."</a:t>
            </a:r>
          </a:p>
          <a:p/>
          <a:p>
            <a:r>
              <a:t>The silhouette score is the honest one. 0.185 is low, and it is on the slide rather than hidden: the merchants form a continuum rather than four clean types, so k was chosen on business grounds and the statistical cost is declared.</a:t>
            </a:r>
          </a:p>
          <a:p/>
          <a:p>
            <a:r>
              <a:t>If asked why no deep learning: seven months of daily data on 25 merchants. The constraint is the data, not the algorithm.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91695" cy="1463040"/>
          </a:xfrm>
          <a:prstGeom prst="rect">
            <a:avLst/>
          </a:prstGeom>
          <a:solidFill>
            <a:srgbClr val="0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37360"/>
            <a:ext cx="10515600" cy="1280160"/>
          </a:xfrm>
          <a:prstGeom prst="rect">
            <a:avLst/>
          </a:prstGeom>
          <a:noFill/>
        </p:spPr>
        <p:txBody>
          <a:bodyPr wrap="square" anchor="t" lIns="0" rIns="0" tIns="0" bIns="0">
            <a:spAutoFit/>
          </a:bodyPr>
          <a:lstStyle/>
          <a:p>
            <a:pPr algn="l">
              <a:lnSpc>
                <a:spcPct val="105000"/>
              </a:lnSpc>
              <a:spcBef>
                <a:spcPts val="0"/>
              </a:spcBef>
            </a:pPr>
            <a:r>
              <a:rPr sz="4400" b="1">
                <a:solidFill>
                  <a:srgbClr val="FFFFFF"/>
                </a:solidFill>
                <a:latin typeface="Segoe UI"/>
              </a:rPr>
              <a:t>Merchant Sales &amp;</a:t>
            </a:r>
          </a:p>
          <a:p>
            <a:pPr algn="l">
              <a:lnSpc>
                <a:spcPct val="105000"/>
              </a:lnSpc>
              <a:spcBef>
                <a:spcPts val="0"/>
              </a:spcBef>
            </a:pPr>
            <a:r>
              <a:rPr sz="4400" b="1">
                <a:solidFill>
                  <a:srgbClr val="5FD4D0"/>
                </a:solidFill>
                <a:latin typeface="Segoe UI"/>
              </a:rPr>
              <a:t>Voucher Intelligence</a:t>
            </a:r>
          </a:p>
        </p:txBody>
      </p:sp>
      <p:sp>
        <p:nvSpPr>
          <p:cNvPr id="5" name="TextBox 4"/>
          <p:cNvSpPr txBox="1"/>
          <p:nvPr/>
        </p:nvSpPr>
        <p:spPr>
          <a:xfrm>
            <a:off x="822960" y="3383280"/>
            <a:ext cx="10515600" cy="822960"/>
          </a:xfrm>
          <a:prstGeom prst="rect">
            <a:avLst/>
          </a:prstGeom>
          <a:noFill/>
        </p:spPr>
        <p:txBody>
          <a:bodyPr wrap="square" anchor="t" lIns="0" rIns="0" tIns="0" bIns="0">
            <a:spAutoFit/>
          </a:bodyPr>
          <a:lstStyle/>
          <a:p>
            <a:pPr algn="l">
              <a:lnSpc>
                <a:spcPct val="100000"/>
              </a:lnSpc>
              <a:spcBef>
                <a:spcPts val="0"/>
              </a:spcBef>
            </a:pPr>
            <a:r>
              <a:rPr sz="1700" b="0">
                <a:solidFill>
                  <a:srgbClr val="9FB6D4"/>
                </a:solidFill>
                <a:latin typeface="Segoe UI"/>
              </a:rPr>
              <a:t>BI Developer — Second-Round Practical Task</a:t>
            </a:r>
          </a:p>
          <a:p>
            <a:pPr algn="l">
              <a:lnSpc>
                <a:spcPct val="100000"/>
              </a:lnSpc>
              <a:spcBef>
                <a:spcPts val="600"/>
              </a:spcBef>
            </a:pPr>
            <a:r>
              <a:rPr sz="1400" b="0">
                <a:solidFill>
                  <a:srgbClr val="7FA3C9"/>
                </a:solidFill>
                <a:latin typeface="Segoe UI"/>
              </a:rPr>
              <a:t>Microsoft Fabric  ·  Power BI  ·  dbt  ·  Python ML</a:t>
            </a:r>
          </a:p>
        </p:txBody>
      </p:sp>
      <p:sp>
        <p:nvSpPr>
          <p:cNvPr id="6" name="TextBox 5"/>
          <p:cNvSpPr txBox="1"/>
          <p:nvPr/>
        </p:nvSpPr>
        <p:spPr>
          <a:xfrm>
            <a:off x="822960" y="5623560"/>
            <a:ext cx="10515600" cy="914400"/>
          </a:xfrm>
          <a:prstGeom prst="rect">
            <a:avLst/>
          </a:prstGeom>
          <a:noFill/>
        </p:spPr>
        <p:txBody>
          <a:bodyPr wrap="square" anchor="t" lIns="0" rIns="0" tIns="0" bIns="0">
            <a:spAutoFit/>
          </a:bodyPr>
          <a:lstStyle/>
          <a:p>
            <a:pPr algn="l">
              <a:lnSpc>
                <a:spcPct val="100000"/>
              </a:lnSpc>
              <a:spcBef>
                <a:spcPts val="0"/>
              </a:spcBef>
            </a:pPr>
            <a:r>
              <a:rPr sz="1600" b="1">
                <a:solidFill>
                  <a:srgbClr val="FFFFFF"/>
                </a:solidFill>
                <a:latin typeface="Segoe UI"/>
              </a:rPr>
              <a:t>Anthony Apollis</a:t>
            </a:r>
          </a:p>
          <a:p>
            <a:pPr algn="l">
              <a:lnSpc>
                <a:spcPct val="100000"/>
              </a:lnSpc>
              <a:spcBef>
                <a:spcPts val="400"/>
              </a:spcBef>
            </a:pPr>
            <a:r>
              <a:rPr sz="1200" b="0">
                <a:solidFill>
                  <a:srgbClr val="CDEEEC"/>
                </a:solidFill>
                <a:latin typeface="Segoe UI"/>
              </a:rPr>
              <a:t>1 Jan – 31 Jul 2026  ·  25 merchants  ·  120,969 vouchers  ·  510,127 transactions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What was built</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Every figure below is reproducible: python scripts/run_all.py rebuilds it in ~2 minutes</a:t>
            </a:r>
          </a:p>
        </p:txBody>
      </p:sp>
      <p:sp>
        <p:nvSpPr>
          <p:cNvPr id="6" name="Rounded Rectangle 5"/>
          <p:cNvSpPr/>
          <p:nvPr/>
        </p:nvSpPr>
        <p:spPr>
          <a:xfrm>
            <a:off x="502920" y="1371600"/>
            <a:ext cx="2103120" cy="1691640"/>
          </a:xfrm>
          <a:prstGeom prst="roundRect">
            <a:avLst>
              <a:gd name="adj" fmla="val 6000"/>
            </a:avLst>
          </a:prstGeom>
          <a:solidFill>
            <a:srgbClr val="12305B"/>
          </a:solidFill>
          <a:ln w="9525">
            <a:solidFill>
              <a:srgbClr val="123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536192"/>
            <a:ext cx="1783080" cy="320040"/>
          </a:xfrm>
          <a:prstGeom prst="rect">
            <a:avLst/>
          </a:prstGeom>
          <a:noFill/>
        </p:spPr>
        <p:txBody>
          <a:bodyPr wrap="square" anchor="t" lIns="0" rIns="0" tIns="0" bIns="0">
            <a:spAutoFit/>
          </a:bodyPr>
          <a:lstStyle/>
          <a:p>
            <a:pPr algn="l">
              <a:lnSpc>
                <a:spcPct val="100000"/>
              </a:lnSpc>
              <a:spcBef>
                <a:spcPts val="0"/>
              </a:spcBef>
            </a:pPr>
            <a:r>
              <a:rPr sz="1300" b="1">
                <a:solidFill>
                  <a:srgbClr val="FFFFFF"/>
                </a:solidFill>
                <a:latin typeface="Segoe UI"/>
              </a:rPr>
              <a:t>Data pipeline</a:t>
            </a:r>
          </a:p>
        </p:txBody>
      </p:sp>
      <p:sp>
        <p:nvSpPr>
          <p:cNvPr id="8" name="TextBox 7"/>
          <p:cNvSpPr txBox="1"/>
          <p:nvPr/>
        </p:nvSpPr>
        <p:spPr>
          <a:xfrm>
            <a:off x="667512" y="1965960"/>
            <a:ext cx="1783080" cy="1005840"/>
          </a:xfrm>
          <a:prstGeom prst="rect">
            <a:avLst/>
          </a:prstGeom>
          <a:noFill/>
        </p:spPr>
        <p:txBody>
          <a:bodyPr wrap="square" anchor="t" lIns="0" rIns="0" tIns="0" bIns="0">
            <a:spAutoFit/>
          </a:bodyPr>
          <a:lstStyle/>
          <a:p>
            <a:pPr algn="l">
              <a:lnSpc>
                <a:spcPct val="125000"/>
              </a:lnSpc>
              <a:spcBef>
                <a:spcPts val="0"/>
              </a:spcBef>
            </a:pPr>
            <a:r>
              <a:rPr sz="1050" b="0">
                <a:solidFill>
                  <a:srgbClr val="D8E4F2"/>
                </a:solidFill>
                <a:latin typeface="Segoe UI"/>
              </a:rPr>
              <a:t>Bronze → Silver → Gold
medallion, 149,857 rows</a:t>
            </a:r>
          </a:p>
        </p:txBody>
      </p:sp>
      <p:sp>
        <p:nvSpPr>
          <p:cNvPr id="9" name="Rounded Rectangle 8"/>
          <p:cNvSpPr/>
          <p:nvPr/>
        </p:nvSpPr>
        <p:spPr>
          <a:xfrm>
            <a:off x="2788920" y="1371600"/>
            <a:ext cx="2103120" cy="1691640"/>
          </a:xfrm>
          <a:prstGeom prst="roundRect">
            <a:avLst>
              <a:gd name="adj" fmla="val 6000"/>
            </a:avLst>
          </a:prstGeom>
          <a:solidFill>
            <a:srgbClr val="0E8B8B"/>
          </a:solidFill>
          <a:ln w="9525">
            <a:solidFill>
              <a:srgbClr val="0E8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53512" y="1536192"/>
            <a:ext cx="1783080" cy="320040"/>
          </a:xfrm>
          <a:prstGeom prst="rect">
            <a:avLst/>
          </a:prstGeom>
          <a:noFill/>
        </p:spPr>
        <p:txBody>
          <a:bodyPr wrap="square" anchor="t" lIns="0" rIns="0" tIns="0" bIns="0">
            <a:spAutoFit/>
          </a:bodyPr>
          <a:lstStyle/>
          <a:p>
            <a:pPr algn="l">
              <a:lnSpc>
                <a:spcPct val="100000"/>
              </a:lnSpc>
              <a:spcBef>
                <a:spcPts val="0"/>
              </a:spcBef>
            </a:pPr>
            <a:r>
              <a:rPr sz="1300" b="1">
                <a:solidFill>
                  <a:srgbClr val="FFFFFF"/>
                </a:solidFill>
                <a:latin typeface="Segoe UI"/>
              </a:rPr>
              <a:t>dbt project</a:t>
            </a:r>
          </a:p>
        </p:txBody>
      </p:sp>
      <p:sp>
        <p:nvSpPr>
          <p:cNvPr id="11" name="TextBox 10"/>
          <p:cNvSpPr txBox="1"/>
          <p:nvPr/>
        </p:nvSpPr>
        <p:spPr>
          <a:xfrm>
            <a:off x="2953512" y="1965960"/>
            <a:ext cx="1783080" cy="1005840"/>
          </a:xfrm>
          <a:prstGeom prst="rect">
            <a:avLst/>
          </a:prstGeom>
          <a:noFill/>
        </p:spPr>
        <p:txBody>
          <a:bodyPr wrap="square" anchor="t" lIns="0" rIns="0" tIns="0" bIns="0">
            <a:spAutoFit/>
          </a:bodyPr>
          <a:lstStyle/>
          <a:p>
            <a:pPr algn="l">
              <a:lnSpc>
                <a:spcPct val="125000"/>
              </a:lnSpc>
              <a:spcBef>
                <a:spcPts val="0"/>
              </a:spcBef>
            </a:pPr>
            <a:r>
              <a:rPr sz="1050" b="0">
                <a:solidFill>
                  <a:srgbClr val="D8E4F2"/>
                </a:solidFill>
                <a:latin typeface="Segoe UI"/>
              </a:rPr>
              <a:t>18 models · 1 SCD2 snapshot
132 tests · 156 pass</a:t>
            </a:r>
          </a:p>
        </p:txBody>
      </p:sp>
      <p:sp>
        <p:nvSpPr>
          <p:cNvPr id="12" name="Rounded Rectangle 11"/>
          <p:cNvSpPr/>
          <p:nvPr/>
        </p:nvSpPr>
        <p:spPr>
          <a:xfrm>
            <a:off x="5074920" y="1371600"/>
            <a:ext cx="2103120" cy="1691640"/>
          </a:xfrm>
          <a:prstGeom prst="roundRect">
            <a:avLst>
              <a:gd name="adj" fmla="val 6000"/>
            </a:avLst>
          </a:prstGeom>
          <a:solidFill>
            <a:srgbClr val="7B4B94"/>
          </a:solidFill>
          <a:ln w="9525">
            <a:solidFill>
              <a:srgbClr val="7B4B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9512" y="1536192"/>
            <a:ext cx="1783080" cy="320040"/>
          </a:xfrm>
          <a:prstGeom prst="rect">
            <a:avLst/>
          </a:prstGeom>
          <a:noFill/>
        </p:spPr>
        <p:txBody>
          <a:bodyPr wrap="square" anchor="t" lIns="0" rIns="0" tIns="0" bIns="0">
            <a:spAutoFit/>
          </a:bodyPr>
          <a:lstStyle/>
          <a:p>
            <a:pPr algn="l">
              <a:lnSpc>
                <a:spcPct val="100000"/>
              </a:lnSpc>
              <a:spcBef>
                <a:spcPts val="0"/>
              </a:spcBef>
            </a:pPr>
            <a:r>
              <a:rPr sz="1300" b="1">
                <a:solidFill>
                  <a:srgbClr val="FFFFFF"/>
                </a:solidFill>
                <a:latin typeface="Segoe UI"/>
              </a:rPr>
              <a:t>Semantic model</a:t>
            </a:r>
          </a:p>
        </p:txBody>
      </p:sp>
      <p:sp>
        <p:nvSpPr>
          <p:cNvPr id="14" name="TextBox 13"/>
          <p:cNvSpPr txBox="1"/>
          <p:nvPr/>
        </p:nvSpPr>
        <p:spPr>
          <a:xfrm>
            <a:off x="5239512" y="1965960"/>
            <a:ext cx="1783080" cy="1005840"/>
          </a:xfrm>
          <a:prstGeom prst="rect">
            <a:avLst/>
          </a:prstGeom>
          <a:noFill/>
        </p:spPr>
        <p:txBody>
          <a:bodyPr wrap="square" anchor="t" lIns="0" rIns="0" tIns="0" bIns="0">
            <a:spAutoFit/>
          </a:bodyPr>
          <a:lstStyle/>
          <a:p>
            <a:pPr algn="l">
              <a:lnSpc>
                <a:spcPct val="125000"/>
              </a:lnSpc>
              <a:spcBef>
                <a:spcPts val="0"/>
              </a:spcBef>
            </a:pPr>
            <a:r>
              <a:rPr sz="1050" b="0">
                <a:solidFill>
                  <a:srgbClr val="D8E4F2"/>
                </a:solidFill>
                <a:latin typeface="Segoe UI"/>
              </a:rPr>
              <a:t>14 tables · 15 enforced FKs
70 DAX measures</a:t>
            </a:r>
          </a:p>
        </p:txBody>
      </p:sp>
      <p:sp>
        <p:nvSpPr>
          <p:cNvPr id="15" name="Rounded Rectangle 14"/>
          <p:cNvSpPr/>
          <p:nvPr/>
        </p:nvSpPr>
        <p:spPr>
          <a:xfrm>
            <a:off x="7360920" y="1371600"/>
            <a:ext cx="2103120" cy="1691640"/>
          </a:xfrm>
          <a:prstGeom prst="roundRect">
            <a:avLst>
              <a:gd name="adj" fmla="val 6000"/>
            </a:avLst>
          </a:prstGeom>
          <a:solidFill>
            <a:srgbClr val="1B4079"/>
          </a:solidFill>
          <a:ln w="9525">
            <a:solidFill>
              <a:srgbClr val="1B40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25512" y="1536192"/>
            <a:ext cx="1783080" cy="320040"/>
          </a:xfrm>
          <a:prstGeom prst="rect">
            <a:avLst/>
          </a:prstGeom>
          <a:noFill/>
        </p:spPr>
        <p:txBody>
          <a:bodyPr wrap="square" anchor="t" lIns="0" rIns="0" tIns="0" bIns="0">
            <a:spAutoFit/>
          </a:bodyPr>
          <a:lstStyle/>
          <a:p>
            <a:pPr algn="l">
              <a:lnSpc>
                <a:spcPct val="100000"/>
              </a:lnSpc>
              <a:spcBef>
                <a:spcPts val="0"/>
              </a:spcBef>
            </a:pPr>
            <a:r>
              <a:rPr sz="1300" b="1">
                <a:solidFill>
                  <a:srgbClr val="FFFFFF"/>
                </a:solidFill>
                <a:latin typeface="Segoe UI"/>
              </a:rPr>
              <a:t>Power BI</a:t>
            </a:r>
          </a:p>
        </p:txBody>
      </p:sp>
      <p:sp>
        <p:nvSpPr>
          <p:cNvPr id="17" name="TextBox 16"/>
          <p:cNvSpPr txBox="1"/>
          <p:nvPr/>
        </p:nvSpPr>
        <p:spPr>
          <a:xfrm>
            <a:off x="7525512" y="1965960"/>
            <a:ext cx="1783080" cy="1005840"/>
          </a:xfrm>
          <a:prstGeom prst="rect">
            <a:avLst/>
          </a:prstGeom>
          <a:noFill/>
        </p:spPr>
        <p:txBody>
          <a:bodyPr wrap="square" anchor="t" lIns="0" rIns="0" tIns="0" bIns="0">
            <a:spAutoFit/>
          </a:bodyPr>
          <a:lstStyle/>
          <a:p>
            <a:pPr algn="l">
              <a:lnSpc>
                <a:spcPct val="125000"/>
              </a:lnSpc>
              <a:spcBef>
                <a:spcPts val="0"/>
              </a:spcBef>
            </a:pPr>
            <a:r>
              <a:rPr sz="1050" b="0">
                <a:solidFill>
                  <a:srgbClr val="D8E4F2"/>
                </a:solidFill>
                <a:latin typeface="Segoe UI"/>
              </a:rPr>
              <a:t>9 report pages
+ phone layout</a:t>
            </a:r>
          </a:p>
        </p:txBody>
      </p:sp>
      <p:sp>
        <p:nvSpPr>
          <p:cNvPr id="18" name="Rounded Rectangle 17"/>
          <p:cNvSpPr/>
          <p:nvPr/>
        </p:nvSpPr>
        <p:spPr>
          <a:xfrm>
            <a:off x="9646920" y="1371600"/>
            <a:ext cx="2103120" cy="1691640"/>
          </a:xfrm>
          <a:prstGeom prst="roundRect">
            <a:avLst>
              <a:gd name="adj" fmla="val 6000"/>
            </a:avLst>
          </a:prstGeom>
          <a:solidFill>
            <a:srgbClr val="E8A317"/>
          </a:solidFill>
          <a:ln w="952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11512" y="1536192"/>
            <a:ext cx="1783080" cy="320040"/>
          </a:xfrm>
          <a:prstGeom prst="rect">
            <a:avLst/>
          </a:prstGeom>
          <a:noFill/>
        </p:spPr>
        <p:txBody>
          <a:bodyPr wrap="square" anchor="t" lIns="0" rIns="0" tIns="0" bIns="0">
            <a:spAutoFit/>
          </a:bodyPr>
          <a:lstStyle/>
          <a:p>
            <a:pPr algn="l">
              <a:lnSpc>
                <a:spcPct val="100000"/>
              </a:lnSpc>
              <a:spcBef>
                <a:spcPts val="0"/>
              </a:spcBef>
            </a:pPr>
            <a:r>
              <a:rPr sz="1300" b="1">
                <a:solidFill>
                  <a:srgbClr val="FFFFFF"/>
                </a:solidFill>
                <a:latin typeface="Segoe UI"/>
              </a:rPr>
              <a:t>ML</a:t>
            </a:r>
          </a:p>
        </p:txBody>
      </p:sp>
      <p:sp>
        <p:nvSpPr>
          <p:cNvPr id="20" name="TextBox 19"/>
          <p:cNvSpPr txBox="1"/>
          <p:nvPr/>
        </p:nvSpPr>
        <p:spPr>
          <a:xfrm>
            <a:off x="9811512" y="1965960"/>
            <a:ext cx="1783080" cy="1005840"/>
          </a:xfrm>
          <a:prstGeom prst="rect">
            <a:avLst/>
          </a:prstGeom>
          <a:noFill/>
        </p:spPr>
        <p:txBody>
          <a:bodyPr wrap="square" anchor="t" lIns="0" rIns="0" tIns="0" bIns="0">
            <a:spAutoFit/>
          </a:bodyPr>
          <a:lstStyle/>
          <a:p>
            <a:pPr algn="l">
              <a:lnSpc>
                <a:spcPct val="125000"/>
              </a:lnSpc>
              <a:spcBef>
                <a:spcPts val="0"/>
              </a:spcBef>
            </a:pPr>
            <a:r>
              <a:rPr sz="1050" b="0">
                <a:solidFill>
                  <a:srgbClr val="D8E4F2"/>
                </a:solidFill>
                <a:latin typeface="Segoe UI"/>
              </a:rPr>
              <a:t>5 models, time-split
validation throughout</a:t>
            </a:r>
          </a:p>
        </p:txBody>
      </p:sp>
      <p:sp>
        <p:nvSpPr>
          <p:cNvPr id="21" name="Rounded Rectangle 20"/>
          <p:cNvSpPr/>
          <p:nvPr/>
        </p:nvSpPr>
        <p:spPr>
          <a:xfrm>
            <a:off x="502920" y="3337560"/>
            <a:ext cx="11155680" cy="3017520"/>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611880"/>
            <a:ext cx="10424160" cy="3017520"/>
          </a:xfrm>
          <a:prstGeom prst="rect">
            <a:avLst/>
          </a:prstGeom>
          <a:noFill/>
        </p:spPr>
        <p:txBody>
          <a:bodyPr wrap="square" anchor="t" lIns="0" rIns="0" tIns="0" bIns="0">
            <a:spAutoFit/>
          </a:bodyPr>
          <a:lstStyle/>
          <a:p>
            <a:pPr algn="l">
              <a:lnSpc>
                <a:spcPct val="115000"/>
              </a:lnSpc>
              <a:spcBef>
                <a:spcPts val="0"/>
              </a:spcBef>
            </a:pPr>
            <a:r>
              <a:rPr sz="1350" b="1">
                <a:solidFill>
                  <a:srgbClr val="12305B"/>
                </a:solidFill>
                <a:latin typeface="Segoe UI"/>
              </a:rPr>
              <a:t>Quality is the deliverable, not a footnote.</a:t>
            </a:r>
          </a:p>
          <a:p>
            <a:pPr algn="l">
              <a:lnSpc>
                <a:spcPct val="115000"/>
              </a:lnSpc>
              <a:spcBef>
                <a:spcPts val="200"/>
              </a:spcBef>
            </a:pPr>
            <a:r>
              <a:rPr sz="1200" b="0">
                <a:solidFill>
                  <a:srgbClr val="5A6672"/>
                </a:solidFill>
                <a:latin typeface="Segoe UI"/>
              </a:rPr>
              <a:t>14 warehouse integrity tests · 132 dbt tests · 33 idempotency assertions · 31 DAX measures each with a SQL-derived expected value.</a:t>
            </a:r>
          </a:p>
          <a:p>
            <a:pPr algn="l">
              <a:lnSpc>
                <a:spcPct val="115000"/>
              </a:lnSpc>
              <a:spcBef>
                <a:spcPts val="900"/>
              </a:spcBef>
            </a:pPr>
            <a:r>
              <a:rPr sz="1350" b="1">
                <a:solidFill>
                  <a:srgbClr val="12305B"/>
                </a:solidFill>
                <a:latin typeface="Segoe UI"/>
              </a:rPr>
              <a:t>The gold layer is built TWICE, by two independent implementations.</a:t>
            </a:r>
          </a:p>
          <a:p>
            <a:pPr algn="l">
              <a:lnSpc>
                <a:spcPct val="115000"/>
              </a:lnSpc>
              <a:spcBef>
                <a:spcPts val="200"/>
              </a:spcBef>
            </a:pPr>
            <a:r>
              <a:rPr sz="1200" b="0">
                <a:solidFill>
                  <a:srgbClr val="5A6672"/>
                </a:solidFill>
                <a:latin typeface="Segoe UI"/>
              </a:rPr>
              <a:t>Once in pandas, once in dbt SQL. Every headline figure agrees to the cent — 27 of 28 checks tie exactly, and the one warning is a documented rounding convention. That is what makes "the numbers tie" verifiable instead of asserted.</a:t>
            </a:r>
          </a:p>
          <a:p>
            <a:pPr algn="l">
              <a:lnSpc>
                <a:spcPct val="115000"/>
              </a:lnSpc>
              <a:spcBef>
                <a:spcPts val="900"/>
              </a:spcBef>
            </a:pPr>
            <a:r>
              <a:rPr sz="1350" b="1">
                <a:solidFill>
                  <a:srgbClr val="12305B"/>
                </a:solidFill>
                <a:latin typeface="Segoe UI"/>
              </a:rPr>
              <a:t>It caught two real defects that no unit test would have found.</a:t>
            </a:r>
          </a:p>
          <a:p>
            <a:pPr algn="l">
              <a:lnSpc>
                <a:spcPct val="115000"/>
              </a:lnSpc>
              <a:spcBef>
                <a:spcPts val="200"/>
              </a:spcBef>
            </a:pPr>
            <a:r>
              <a:rPr sz="1200" b="0">
                <a:solidFill>
                  <a:srgbClr val="5A6672"/>
                </a:solidFill>
                <a:latin typeface="Segoe UI"/>
              </a:rPr>
              <a:t>dim_date was absorbing the August redemption tail into the reporting window, inflating pro-rated targets by R984,046. And pandas rank(pct=True) is not the same statistic as SQL PERCENT_RANK() — that shifted the Health Score by up to 9.7 points.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Architecture</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The journey of one row, and what each stage prevents</a:t>
            </a:r>
          </a:p>
        </p:txBody>
      </p:sp>
      <p:sp>
        <p:nvSpPr>
          <p:cNvPr id="6" name="Rounded Rectangle 5"/>
          <p:cNvSpPr/>
          <p:nvPr/>
        </p:nvSpPr>
        <p:spPr>
          <a:xfrm>
            <a:off x="457200" y="1325880"/>
            <a:ext cx="1737360" cy="1005840"/>
          </a:xfrm>
          <a:prstGeom prst="roundRect">
            <a:avLst>
              <a:gd name="adj" fmla="val 6000"/>
            </a:avLst>
          </a:prstGeom>
          <a:solidFill>
            <a:srgbClr val="E8A317"/>
          </a:solidFill>
          <a:ln w="952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81328"/>
            <a:ext cx="1554480" cy="274320"/>
          </a:xfrm>
          <a:prstGeom prst="rect">
            <a:avLst/>
          </a:prstGeom>
          <a:noFill/>
        </p:spPr>
        <p:txBody>
          <a:bodyPr wrap="square" anchor="t" lIns="0" rIns="0" tIns="0" bIns="0">
            <a:spAutoFit/>
          </a:bodyPr>
          <a:lstStyle/>
          <a:p>
            <a:pPr algn="ctr">
              <a:lnSpc>
                <a:spcPct val="100000"/>
              </a:lnSpc>
              <a:spcBef>
                <a:spcPts val="0"/>
              </a:spcBef>
            </a:pPr>
            <a:r>
              <a:rPr sz="1100" b="1">
                <a:solidFill>
                  <a:srgbClr val="FFFFFF"/>
                </a:solidFill>
                <a:latin typeface="Segoe UI"/>
              </a:rPr>
              <a:t>LANDING</a:t>
            </a:r>
          </a:p>
        </p:txBody>
      </p:sp>
      <p:sp>
        <p:nvSpPr>
          <p:cNvPr id="8" name="TextBox 7"/>
          <p:cNvSpPr txBox="1"/>
          <p:nvPr/>
        </p:nvSpPr>
        <p:spPr>
          <a:xfrm>
            <a:off x="548640" y="1810512"/>
            <a:ext cx="1554480" cy="365760"/>
          </a:xfrm>
          <a:prstGeom prst="rect">
            <a:avLst/>
          </a:prstGeom>
          <a:noFill/>
        </p:spPr>
        <p:txBody>
          <a:bodyPr wrap="square" anchor="t" lIns="0" rIns="0" tIns="0" bIns="0">
            <a:spAutoFit/>
          </a:bodyPr>
          <a:lstStyle/>
          <a:p>
            <a:pPr algn="ctr">
              <a:lnSpc>
                <a:spcPct val="100000"/>
              </a:lnSpc>
              <a:spcBef>
                <a:spcPts val="0"/>
              </a:spcBef>
            </a:pPr>
            <a:r>
              <a:rPr sz="900" b="0">
                <a:solidFill>
                  <a:srgbClr val="E8EFF8"/>
                </a:solidFill>
                <a:latin typeface="Segoe UI"/>
              </a:rPr>
              <a:t>4 CSVs</a:t>
            </a:r>
          </a:p>
        </p:txBody>
      </p:sp>
      <p:sp>
        <p:nvSpPr>
          <p:cNvPr id="9" name="TextBox 8"/>
          <p:cNvSpPr txBox="1"/>
          <p:nvPr/>
        </p:nvSpPr>
        <p:spPr>
          <a:xfrm>
            <a:off x="2212848" y="1627632"/>
            <a:ext cx="228600" cy="274320"/>
          </a:xfrm>
          <a:prstGeom prst="rect">
            <a:avLst/>
          </a:prstGeom>
          <a:noFill/>
        </p:spPr>
        <p:txBody>
          <a:bodyPr wrap="square" anchor="t" lIns="0" rIns="0" tIns="0" bIns="0">
            <a:spAutoFit/>
          </a:bodyPr>
          <a:lstStyle/>
          <a:p>
            <a:pPr algn="l">
              <a:lnSpc>
                <a:spcPct val="100000"/>
              </a:lnSpc>
              <a:spcBef>
                <a:spcPts val="0"/>
              </a:spcBef>
            </a:pPr>
            <a:r>
              <a:rPr sz="1600" b="1">
                <a:solidFill>
                  <a:srgbClr val="5A6672"/>
                </a:solidFill>
                <a:latin typeface="Segoe UI"/>
              </a:rPr>
              <a:t>→</a:t>
            </a:r>
          </a:p>
        </p:txBody>
      </p:sp>
      <p:sp>
        <p:nvSpPr>
          <p:cNvPr id="10" name="Rounded Rectangle 9"/>
          <p:cNvSpPr/>
          <p:nvPr/>
        </p:nvSpPr>
        <p:spPr>
          <a:xfrm>
            <a:off x="2395728" y="1325880"/>
            <a:ext cx="1737360" cy="1005840"/>
          </a:xfrm>
          <a:prstGeom prst="roundRect">
            <a:avLst>
              <a:gd name="adj" fmla="val 6000"/>
            </a:avLst>
          </a:prstGeom>
          <a:solidFill>
            <a:srgbClr val="8B6914"/>
          </a:solidFill>
          <a:ln w="9525">
            <a:solidFill>
              <a:srgbClr val="8B69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87168" y="1481328"/>
            <a:ext cx="1554480" cy="274320"/>
          </a:xfrm>
          <a:prstGeom prst="rect">
            <a:avLst/>
          </a:prstGeom>
          <a:noFill/>
        </p:spPr>
        <p:txBody>
          <a:bodyPr wrap="square" anchor="t" lIns="0" rIns="0" tIns="0" bIns="0">
            <a:spAutoFit/>
          </a:bodyPr>
          <a:lstStyle/>
          <a:p>
            <a:pPr algn="ctr">
              <a:lnSpc>
                <a:spcPct val="100000"/>
              </a:lnSpc>
              <a:spcBef>
                <a:spcPts val="0"/>
              </a:spcBef>
            </a:pPr>
            <a:r>
              <a:rPr sz="1100" b="1">
                <a:solidFill>
                  <a:srgbClr val="FFFFFF"/>
                </a:solidFill>
                <a:latin typeface="Segoe UI"/>
              </a:rPr>
              <a:t>BRONZE</a:t>
            </a:r>
          </a:p>
        </p:txBody>
      </p:sp>
      <p:sp>
        <p:nvSpPr>
          <p:cNvPr id="12" name="TextBox 11"/>
          <p:cNvSpPr txBox="1"/>
          <p:nvPr/>
        </p:nvSpPr>
        <p:spPr>
          <a:xfrm>
            <a:off x="2487168" y="1810512"/>
            <a:ext cx="1554480" cy="365760"/>
          </a:xfrm>
          <a:prstGeom prst="rect">
            <a:avLst/>
          </a:prstGeom>
          <a:noFill/>
        </p:spPr>
        <p:txBody>
          <a:bodyPr wrap="square" anchor="t" lIns="0" rIns="0" tIns="0" bIns="0">
            <a:spAutoFit/>
          </a:bodyPr>
          <a:lstStyle/>
          <a:p>
            <a:pPr algn="ctr">
              <a:lnSpc>
                <a:spcPct val="100000"/>
              </a:lnSpc>
              <a:spcBef>
                <a:spcPts val="0"/>
              </a:spcBef>
            </a:pPr>
            <a:r>
              <a:rPr sz="900" b="0">
                <a:solidFill>
                  <a:srgbClr val="E8EFF8"/>
                </a:solidFill>
                <a:latin typeface="Segoe UI"/>
              </a:rPr>
              <a:t>raw + lineage</a:t>
            </a:r>
          </a:p>
        </p:txBody>
      </p:sp>
      <p:sp>
        <p:nvSpPr>
          <p:cNvPr id="13" name="TextBox 12"/>
          <p:cNvSpPr txBox="1"/>
          <p:nvPr/>
        </p:nvSpPr>
        <p:spPr>
          <a:xfrm>
            <a:off x="4151376" y="1627632"/>
            <a:ext cx="228600" cy="274320"/>
          </a:xfrm>
          <a:prstGeom prst="rect">
            <a:avLst/>
          </a:prstGeom>
          <a:noFill/>
        </p:spPr>
        <p:txBody>
          <a:bodyPr wrap="square" anchor="t" lIns="0" rIns="0" tIns="0" bIns="0">
            <a:spAutoFit/>
          </a:bodyPr>
          <a:lstStyle/>
          <a:p>
            <a:pPr algn="l">
              <a:lnSpc>
                <a:spcPct val="100000"/>
              </a:lnSpc>
              <a:spcBef>
                <a:spcPts val="0"/>
              </a:spcBef>
            </a:pPr>
            <a:r>
              <a:rPr sz="1600" b="1">
                <a:solidFill>
                  <a:srgbClr val="5A6672"/>
                </a:solidFill>
                <a:latin typeface="Segoe UI"/>
              </a:rPr>
              <a:t>→</a:t>
            </a:r>
          </a:p>
        </p:txBody>
      </p:sp>
      <p:sp>
        <p:nvSpPr>
          <p:cNvPr id="14" name="Rounded Rectangle 13"/>
          <p:cNvSpPr/>
          <p:nvPr/>
        </p:nvSpPr>
        <p:spPr>
          <a:xfrm>
            <a:off x="4334256" y="1325880"/>
            <a:ext cx="1737360" cy="1005840"/>
          </a:xfrm>
          <a:prstGeom prst="roundRect">
            <a:avLst>
              <a:gd name="adj" fmla="val 6000"/>
            </a:avLst>
          </a:prstGeom>
          <a:solidFill>
            <a:srgbClr val="5A6672"/>
          </a:solidFill>
          <a:ln w="9525">
            <a:solidFill>
              <a:srgbClr val="5A66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1481328"/>
            <a:ext cx="1554480" cy="274320"/>
          </a:xfrm>
          <a:prstGeom prst="rect">
            <a:avLst/>
          </a:prstGeom>
          <a:noFill/>
        </p:spPr>
        <p:txBody>
          <a:bodyPr wrap="square" anchor="t" lIns="0" rIns="0" tIns="0" bIns="0">
            <a:spAutoFit/>
          </a:bodyPr>
          <a:lstStyle/>
          <a:p>
            <a:pPr algn="ctr">
              <a:lnSpc>
                <a:spcPct val="100000"/>
              </a:lnSpc>
              <a:spcBef>
                <a:spcPts val="0"/>
              </a:spcBef>
            </a:pPr>
            <a:r>
              <a:rPr sz="1100" b="1">
                <a:solidFill>
                  <a:srgbClr val="FFFFFF"/>
                </a:solidFill>
                <a:latin typeface="Segoe UI"/>
              </a:rPr>
              <a:t>SILVER</a:t>
            </a:r>
          </a:p>
        </p:txBody>
      </p:sp>
      <p:sp>
        <p:nvSpPr>
          <p:cNvPr id="16" name="TextBox 15"/>
          <p:cNvSpPr txBox="1"/>
          <p:nvPr/>
        </p:nvSpPr>
        <p:spPr>
          <a:xfrm>
            <a:off x="4425696" y="1810512"/>
            <a:ext cx="1554480" cy="365760"/>
          </a:xfrm>
          <a:prstGeom prst="rect">
            <a:avLst/>
          </a:prstGeom>
          <a:noFill/>
        </p:spPr>
        <p:txBody>
          <a:bodyPr wrap="square" anchor="t" lIns="0" rIns="0" tIns="0" bIns="0">
            <a:spAutoFit/>
          </a:bodyPr>
          <a:lstStyle/>
          <a:p>
            <a:pPr algn="ctr">
              <a:lnSpc>
                <a:spcPct val="100000"/>
              </a:lnSpc>
              <a:spcBef>
                <a:spcPts val="0"/>
              </a:spcBef>
            </a:pPr>
            <a:r>
              <a:rPr sz="900" b="0">
                <a:solidFill>
                  <a:srgbClr val="E8EFF8"/>
                </a:solidFill>
                <a:latin typeface="Segoe UI"/>
              </a:rPr>
              <a:t>typed, conformed</a:t>
            </a:r>
          </a:p>
        </p:txBody>
      </p:sp>
      <p:sp>
        <p:nvSpPr>
          <p:cNvPr id="17" name="TextBox 16"/>
          <p:cNvSpPr txBox="1"/>
          <p:nvPr/>
        </p:nvSpPr>
        <p:spPr>
          <a:xfrm>
            <a:off x="6089904" y="1627632"/>
            <a:ext cx="228600" cy="274320"/>
          </a:xfrm>
          <a:prstGeom prst="rect">
            <a:avLst/>
          </a:prstGeom>
          <a:noFill/>
        </p:spPr>
        <p:txBody>
          <a:bodyPr wrap="square" anchor="t" lIns="0" rIns="0" tIns="0" bIns="0">
            <a:spAutoFit/>
          </a:bodyPr>
          <a:lstStyle/>
          <a:p>
            <a:pPr algn="l">
              <a:lnSpc>
                <a:spcPct val="100000"/>
              </a:lnSpc>
              <a:spcBef>
                <a:spcPts val="0"/>
              </a:spcBef>
            </a:pPr>
            <a:r>
              <a:rPr sz="1600" b="1">
                <a:solidFill>
                  <a:srgbClr val="5A6672"/>
                </a:solidFill>
                <a:latin typeface="Segoe UI"/>
              </a:rPr>
              <a:t>→</a:t>
            </a:r>
          </a:p>
        </p:txBody>
      </p:sp>
      <p:sp>
        <p:nvSpPr>
          <p:cNvPr id="18" name="Rounded Rectangle 17"/>
          <p:cNvSpPr/>
          <p:nvPr/>
        </p:nvSpPr>
        <p:spPr>
          <a:xfrm>
            <a:off x="6272784" y="1325880"/>
            <a:ext cx="1737360" cy="1005840"/>
          </a:xfrm>
          <a:prstGeom prst="roundRect">
            <a:avLst>
              <a:gd name="adj" fmla="val 6000"/>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4224" y="1481328"/>
            <a:ext cx="1554480" cy="274320"/>
          </a:xfrm>
          <a:prstGeom prst="rect">
            <a:avLst/>
          </a:prstGeom>
          <a:noFill/>
        </p:spPr>
        <p:txBody>
          <a:bodyPr wrap="square" anchor="t" lIns="0" rIns="0" tIns="0" bIns="0">
            <a:spAutoFit/>
          </a:bodyPr>
          <a:lstStyle/>
          <a:p>
            <a:pPr algn="ctr">
              <a:lnSpc>
                <a:spcPct val="100000"/>
              </a:lnSpc>
              <a:spcBef>
                <a:spcPts val="0"/>
              </a:spcBef>
            </a:pPr>
            <a:r>
              <a:rPr sz="1100" b="1">
                <a:solidFill>
                  <a:srgbClr val="FFFFFF"/>
                </a:solidFill>
                <a:latin typeface="Segoe UI"/>
              </a:rPr>
              <a:t>QUALITY GATE</a:t>
            </a:r>
          </a:p>
        </p:txBody>
      </p:sp>
      <p:sp>
        <p:nvSpPr>
          <p:cNvPr id="20" name="TextBox 19"/>
          <p:cNvSpPr txBox="1"/>
          <p:nvPr/>
        </p:nvSpPr>
        <p:spPr>
          <a:xfrm>
            <a:off x="6364224" y="1810512"/>
            <a:ext cx="1554480" cy="365760"/>
          </a:xfrm>
          <a:prstGeom prst="rect">
            <a:avLst/>
          </a:prstGeom>
          <a:noFill/>
        </p:spPr>
        <p:txBody>
          <a:bodyPr wrap="square" anchor="t" lIns="0" rIns="0" tIns="0" bIns="0">
            <a:spAutoFit/>
          </a:bodyPr>
          <a:lstStyle/>
          <a:p>
            <a:pPr algn="ctr">
              <a:lnSpc>
                <a:spcPct val="100000"/>
              </a:lnSpc>
              <a:spcBef>
                <a:spcPts val="0"/>
              </a:spcBef>
            </a:pPr>
            <a:r>
              <a:rPr sz="900" b="0">
                <a:solidFill>
                  <a:srgbClr val="E8EFF8"/>
                </a:solidFill>
                <a:latin typeface="Segoe UI"/>
              </a:rPr>
              <a:t>132 dbt tests</a:t>
            </a:r>
          </a:p>
        </p:txBody>
      </p:sp>
      <p:sp>
        <p:nvSpPr>
          <p:cNvPr id="21" name="TextBox 20"/>
          <p:cNvSpPr txBox="1"/>
          <p:nvPr/>
        </p:nvSpPr>
        <p:spPr>
          <a:xfrm>
            <a:off x="8028432" y="1627632"/>
            <a:ext cx="228600" cy="274320"/>
          </a:xfrm>
          <a:prstGeom prst="rect">
            <a:avLst/>
          </a:prstGeom>
          <a:noFill/>
        </p:spPr>
        <p:txBody>
          <a:bodyPr wrap="square" anchor="t" lIns="0" rIns="0" tIns="0" bIns="0">
            <a:spAutoFit/>
          </a:bodyPr>
          <a:lstStyle/>
          <a:p>
            <a:pPr algn="l">
              <a:lnSpc>
                <a:spcPct val="100000"/>
              </a:lnSpc>
              <a:spcBef>
                <a:spcPts val="0"/>
              </a:spcBef>
            </a:pPr>
            <a:r>
              <a:rPr sz="1600" b="1">
                <a:solidFill>
                  <a:srgbClr val="5A6672"/>
                </a:solidFill>
                <a:latin typeface="Segoe UI"/>
              </a:rPr>
              <a:t>→</a:t>
            </a:r>
          </a:p>
        </p:txBody>
      </p:sp>
      <p:sp>
        <p:nvSpPr>
          <p:cNvPr id="22" name="Rounded Rectangle 21"/>
          <p:cNvSpPr/>
          <p:nvPr/>
        </p:nvSpPr>
        <p:spPr>
          <a:xfrm>
            <a:off x="8211312" y="1325880"/>
            <a:ext cx="1737360" cy="1005840"/>
          </a:xfrm>
          <a:prstGeom prst="roundRect">
            <a:avLst>
              <a:gd name="adj" fmla="val 6000"/>
            </a:avLst>
          </a:prstGeom>
          <a:solidFill>
            <a:srgbClr val="0E8B8B"/>
          </a:solidFill>
          <a:ln w="9525">
            <a:solidFill>
              <a:srgbClr val="0E8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02752" y="1481328"/>
            <a:ext cx="1554480" cy="274320"/>
          </a:xfrm>
          <a:prstGeom prst="rect">
            <a:avLst/>
          </a:prstGeom>
          <a:noFill/>
        </p:spPr>
        <p:txBody>
          <a:bodyPr wrap="square" anchor="t" lIns="0" rIns="0" tIns="0" bIns="0">
            <a:spAutoFit/>
          </a:bodyPr>
          <a:lstStyle/>
          <a:p>
            <a:pPr algn="ctr">
              <a:lnSpc>
                <a:spcPct val="100000"/>
              </a:lnSpc>
              <a:spcBef>
                <a:spcPts val="0"/>
              </a:spcBef>
            </a:pPr>
            <a:r>
              <a:rPr sz="1100" b="1">
                <a:solidFill>
                  <a:srgbClr val="FFFFFF"/>
                </a:solidFill>
                <a:latin typeface="Segoe UI"/>
              </a:rPr>
              <a:t>GOLD</a:t>
            </a:r>
          </a:p>
        </p:txBody>
      </p:sp>
      <p:sp>
        <p:nvSpPr>
          <p:cNvPr id="24" name="TextBox 23"/>
          <p:cNvSpPr txBox="1"/>
          <p:nvPr/>
        </p:nvSpPr>
        <p:spPr>
          <a:xfrm>
            <a:off x="8302752" y="1810512"/>
            <a:ext cx="1554480" cy="365760"/>
          </a:xfrm>
          <a:prstGeom prst="rect">
            <a:avLst/>
          </a:prstGeom>
          <a:noFill/>
        </p:spPr>
        <p:txBody>
          <a:bodyPr wrap="square" anchor="t" lIns="0" rIns="0" tIns="0" bIns="0">
            <a:spAutoFit/>
          </a:bodyPr>
          <a:lstStyle/>
          <a:p>
            <a:pPr algn="ctr">
              <a:lnSpc>
                <a:spcPct val="100000"/>
              </a:lnSpc>
              <a:spcBef>
                <a:spcPts val="0"/>
              </a:spcBef>
            </a:pPr>
            <a:r>
              <a:rPr sz="900" b="0">
                <a:solidFill>
                  <a:srgbClr val="E8EFF8"/>
                </a:solidFill>
                <a:latin typeface="Segoe UI"/>
              </a:rPr>
              <a:t>Kimball star</a:t>
            </a:r>
          </a:p>
        </p:txBody>
      </p:sp>
      <p:sp>
        <p:nvSpPr>
          <p:cNvPr id="25" name="TextBox 24"/>
          <p:cNvSpPr txBox="1"/>
          <p:nvPr/>
        </p:nvSpPr>
        <p:spPr>
          <a:xfrm>
            <a:off x="9966960" y="1627632"/>
            <a:ext cx="228600" cy="274320"/>
          </a:xfrm>
          <a:prstGeom prst="rect">
            <a:avLst/>
          </a:prstGeom>
          <a:noFill/>
        </p:spPr>
        <p:txBody>
          <a:bodyPr wrap="square" anchor="t" lIns="0" rIns="0" tIns="0" bIns="0">
            <a:spAutoFit/>
          </a:bodyPr>
          <a:lstStyle/>
          <a:p>
            <a:pPr algn="l">
              <a:lnSpc>
                <a:spcPct val="100000"/>
              </a:lnSpc>
              <a:spcBef>
                <a:spcPts val="0"/>
              </a:spcBef>
            </a:pPr>
            <a:r>
              <a:rPr sz="1600" b="1">
                <a:solidFill>
                  <a:srgbClr val="5A6672"/>
                </a:solidFill>
                <a:latin typeface="Segoe UI"/>
              </a:rPr>
              <a:t>→</a:t>
            </a:r>
          </a:p>
        </p:txBody>
      </p:sp>
      <p:sp>
        <p:nvSpPr>
          <p:cNvPr id="26" name="Rounded Rectangle 25"/>
          <p:cNvSpPr/>
          <p:nvPr/>
        </p:nvSpPr>
        <p:spPr>
          <a:xfrm>
            <a:off x="10149840" y="1325880"/>
            <a:ext cx="1737360" cy="1005840"/>
          </a:xfrm>
          <a:prstGeom prst="roundRect">
            <a:avLst>
              <a:gd name="adj" fmla="val 6000"/>
            </a:avLst>
          </a:prstGeom>
          <a:solidFill>
            <a:srgbClr val="12305B"/>
          </a:solidFill>
          <a:ln w="9525">
            <a:solidFill>
              <a:srgbClr val="123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0" y="1481328"/>
            <a:ext cx="1554480" cy="274320"/>
          </a:xfrm>
          <a:prstGeom prst="rect">
            <a:avLst/>
          </a:prstGeom>
          <a:noFill/>
        </p:spPr>
        <p:txBody>
          <a:bodyPr wrap="square" anchor="t" lIns="0" rIns="0" tIns="0" bIns="0">
            <a:spAutoFit/>
          </a:bodyPr>
          <a:lstStyle/>
          <a:p>
            <a:pPr algn="ctr">
              <a:lnSpc>
                <a:spcPct val="100000"/>
              </a:lnSpc>
              <a:spcBef>
                <a:spcPts val="0"/>
              </a:spcBef>
            </a:pPr>
            <a:r>
              <a:rPr sz="1100" b="1">
                <a:solidFill>
                  <a:srgbClr val="FFFFFF"/>
                </a:solidFill>
                <a:latin typeface="Segoe UI"/>
              </a:rPr>
              <a:t>POWER BI</a:t>
            </a:r>
          </a:p>
        </p:txBody>
      </p:sp>
      <p:sp>
        <p:nvSpPr>
          <p:cNvPr id="28" name="TextBox 27"/>
          <p:cNvSpPr txBox="1"/>
          <p:nvPr/>
        </p:nvSpPr>
        <p:spPr>
          <a:xfrm>
            <a:off x="10241280" y="1810512"/>
            <a:ext cx="1554480" cy="365760"/>
          </a:xfrm>
          <a:prstGeom prst="rect">
            <a:avLst/>
          </a:prstGeom>
          <a:noFill/>
        </p:spPr>
        <p:txBody>
          <a:bodyPr wrap="square" anchor="t" lIns="0" rIns="0" tIns="0" bIns="0">
            <a:spAutoFit/>
          </a:bodyPr>
          <a:lstStyle/>
          <a:p>
            <a:pPr algn="ctr">
              <a:lnSpc>
                <a:spcPct val="100000"/>
              </a:lnSpc>
              <a:spcBef>
                <a:spcPts val="0"/>
              </a:spcBef>
            </a:pPr>
            <a:r>
              <a:rPr sz="900" b="0">
                <a:solidFill>
                  <a:srgbClr val="E8EFF8"/>
                </a:solidFill>
                <a:latin typeface="Segoe UI"/>
              </a:rPr>
              <a:t>Direct Lake</a:t>
            </a:r>
          </a:p>
        </p:txBody>
      </p:sp>
      <p:sp>
        <p:nvSpPr>
          <p:cNvPr id="29" name="Rounded Rectangle 28"/>
          <p:cNvSpPr/>
          <p:nvPr/>
        </p:nvSpPr>
        <p:spPr>
          <a:xfrm>
            <a:off x="457200" y="2606040"/>
            <a:ext cx="11247120" cy="1371600"/>
          </a:xfrm>
          <a:prstGeom prst="roundRect">
            <a:avLst>
              <a:gd name="adj" fmla="val 6000"/>
            </a:avLst>
          </a:prstGeom>
          <a:solidFill>
            <a:srgbClr val="FDF0EE"/>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2788920"/>
            <a:ext cx="10698480" cy="1005840"/>
          </a:xfrm>
          <a:prstGeom prst="rect">
            <a:avLst/>
          </a:prstGeom>
          <a:noFill/>
        </p:spPr>
        <p:txBody>
          <a:bodyPr wrap="square" anchor="t" lIns="0" rIns="0" tIns="0" bIns="0">
            <a:spAutoFit/>
          </a:bodyPr>
          <a:lstStyle/>
          <a:p>
            <a:pPr algn="l">
              <a:lnSpc>
                <a:spcPct val="120000"/>
              </a:lnSpc>
              <a:spcBef>
                <a:spcPts val="0"/>
              </a:spcBef>
            </a:pPr>
            <a:r>
              <a:rPr sz="1500" b="1">
                <a:solidFill>
                  <a:srgbClr val="C0392B"/>
                </a:solidFill>
                <a:latin typeface="Segoe UI"/>
              </a:rPr>
              <a:t>The quality gate sits BETWEEN silver and gold. That is the whole design.</a:t>
            </a:r>
          </a:p>
          <a:p>
            <a:pPr algn="l">
              <a:lnSpc>
                <a:spcPct val="120000"/>
              </a:lnSpc>
              <a:spcBef>
                <a:spcPts val="500"/>
              </a:spcBef>
            </a:pPr>
            <a:r>
              <a:rPr sz="1200" b="0">
                <a:solidFill>
                  <a:srgbClr val="12203A"/>
                </a:solidFill>
                <a:latin typeface="Segoe UI"/>
              </a:rPr>
              <a:t>If a test fails, the pipeline stops and gold is NOT rebuilt — the report keeps showing yesterday's correct numbers rather than today's wrong ones. Testing after loading gold means the wrong figures have already been published by the time anyone reads the alert. Stale-but-correct beats fresh-but-wrong.</a:t>
            </a:r>
          </a:p>
        </p:txBody>
      </p:sp>
      <p:sp>
        <p:nvSpPr>
          <p:cNvPr id="31" name="Rounded Rectangle 30"/>
          <p:cNvSpPr/>
          <p:nvPr/>
        </p:nvSpPr>
        <p:spPr>
          <a:xfrm>
            <a:off x="457200" y="4160520"/>
            <a:ext cx="5486400" cy="2240280"/>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370832"/>
            <a:ext cx="4937760" cy="1828800"/>
          </a:xfrm>
          <a:prstGeom prst="rect">
            <a:avLst/>
          </a:prstGeom>
          <a:noFill/>
        </p:spPr>
        <p:txBody>
          <a:bodyPr wrap="square" anchor="t" lIns="0" rIns="0" tIns="0" bIns="0">
            <a:spAutoFit/>
          </a:bodyPr>
          <a:lstStyle/>
          <a:p>
            <a:pPr algn="l">
              <a:lnSpc>
                <a:spcPct val="115000"/>
              </a:lnSpc>
              <a:spcBef>
                <a:spcPts val="0"/>
              </a:spcBef>
            </a:pPr>
            <a:r>
              <a:rPr sz="1400" b="1">
                <a:solidFill>
                  <a:srgbClr val="12305B"/>
                </a:solidFill>
                <a:latin typeface="Segoe UI"/>
              </a:rPr>
              <a:t>Orchestration — Data Factory</a:t>
            </a:r>
          </a:p>
          <a:p>
            <a:pPr algn="l">
              <a:lnSpc>
                <a:spcPct val="115000"/>
              </a:lnSpc>
              <a:spcBef>
                <a:spcPts val="600"/>
              </a:spcBef>
            </a:pPr>
            <a:r>
              <a:rPr sz="1100" b="0">
                <a:solidFill>
                  <a:srgbClr val="5A6672"/>
                </a:solidFill>
                <a:latin typeface="Segoe UI"/>
              </a:rPr>
              <a:t>Metadata-driven ingest: adding a source is a parameter change, not a pipeline edit.</a:t>
            </a:r>
          </a:p>
          <a:p>
            <a:pPr algn="l">
              <a:lnSpc>
                <a:spcPct val="115000"/>
              </a:lnSpc>
              <a:spcBef>
                <a:spcPts val="400"/>
              </a:spcBef>
            </a:pPr>
            <a:r>
              <a:rPr sz="1100" b="0">
                <a:solidFill>
                  <a:srgbClr val="5A6672"/>
                </a:solidFill>
                <a:latin typeface="Segoe UI"/>
              </a:rPr>
              <a:t>Per-source row-count floors catch the failure that does not throw — a truncated file looks exactly like a quiet trading day.</a:t>
            </a:r>
          </a:p>
          <a:p>
            <a:pPr algn="l">
              <a:lnSpc>
                <a:spcPct val="115000"/>
              </a:lnSpc>
              <a:spcBef>
                <a:spcPts val="400"/>
              </a:spcBef>
            </a:pPr>
            <a:r>
              <a:rPr sz="1100" b="0">
                <a:solidFill>
                  <a:srgbClr val="5A6672"/>
                </a:solidFill>
                <a:latin typeface="Segoe UI"/>
              </a:rPr>
              <a:t>Retry 3 on copy, retry 0 on the quality gate: a failing test is a defect, not a blip.</a:t>
            </a:r>
          </a:p>
        </p:txBody>
      </p:sp>
      <p:sp>
        <p:nvSpPr>
          <p:cNvPr id="33" name="Rounded Rectangle 32"/>
          <p:cNvSpPr/>
          <p:nvPr/>
        </p:nvSpPr>
        <p:spPr>
          <a:xfrm>
            <a:off x="6172200" y="4160520"/>
            <a:ext cx="5532120" cy="2240280"/>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4370832"/>
            <a:ext cx="4983480" cy="1828800"/>
          </a:xfrm>
          <a:prstGeom prst="rect">
            <a:avLst/>
          </a:prstGeom>
          <a:noFill/>
        </p:spPr>
        <p:txBody>
          <a:bodyPr wrap="square" anchor="t" lIns="0" rIns="0" tIns="0" bIns="0">
            <a:spAutoFit/>
          </a:bodyPr>
          <a:lstStyle/>
          <a:p>
            <a:pPr algn="l">
              <a:lnSpc>
                <a:spcPct val="115000"/>
              </a:lnSpc>
              <a:spcBef>
                <a:spcPts val="0"/>
              </a:spcBef>
            </a:pPr>
            <a:r>
              <a:rPr sz="1400" b="1">
                <a:solidFill>
                  <a:srgbClr val="0E8B8B"/>
                </a:solidFill>
                <a:latin typeface="Segoe UI"/>
              </a:rPr>
              <a:t>Why dbt is in this stack</a:t>
            </a:r>
          </a:p>
          <a:p>
            <a:pPr algn="l">
              <a:lnSpc>
                <a:spcPct val="115000"/>
              </a:lnSpc>
              <a:spcBef>
                <a:spcPts val="600"/>
              </a:spcBef>
            </a:pPr>
            <a:r>
              <a:rPr sz="1100" b="0">
                <a:solidFill>
                  <a:srgbClr val="5A6672"/>
                </a:solidFill>
                <a:latin typeface="Segoe UI"/>
              </a:rPr>
              <a:t>Runs locally in seconds and on the Fabric Warehouse in production — the same models, only the adapter changes.</a:t>
            </a:r>
          </a:p>
          <a:p>
            <a:pPr algn="l">
              <a:lnSpc>
                <a:spcPct val="115000"/>
              </a:lnSpc>
              <a:spcBef>
                <a:spcPts val="400"/>
              </a:spcBef>
            </a:pPr>
            <a:r>
              <a:rPr sz="1100" b="0">
                <a:solidFill>
                  <a:srgbClr val="5A6672"/>
                </a:solidFill>
                <a:latin typeface="Segoe UI"/>
              </a:rPr>
              <a:t>Tests, lineage and documentation are part of the build, not a separate exercise somebody does later.</a:t>
            </a:r>
          </a:p>
          <a:p>
            <a:pPr algn="l">
              <a:lnSpc>
                <a:spcPct val="115000"/>
              </a:lnSpc>
              <a:spcBef>
                <a:spcPts val="400"/>
              </a:spcBef>
            </a:pPr>
            <a:r>
              <a:rPr sz="1100" b="0">
                <a:solidFill>
                  <a:srgbClr val="5A6672"/>
                </a:solidFill>
                <a:latin typeface="Segoe UI"/>
              </a:rPr>
              <a:t>Business rules live in ONE place and every consumer inherits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dbt lineage</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Generated from target/manifest.json — 33 nodes, 70 edges, 6 layers</a:t>
            </a:r>
          </a:p>
        </p:txBody>
      </p:sp>
      <p:pic>
        <p:nvPicPr>
          <p:cNvPr id="6" name="Picture 5" descr="dbt_dag.png"/>
          <p:cNvPicPr>
            <a:picLocks noChangeAspect="1"/>
          </p:cNvPicPr>
          <p:nvPr/>
        </p:nvPicPr>
        <p:blipFill>
          <a:blip r:embed="rId2"/>
          <a:stretch>
            <a:fillRect/>
          </a:stretch>
        </p:blipFill>
        <p:spPr>
          <a:xfrm>
            <a:off x="1187786" y="1051560"/>
            <a:ext cx="9785947" cy="5029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10058400" cy="548640"/>
          </a:xfrm>
          <a:prstGeom prst="rect">
            <a:avLst/>
          </a:prstGeom>
          <a:noFill/>
        </p:spPr>
        <p:txBody>
          <a:bodyPr wrap="square" anchor="t" lIns="0" rIns="0" tIns="0" bIns="0">
            <a:spAutoFit/>
          </a:bodyPr>
          <a:lstStyle/>
          <a:p>
            <a:pPr algn="l">
              <a:lnSpc>
                <a:spcPct val="105000"/>
              </a:lnSpc>
              <a:spcBef>
                <a:spcPts val="0"/>
              </a:spcBef>
            </a:pPr>
            <a:r>
              <a:rPr sz="2600" b="1">
                <a:solidFill>
                  <a:srgbClr val="FFFFFF"/>
                </a:solidFill>
                <a:latin typeface="Segoe UI"/>
              </a:rPr>
              <a:t>What dbt earned</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5000"/>
              </a:lnSpc>
              <a:spcBef>
                <a:spcPts val="0"/>
              </a:spcBef>
            </a:pPr>
            <a:r>
              <a:rPr sz="1200" b="0">
                <a:solidFill>
                  <a:srgbClr val="9FB6D4"/>
                </a:solidFill>
                <a:latin typeface="Segoe UI"/>
              </a:rPr>
              <a:t>Stated as what would be LOST without it — a feature list invites “so what”</a:t>
            </a:r>
          </a:p>
        </p:txBody>
      </p:sp>
      <p:sp>
        <p:nvSpPr>
          <p:cNvPr id="6" name="TextBox 5"/>
          <p:cNvSpPr txBox="1"/>
          <p:nvPr/>
        </p:nvSpPr>
        <p:spPr>
          <a:xfrm>
            <a:off x="548640" y="1115568"/>
            <a:ext cx="5669280" cy="274320"/>
          </a:xfrm>
          <a:prstGeom prst="rect">
            <a:avLst/>
          </a:prstGeom>
          <a:noFill/>
        </p:spPr>
        <p:txBody>
          <a:bodyPr wrap="square" anchor="t" lIns="0" rIns="0" tIns="0" bIns="0">
            <a:spAutoFit/>
          </a:bodyPr>
          <a:lstStyle/>
          <a:p>
            <a:pPr algn="l">
              <a:lnSpc>
                <a:spcPct val="105000"/>
              </a:lnSpc>
              <a:spcBef>
                <a:spcPts val="0"/>
              </a:spcBef>
            </a:pPr>
            <a:r>
              <a:rPr sz="1350" b="1">
                <a:solidFill>
                  <a:srgbClr val="0E8B8B"/>
                </a:solidFill>
                <a:latin typeface="Segoe UI"/>
              </a:rPr>
              <a:t>Contracts that stop a bad build</a:t>
            </a:r>
          </a:p>
        </p:txBody>
      </p:sp>
      <p:sp>
        <p:nvSpPr>
          <p:cNvPr id="7" name="Rounded Rectangle 6"/>
          <p:cNvSpPr/>
          <p:nvPr/>
        </p:nvSpPr>
        <p:spPr>
          <a:xfrm>
            <a:off x="502920" y="1463040"/>
            <a:ext cx="5532120" cy="822960"/>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563624"/>
            <a:ext cx="5212080" cy="658368"/>
          </a:xfrm>
          <a:prstGeom prst="rect">
            <a:avLst/>
          </a:prstGeom>
          <a:noFill/>
        </p:spPr>
        <p:txBody>
          <a:bodyPr wrap="square" anchor="t" lIns="0" rIns="0" tIns="0" bIns="0">
            <a:spAutoFit/>
          </a:bodyPr>
          <a:lstStyle/>
          <a:p>
            <a:pPr algn="l">
              <a:lnSpc>
                <a:spcPct val="105000"/>
              </a:lnSpc>
              <a:spcBef>
                <a:spcPts val="0"/>
              </a:spcBef>
            </a:pPr>
            <a:r>
              <a:rPr sz="1150" b="1">
                <a:solidFill>
                  <a:srgbClr val="0E8B8B"/>
                </a:solidFill>
                <a:latin typeface="Segoe UI"/>
              </a:rPr>
              <a:t>15 relationships tests</a:t>
            </a:r>
          </a:p>
          <a:p>
            <a:pPr algn="l">
              <a:lnSpc>
                <a:spcPct val="105000"/>
              </a:lnSpc>
              <a:spcBef>
                <a:spcPts val="300"/>
              </a:spcBef>
            </a:pPr>
            <a:r>
              <a:rPr sz="950" b="0">
                <a:solidFill>
                  <a:srgbClr val="5A6672"/>
                </a:solidFill>
                <a:latin typeface="Segoe UI"/>
              </a:rPr>
              <a:t>Without them: a broken join returns FEWER ROWS, not an error. Totals quietly shrink and nobody is told.</a:t>
            </a:r>
          </a:p>
        </p:txBody>
      </p:sp>
      <p:sp>
        <p:nvSpPr>
          <p:cNvPr id="9" name="Rounded Rectangle 8"/>
          <p:cNvSpPr/>
          <p:nvPr/>
        </p:nvSpPr>
        <p:spPr>
          <a:xfrm>
            <a:off x="502920" y="2340864"/>
            <a:ext cx="5532120" cy="822960"/>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41448"/>
            <a:ext cx="5212080" cy="658368"/>
          </a:xfrm>
          <a:prstGeom prst="rect">
            <a:avLst/>
          </a:prstGeom>
          <a:noFill/>
        </p:spPr>
        <p:txBody>
          <a:bodyPr wrap="square" anchor="t" lIns="0" rIns="0" tIns="0" bIns="0">
            <a:spAutoFit/>
          </a:bodyPr>
          <a:lstStyle/>
          <a:p>
            <a:pPr algn="l">
              <a:lnSpc>
                <a:spcPct val="105000"/>
              </a:lnSpc>
              <a:spcBef>
                <a:spcPts val="0"/>
              </a:spcBef>
            </a:pPr>
            <a:r>
              <a:rPr sz="1150" b="1">
                <a:solidFill>
                  <a:srgbClr val="0E8B8B"/>
                </a:solidFill>
                <a:latin typeface="Segoe UI"/>
              </a:rPr>
              <a:t>22 unique · 56 not_null · 2 composite</a:t>
            </a:r>
          </a:p>
          <a:p>
            <a:pPr algn="l">
              <a:lnSpc>
                <a:spcPct val="105000"/>
              </a:lnSpc>
              <a:spcBef>
                <a:spcPts val="300"/>
              </a:spcBef>
            </a:pPr>
            <a:r>
              <a:rPr sz="950" b="0">
                <a:solidFill>
                  <a:srgbClr val="5A6672"/>
                </a:solidFill>
                <a:latin typeface="Segoe UI"/>
              </a:rPr>
              <a:t>Without them: duplicate-proofing is a claim rather than a check. A fact gaining a second row per key double-counts every measure built on it.</a:t>
            </a:r>
          </a:p>
        </p:txBody>
      </p:sp>
      <p:sp>
        <p:nvSpPr>
          <p:cNvPr id="11" name="Rounded Rectangle 10"/>
          <p:cNvSpPr/>
          <p:nvPr/>
        </p:nvSpPr>
        <p:spPr>
          <a:xfrm>
            <a:off x="502920" y="3218688"/>
            <a:ext cx="5532120" cy="822960"/>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3319272"/>
            <a:ext cx="5212080" cy="658368"/>
          </a:xfrm>
          <a:prstGeom prst="rect">
            <a:avLst/>
          </a:prstGeom>
          <a:noFill/>
        </p:spPr>
        <p:txBody>
          <a:bodyPr wrap="square" anchor="t" lIns="0" rIns="0" tIns="0" bIns="0">
            <a:spAutoFit/>
          </a:bodyPr>
          <a:lstStyle/>
          <a:p>
            <a:pPr algn="l">
              <a:lnSpc>
                <a:spcPct val="105000"/>
              </a:lnSpc>
              <a:spcBef>
                <a:spcPts val="0"/>
              </a:spcBef>
            </a:pPr>
            <a:r>
              <a:rPr sz="1150" b="1">
                <a:solidFill>
                  <a:srgbClr val="0E8B8B"/>
                </a:solidFill>
                <a:latin typeface="Segoe UI"/>
              </a:rPr>
              <a:t>16 accepted_values · 11 expression · 5 range</a:t>
            </a:r>
          </a:p>
          <a:p>
            <a:pPr algn="l">
              <a:lnSpc>
                <a:spcPct val="105000"/>
              </a:lnSpc>
              <a:spcBef>
                <a:spcPts val="300"/>
              </a:spcBef>
            </a:pPr>
            <a:r>
              <a:rPr sz="950" b="0">
                <a:solidFill>
                  <a:srgbClr val="5A6672"/>
                </a:solidFill>
                <a:latin typeface="Segoe UI"/>
              </a:rPr>
              <a:t>Without them: a new Priority value or a negative sales figure reaches the report looking entirely legitimate.</a:t>
            </a:r>
          </a:p>
        </p:txBody>
      </p:sp>
      <p:sp>
        <p:nvSpPr>
          <p:cNvPr id="13" name="Rounded Rectangle 12"/>
          <p:cNvSpPr/>
          <p:nvPr/>
        </p:nvSpPr>
        <p:spPr>
          <a:xfrm>
            <a:off x="502920" y="4096512"/>
            <a:ext cx="5532120" cy="822960"/>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197096"/>
            <a:ext cx="5212080" cy="658368"/>
          </a:xfrm>
          <a:prstGeom prst="rect">
            <a:avLst/>
          </a:prstGeom>
          <a:noFill/>
        </p:spPr>
        <p:txBody>
          <a:bodyPr wrap="square" anchor="t" lIns="0" rIns="0" tIns="0" bIns="0">
            <a:spAutoFit/>
          </a:bodyPr>
          <a:lstStyle/>
          <a:p>
            <a:pPr algn="l">
              <a:lnSpc>
                <a:spcPct val="105000"/>
              </a:lnSpc>
              <a:spcBef>
                <a:spcPts val="0"/>
              </a:spcBef>
            </a:pPr>
            <a:r>
              <a:rPr sz="1150" b="1">
                <a:solidFill>
                  <a:srgbClr val="0E8B8B"/>
                </a:solidFill>
                <a:latin typeface="Segoe UI"/>
              </a:rPr>
              <a:t>5 seeds</a:t>
            </a:r>
          </a:p>
          <a:p>
            <a:pPr algn="l">
              <a:lnSpc>
                <a:spcPct val="105000"/>
              </a:lnSpc>
              <a:spcBef>
                <a:spcPts val="300"/>
              </a:spcBef>
            </a:pPr>
            <a:r>
              <a:rPr sz="950" b="0">
                <a:solidFill>
                  <a:srgbClr val="5A6672"/>
                </a:solidFill>
                <a:latin typeface="Segoe UI"/>
              </a:rPr>
              <a:t>Without them: the commercial team needs a code deployment to change a margin band.</a:t>
            </a:r>
          </a:p>
        </p:txBody>
      </p:sp>
      <p:sp>
        <p:nvSpPr>
          <p:cNvPr id="15" name="Rounded Rectangle 14"/>
          <p:cNvSpPr/>
          <p:nvPr/>
        </p:nvSpPr>
        <p:spPr>
          <a:xfrm>
            <a:off x="502920" y="4974336"/>
            <a:ext cx="5532120" cy="822960"/>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074920"/>
            <a:ext cx="5212080" cy="658368"/>
          </a:xfrm>
          <a:prstGeom prst="rect">
            <a:avLst/>
          </a:prstGeom>
          <a:noFill/>
        </p:spPr>
        <p:txBody>
          <a:bodyPr wrap="square" anchor="t" lIns="0" rIns="0" tIns="0" bIns="0">
            <a:spAutoFit/>
          </a:bodyPr>
          <a:lstStyle/>
          <a:p>
            <a:pPr algn="l">
              <a:lnSpc>
                <a:spcPct val="105000"/>
              </a:lnSpc>
              <a:spcBef>
                <a:spcPts val="0"/>
              </a:spcBef>
            </a:pPr>
            <a:r>
              <a:rPr sz="1150" b="1">
                <a:solidFill>
                  <a:srgbClr val="0E8B8B"/>
                </a:solidFill>
                <a:latin typeface="Segoe UI"/>
              </a:rPr>
              <a:t>21 models, documented from the manifest</a:t>
            </a:r>
          </a:p>
          <a:p>
            <a:pPr algn="l">
              <a:lnSpc>
                <a:spcPct val="105000"/>
              </a:lnSpc>
              <a:spcBef>
                <a:spcPts val="300"/>
              </a:spcBef>
            </a:pPr>
            <a:r>
              <a:rPr sz="950" b="0">
                <a:solidFill>
                  <a:srgbClr val="5A6672"/>
                </a:solidFill>
                <a:latin typeface="Segoe UI"/>
              </a:rPr>
              <a:t>Without them: the ERD and lineage are drawn by hand and start drifting from the code the day they are written.</a:t>
            </a:r>
          </a:p>
        </p:txBody>
      </p:sp>
      <p:sp>
        <p:nvSpPr>
          <p:cNvPr id="17" name="TextBox 16"/>
          <p:cNvSpPr txBox="1"/>
          <p:nvPr/>
        </p:nvSpPr>
        <p:spPr>
          <a:xfrm>
            <a:off x="6217920" y="1115568"/>
            <a:ext cx="5486400" cy="274320"/>
          </a:xfrm>
          <a:prstGeom prst="rect">
            <a:avLst/>
          </a:prstGeom>
          <a:noFill/>
        </p:spPr>
        <p:txBody>
          <a:bodyPr wrap="square" anchor="t" lIns="0" rIns="0" tIns="0" bIns="0">
            <a:spAutoFit/>
          </a:bodyPr>
          <a:lstStyle/>
          <a:p>
            <a:pPr algn="l">
              <a:lnSpc>
                <a:spcPct val="105000"/>
              </a:lnSpc>
              <a:spcBef>
                <a:spcPts val="0"/>
              </a:spcBef>
            </a:pPr>
            <a:r>
              <a:rPr sz="1350" b="1">
                <a:solidFill>
                  <a:srgbClr val="7B4B94"/>
                </a:solidFill>
                <a:latin typeface="Segoe UI"/>
              </a:rPr>
              <a:t>The snapshot — the one thing nothing else does</a:t>
            </a:r>
          </a:p>
        </p:txBody>
      </p:sp>
      <p:sp>
        <p:nvSpPr>
          <p:cNvPr id="18" name="Rounded Rectangle 17"/>
          <p:cNvSpPr/>
          <p:nvPr/>
        </p:nvSpPr>
        <p:spPr>
          <a:xfrm>
            <a:off x="6172200" y="1463040"/>
            <a:ext cx="5532120" cy="2468880"/>
          </a:xfrm>
          <a:prstGeom prst="roundRect">
            <a:avLst>
              <a:gd name="adj" fmla="val 4000"/>
            </a:avLst>
          </a:prstGeom>
          <a:solidFill>
            <a:srgbClr val="F6F2FA"/>
          </a:solidFill>
          <a:ln w="9525">
            <a:solidFill>
              <a:srgbClr val="7B4B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1627632"/>
            <a:ext cx="5166360" cy="2194560"/>
          </a:xfrm>
          <a:prstGeom prst="rect">
            <a:avLst/>
          </a:prstGeom>
          <a:noFill/>
        </p:spPr>
        <p:txBody>
          <a:bodyPr wrap="square" anchor="t" lIns="0" rIns="0" tIns="0" bIns="0">
            <a:spAutoFit/>
          </a:bodyPr>
          <a:lstStyle/>
          <a:p>
            <a:pPr algn="l">
              <a:lnSpc>
                <a:spcPct val="112000"/>
              </a:lnSpc>
              <a:spcBef>
                <a:spcPts val="0"/>
              </a:spcBef>
            </a:pPr>
            <a:r>
              <a:rPr sz="1200" b="1">
                <a:solidFill>
                  <a:srgbClr val="7B4B94"/>
                </a:solidFill>
                <a:latin typeface="Segoe UI"/>
              </a:rPr>
              <a:t>MerchantReference is a CURRENT-STATE extract.</a:t>
            </a:r>
          </a:p>
          <a:p>
            <a:pPr algn="l">
              <a:lnSpc>
                <a:spcPct val="112000"/>
              </a:lnSpc>
              <a:spcBef>
                <a:spcPts val="400"/>
              </a:spcBef>
            </a:pPr>
            <a:r>
              <a:rPr sz="1050" b="0">
                <a:solidFill>
                  <a:srgbClr val="12203A"/>
                </a:solidFill>
                <a:latin typeface="Segoe UI"/>
              </a:rPr>
              <a:t>Every load overwrites active status, account manager, region and target. Two merchants read “At Risk” today — and without a snapshot, “when did that change, and did sales fall before or after?” is unanswerable forever.</a:t>
            </a:r>
          </a:p>
          <a:p>
            <a:pPr algn="l">
              <a:lnSpc>
                <a:spcPct val="112000"/>
              </a:lnSpc>
              <a:spcBef>
                <a:spcPts val="500"/>
              </a:spcBef>
            </a:pPr>
            <a:r>
              <a:rPr sz="1050" b="0">
                <a:solidFill>
                  <a:srgbClr val="12203A"/>
                </a:solidFill>
                <a:latin typeface="Segoe UI"/>
              </a:rPr>
              <a:t>A Type 2 snapshot closes off the old version and opens a new one, so the history the source destroys is preserved in the warehouse.</a:t>
            </a:r>
          </a:p>
          <a:p>
            <a:pPr algn="l">
              <a:lnSpc>
                <a:spcPct val="112000"/>
              </a:lnSpc>
              <a:spcBef>
                <a:spcPts val="500"/>
              </a:spcBef>
            </a:pPr>
            <a:r>
              <a:rPr sz="950" b="0">
                <a:solidFill>
                  <a:srgbClr val="5A6672"/>
                </a:solidFill>
                <a:latin typeface="Segoe UI"/>
              </a:rPr>
              <a:t>It uses the check strategy, not timestamp: the source has no reliable last-modified column — OnboardedDate is when the merchant joined, not when the row last changed.</a:t>
            </a:r>
          </a:p>
        </p:txBody>
      </p:sp>
      <p:sp>
        <p:nvSpPr>
          <p:cNvPr id="20" name="Rounded Rectangle 19"/>
          <p:cNvSpPr/>
          <p:nvPr/>
        </p:nvSpPr>
        <p:spPr>
          <a:xfrm>
            <a:off x="6172200" y="4023360"/>
            <a:ext cx="5532120" cy="1170432"/>
          </a:xfrm>
          <a:prstGeom prst="roundRect">
            <a:avLst>
              <a:gd name="adj" fmla="val 4000"/>
            </a:avLst>
          </a:prstGeom>
          <a:solidFill>
            <a:srgbClr val="EFF9F2"/>
          </a:solidFill>
          <a:ln w="952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4169663"/>
            <a:ext cx="5166360" cy="960120"/>
          </a:xfrm>
          <a:prstGeom prst="rect">
            <a:avLst/>
          </a:prstGeom>
          <a:noFill/>
        </p:spPr>
        <p:txBody>
          <a:bodyPr wrap="square" anchor="t" lIns="0" rIns="0" tIns="0" bIns="0">
            <a:spAutoFit/>
          </a:bodyPr>
          <a:lstStyle/>
          <a:p>
            <a:pPr algn="l">
              <a:lnSpc>
                <a:spcPct val="110000"/>
              </a:lnSpc>
              <a:spcBef>
                <a:spcPts val="0"/>
              </a:spcBef>
            </a:pPr>
            <a:r>
              <a:rPr sz="1200" b="1">
                <a:solidFill>
                  <a:srgbClr val="1E8449"/>
                </a:solidFill>
                <a:latin typeface="Segoe UI"/>
              </a:rPr>
              <a:t>Proven, not asserted — 7/7 assertions</a:t>
            </a:r>
          </a:p>
          <a:p>
            <a:pPr algn="l">
              <a:lnSpc>
                <a:spcPct val="110000"/>
              </a:lnSpc>
              <a:spcBef>
                <a:spcPts val="400"/>
              </a:spcBef>
            </a:pPr>
            <a:r>
              <a:rPr sz="950" b="0">
                <a:solidFill>
                  <a:srgbClr val="12203A"/>
                </a:solidFill>
                <a:latin typeface="Segoe UI"/>
              </a:rPr>
              <a:t>_test_scd2.py simulates a real change, re-runs the snapshot and checks: a new version is created, exactly one is current, the superseded row keeps the OLD value and is closed off, numbering stays contiguous, and unchanged merchants gain nothing. Then it restores state.</a:t>
            </a:r>
          </a:p>
        </p:txBody>
      </p:sp>
      <p:sp>
        <p:nvSpPr>
          <p:cNvPr id="22" name="Rounded Rectangle 21"/>
          <p:cNvSpPr/>
          <p:nvPr/>
        </p:nvSpPr>
        <p:spPr>
          <a:xfrm>
            <a:off x="502920" y="5888736"/>
            <a:ext cx="11201400" cy="731520"/>
          </a:xfrm>
          <a:prstGeom prst="roundRect">
            <a:avLst>
              <a:gd name="adj" fmla="val 4000"/>
            </a:avLst>
          </a:prstGeom>
          <a:solidFill>
            <a:srgbClr val="FEF8EC"/>
          </a:solidFill>
          <a:ln w="952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989320"/>
            <a:ext cx="10515600" cy="566928"/>
          </a:xfrm>
          <a:prstGeom prst="rect">
            <a:avLst/>
          </a:prstGeom>
          <a:noFill/>
        </p:spPr>
        <p:txBody>
          <a:bodyPr wrap="square" anchor="t" lIns="0" rIns="0" tIns="0" bIns="0">
            <a:spAutoFit/>
          </a:bodyPr>
          <a:lstStyle/>
          <a:p>
            <a:pPr algn="l">
              <a:lnSpc>
                <a:spcPct val="112000"/>
              </a:lnSpc>
              <a:spcBef>
                <a:spcPts val="0"/>
              </a:spcBef>
            </a:pPr>
            <a:r>
              <a:rPr sz="1150" b="1">
                <a:solidFill>
                  <a:srgbClr val="E8A317"/>
                </a:solidFill>
                <a:latin typeface="Segoe UI"/>
              </a:rPr>
              <a:t>The honest limit of the argument</a:t>
            </a:r>
          </a:p>
          <a:p>
            <a:pPr algn="l">
              <a:lnSpc>
                <a:spcPct val="112000"/>
              </a:lnSpc>
              <a:spcBef>
                <a:spcPts val="300"/>
              </a:spcBef>
            </a:pPr>
            <a:r>
              <a:rPr sz="1000" b="0">
                <a:solidFill>
                  <a:srgbClr val="12203A"/>
                </a:solidFill>
                <a:latin typeface="Segoe UI"/>
              </a:rPr>
              <a:t>The transformation itself could have been written in Python — and it was. That duplication is deliberate: two implementations of the same logic must agree, and the reconciliation between them is what caught the R984,046 date-window defect that all 132 dbt tests passed straight through.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Before — what was delivered</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Four flat files · 6 duplicated attribute columns · 0 enforced keys · every value text</a:t>
            </a:r>
          </a:p>
        </p:txBody>
      </p:sp>
      <p:pic>
        <p:nvPicPr>
          <p:cNvPr id="6" name="Picture 5" descr="erd_before.png"/>
          <p:cNvPicPr>
            <a:picLocks noChangeAspect="1"/>
          </p:cNvPicPr>
          <p:nvPr/>
        </p:nvPicPr>
        <p:blipFill>
          <a:blip r:embed="rId2"/>
          <a:stretch>
            <a:fillRect/>
          </a:stretch>
        </p:blipFill>
        <p:spPr>
          <a:xfrm>
            <a:off x="1182896" y="1051560"/>
            <a:ext cx="9795726" cy="539495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After — the gold star schema</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14 tables · 15 ENFORCED foreign keys · conformed dimensions · contiguous calendar</a:t>
            </a:r>
          </a:p>
        </p:txBody>
      </p:sp>
      <p:pic>
        <p:nvPicPr>
          <p:cNvPr id="6" name="Picture 5" descr="erd_after.png"/>
          <p:cNvPicPr>
            <a:picLocks noChangeAspect="1"/>
          </p:cNvPicPr>
          <p:nvPr/>
        </p:nvPicPr>
        <p:blipFill>
          <a:blip r:embed="rId2"/>
          <a:stretch>
            <a:fillRect/>
          </a:stretch>
        </p:blipFill>
        <p:spPr>
          <a:xfrm>
            <a:off x="1462380" y="1051560"/>
            <a:ext cx="9236759" cy="53949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Why 14 tables when the README suggests 5</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Justified individually — the honest split is a 10-table core plus 4 extensions</a:t>
            </a:r>
          </a:p>
        </p:txBody>
      </p:sp>
      <p:sp>
        <p:nvSpPr>
          <p:cNvPr id="6" name="Rounded Rectangle 5"/>
          <p:cNvSpPr/>
          <p:nvPr/>
        </p:nvSpPr>
        <p:spPr>
          <a:xfrm>
            <a:off x="502920" y="1325880"/>
            <a:ext cx="2743200" cy="3931920"/>
          </a:xfrm>
          <a:prstGeom prst="roundRect">
            <a:avLst>
              <a:gd name="adj" fmla="val 6000"/>
            </a:avLst>
          </a:prstGeom>
          <a:solidFill>
            <a:srgbClr val="FFFFFF"/>
          </a:solidFill>
          <a:ln w="9525">
            <a:solidFill>
              <a:srgbClr val="123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325880"/>
            <a:ext cx="2743200" cy="777240"/>
          </a:xfrm>
          <a:prstGeom prst="round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26464"/>
            <a:ext cx="2468880" cy="274320"/>
          </a:xfrm>
          <a:prstGeom prst="rect">
            <a:avLst/>
          </a:prstGeom>
          <a:noFill/>
        </p:spPr>
        <p:txBody>
          <a:bodyPr wrap="square" anchor="t" lIns="0" rIns="0" tIns="0" bIns="0">
            <a:spAutoFit/>
          </a:bodyPr>
          <a:lstStyle/>
          <a:p>
            <a:pPr algn="l">
              <a:lnSpc>
                <a:spcPct val="100000"/>
              </a:lnSpc>
              <a:spcBef>
                <a:spcPts val="0"/>
              </a:spcBef>
            </a:pPr>
            <a:r>
              <a:rPr sz="1250" b="1">
                <a:solidFill>
                  <a:srgbClr val="FFFFFF"/>
                </a:solidFill>
                <a:latin typeface="Segoe UI"/>
              </a:rPr>
              <a:t>Supplied CSV</a:t>
            </a:r>
          </a:p>
        </p:txBody>
      </p:sp>
      <p:sp>
        <p:nvSpPr>
          <p:cNvPr id="9" name="TextBox 8"/>
          <p:cNvSpPr txBox="1"/>
          <p:nvPr/>
        </p:nvSpPr>
        <p:spPr>
          <a:xfrm>
            <a:off x="640080" y="1700784"/>
            <a:ext cx="2468880" cy="274320"/>
          </a:xfrm>
          <a:prstGeom prst="rect">
            <a:avLst/>
          </a:prstGeom>
          <a:noFill/>
        </p:spPr>
        <p:txBody>
          <a:bodyPr wrap="square" anchor="t" lIns="0" rIns="0" tIns="0" bIns="0">
            <a:spAutoFit/>
          </a:bodyPr>
          <a:lstStyle/>
          <a:p>
            <a:pPr algn="l">
              <a:lnSpc>
                <a:spcPct val="100000"/>
              </a:lnSpc>
              <a:spcBef>
                <a:spcPts val="0"/>
              </a:spcBef>
            </a:pPr>
            <a:r>
              <a:rPr sz="2000" b="1">
                <a:solidFill>
                  <a:srgbClr val="FFFFFF"/>
                </a:solidFill>
                <a:latin typeface="Segoe UI"/>
              </a:rPr>
              <a:t>4 tables</a:t>
            </a:r>
          </a:p>
        </p:txBody>
      </p:sp>
      <p:sp>
        <p:nvSpPr>
          <p:cNvPr id="10" name="TextBox 9"/>
          <p:cNvSpPr txBox="1"/>
          <p:nvPr/>
        </p:nvSpPr>
        <p:spPr>
          <a:xfrm>
            <a:off x="640080" y="2240280"/>
            <a:ext cx="2468880" cy="457200"/>
          </a:xfrm>
          <a:prstGeom prst="rect">
            <a:avLst/>
          </a:prstGeom>
          <a:noFill/>
        </p:spPr>
        <p:txBody>
          <a:bodyPr wrap="square" anchor="t" lIns="0" rIns="0" tIns="0" bIns="0">
            <a:spAutoFit/>
          </a:bodyPr>
          <a:lstStyle/>
          <a:p>
            <a:pPr algn="l">
              <a:lnSpc>
                <a:spcPct val="110000"/>
              </a:lnSpc>
              <a:spcBef>
                <a:spcPts val="0"/>
              </a:spcBef>
            </a:pPr>
            <a:r>
              <a:rPr sz="950" b="0">
                <a:solidFill>
                  <a:srgbClr val="5A6672"/>
                </a:solidFill>
                <a:latin typeface="Segoe UI"/>
              </a:rPr>
              <a:t>Named in the README and supplied as a file</a:t>
            </a:r>
          </a:p>
        </p:txBody>
      </p:sp>
      <p:sp>
        <p:nvSpPr>
          <p:cNvPr id="11" name="TextBox 10"/>
          <p:cNvSpPr txBox="1"/>
          <p:nvPr/>
        </p:nvSpPr>
        <p:spPr>
          <a:xfrm>
            <a:off x="640080" y="2788920"/>
            <a:ext cx="2468880" cy="2377440"/>
          </a:xfrm>
          <a:prstGeom prst="rect">
            <a:avLst/>
          </a:prstGeom>
          <a:noFill/>
        </p:spPr>
        <p:txBody>
          <a:bodyPr wrap="square" anchor="t" lIns="0" rIns="0" tIns="0" bIns="0">
            <a:spAutoFit/>
          </a:bodyPr>
          <a:lstStyle/>
          <a:p>
            <a:pPr algn="l">
              <a:lnSpc>
                <a:spcPct val="110000"/>
              </a:lnSpc>
              <a:spcBef>
                <a:spcPts val="300"/>
              </a:spcBef>
            </a:pPr>
            <a:r>
              <a:rPr sz="950" b="0">
                <a:solidFill>
                  <a:srgbClr val="12203A"/>
                </a:solidFill>
                <a:latin typeface="Segoe UI"/>
              </a:rPr>
              <a:t>dim_merchant</a:t>
            </a:r>
          </a:p>
          <a:p>
            <a:pPr algn="l">
              <a:lnSpc>
                <a:spcPct val="110000"/>
              </a:lnSpc>
              <a:spcBef>
                <a:spcPts val="300"/>
              </a:spcBef>
            </a:pPr>
            <a:r>
              <a:rPr sz="950" b="0">
                <a:solidFill>
                  <a:srgbClr val="12203A"/>
                </a:solidFill>
                <a:latin typeface="Segoe UI"/>
              </a:rPr>
              <a:t>fct_merchant_sales</a:t>
            </a:r>
          </a:p>
          <a:p>
            <a:pPr algn="l">
              <a:lnSpc>
                <a:spcPct val="110000"/>
              </a:lnSpc>
              <a:spcBef>
                <a:spcPts val="300"/>
              </a:spcBef>
            </a:pPr>
            <a:r>
              <a:rPr sz="950" b="0">
                <a:solidFill>
                  <a:srgbClr val="12203A"/>
                </a:solidFill>
                <a:latin typeface="Segoe UI"/>
              </a:rPr>
              <a:t>fct_support_tickets</a:t>
            </a:r>
          </a:p>
          <a:p>
            <a:pPr algn="l">
              <a:lnSpc>
                <a:spcPct val="110000"/>
              </a:lnSpc>
              <a:spcBef>
                <a:spcPts val="300"/>
              </a:spcBef>
            </a:pPr>
            <a:r>
              <a:rPr sz="950" b="0">
                <a:solidFill>
                  <a:srgbClr val="12203A"/>
                </a:solidFill>
                <a:latin typeface="Segoe UI"/>
              </a:rPr>
              <a:t>fct_voucher_redemptions</a:t>
            </a:r>
          </a:p>
        </p:txBody>
      </p:sp>
      <p:sp>
        <p:nvSpPr>
          <p:cNvPr id="12" name="Rounded Rectangle 11"/>
          <p:cNvSpPr/>
          <p:nvPr/>
        </p:nvSpPr>
        <p:spPr>
          <a:xfrm>
            <a:off x="3355848" y="1325880"/>
            <a:ext cx="2743200" cy="3931920"/>
          </a:xfrm>
          <a:prstGeom prst="roundRect">
            <a:avLst>
              <a:gd name="adj" fmla="val 6000"/>
            </a:avLst>
          </a:prstGeom>
          <a:solidFill>
            <a:srgbClr val="FFFFFF"/>
          </a:solidFill>
          <a:ln w="9525">
            <a:solidFill>
              <a:srgbClr val="1B6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55848" y="1325880"/>
            <a:ext cx="2743200" cy="777240"/>
          </a:xfrm>
          <a:prstGeom prst="roundRect">
            <a:avLst/>
          </a:prstGeom>
          <a:solidFill>
            <a:srgbClr val="1B6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93008" y="1426464"/>
            <a:ext cx="2468880" cy="274320"/>
          </a:xfrm>
          <a:prstGeom prst="rect">
            <a:avLst/>
          </a:prstGeom>
          <a:noFill/>
        </p:spPr>
        <p:txBody>
          <a:bodyPr wrap="square" anchor="t" lIns="0" rIns="0" tIns="0" bIns="0">
            <a:spAutoFit/>
          </a:bodyPr>
          <a:lstStyle/>
          <a:p>
            <a:pPr algn="l">
              <a:lnSpc>
                <a:spcPct val="100000"/>
              </a:lnSpc>
              <a:spcBef>
                <a:spcPts val="0"/>
              </a:spcBef>
            </a:pPr>
            <a:r>
              <a:rPr sz="1250" b="1">
                <a:solidFill>
                  <a:srgbClr val="FFFFFF"/>
                </a:solidFill>
                <a:latin typeface="Segoe UI"/>
              </a:rPr>
              <a:t>README-required</a:t>
            </a:r>
          </a:p>
        </p:txBody>
      </p:sp>
      <p:sp>
        <p:nvSpPr>
          <p:cNvPr id="15" name="TextBox 14"/>
          <p:cNvSpPr txBox="1"/>
          <p:nvPr/>
        </p:nvSpPr>
        <p:spPr>
          <a:xfrm>
            <a:off x="3493008" y="1700784"/>
            <a:ext cx="2468880" cy="274320"/>
          </a:xfrm>
          <a:prstGeom prst="rect">
            <a:avLst/>
          </a:prstGeom>
          <a:noFill/>
        </p:spPr>
        <p:txBody>
          <a:bodyPr wrap="square" anchor="t" lIns="0" rIns="0" tIns="0" bIns="0">
            <a:spAutoFit/>
          </a:bodyPr>
          <a:lstStyle/>
          <a:p>
            <a:pPr algn="l">
              <a:lnSpc>
                <a:spcPct val="100000"/>
              </a:lnSpc>
              <a:spcBef>
                <a:spcPts val="0"/>
              </a:spcBef>
            </a:pPr>
            <a:r>
              <a:rPr sz="2000" b="1">
                <a:solidFill>
                  <a:srgbClr val="FFFFFF"/>
                </a:solidFill>
                <a:latin typeface="Segoe UI"/>
              </a:rPr>
              <a:t>1 tables</a:t>
            </a:r>
          </a:p>
        </p:txBody>
      </p:sp>
      <p:sp>
        <p:nvSpPr>
          <p:cNvPr id="16" name="TextBox 15"/>
          <p:cNvSpPr txBox="1"/>
          <p:nvPr/>
        </p:nvSpPr>
        <p:spPr>
          <a:xfrm>
            <a:off x="3493008" y="2240280"/>
            <a:ext cx="2468880" cy="457200"/>
          </a:xfrm>
          <a:prstGeom prst="rect">
            <a:avLst/>
          </a:prstGeom>
          <a:noFill/>
        </p:spPr>
        <p:txBody>
          <a:bodyPr wrap="square" anchor="t" lIns="0" rIns="0" tIns="0" bIns="0">
            <a:spAutoFit/>
          </a:bodyPr>
          <a:lstStyle/>
          <a:p>
            <a:pPr algn="l">
              <a:lnSpc>
                <a:spcPct val="110000"/>
              </a:lnSpc>
              <a:spcBef>
                <a:spcPts val="0"/>
              </a:spcBef>
            </a:pPr>
            <a:r>
              <a:rPr sz="950" b="0">
                <a:solidFill>
                  <a:srgbClr val="5A6672"/>
                </a:solidFill>
                <a:latin typeface="Segoe UI"/>
              </a:rPr>
              <a:t>Named in the README, no file — built here</a:t>
            </a:r>
          </a:p>
        </p:txBody>
      </p:sp>
      <p:sp>
        <p:nvSpPr>
          <p:cNvPr id="17" name="TextBox 16"/>
          <p:cNvSpPr txBox="1"/>
          <p:nvPr/>
        </p:nvSpPr>
        <p:spPr>
          <a:xfrm>
            <a:off x="3493008" y="2788920"/>
            <a:ext cx="2468880" cy="2377440"/>
          </a:xfrm>
          <a:prstGeom prst="rect">
            <a:avLst/>
          </a:prstGeom>
          <a:noFill/>
        </p:spPr>
        <p:txBody>
          <a:bodyPr wrap="square" anchor="t" lIns="0" rIns="0" tIns="0" bIns="0">
            <a:spAutoFit/>
          </a:bodyPr>
          <a:lstStyle/>
          <a:p>
            <a:pPr algn="l">
              <a:lnSpc>
                <a:spcPct val="110000"/>
              </a:lnSpc>
              <a:spcBef>
                <a:spcPts val="300"/>
              </a:spcBef>
            </a:pPr>
            <a:r>
              <a:rPr sz="950" b="0">
                <a:solidFill>
                  <a:srgbClr val="12203A"/>
                </a:solidFill>
                <a:latin typeface="Segoe UI"/>
              </a:rPr>
              <a:t>dim_date</a:t>
            </a:r>
          </a:p>
        </p:txBody>
      </p:sp>
      <p:sp>
        <p:nvSpPr>
          <p:cNvPr id="18" name="Rounded Rectangle 17"/>
          <p:cNvSpPr/>
          <p:nvPr/>
        </p:nvSpPr>
        <p:spPr>
          <a:xfrm>
            <a:off x="6208776" y="1325880"/>
            <a:ext cx="2743200" cy="3931920"/>
          </a:xfrm>
          <a:prstGeom prst="roundRect">
            <a:avLst>
              <a:gd name="adj" fmla="val 6000"/>
            </a:avLst>
          </a:prstGeom>
          <a:solidFill>
            <a:srgbClr val="FFFFFF"/>
          </a:solidFill>
          <a:ln w="9525">
            <a:solidFill>
              <a:srgbClr val="0E8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08776" y="1325880"/>
            <a:ext cx="2743200" cy="777240"/>
          </a:xfrm>
          <a:prstGeom prst="roundRect">
            <a:avLst/>
          </a:prstGeom>
          <a:solidFill>
            <a:srgbClr val="0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1426464"/>
            <a:ext cx="2468880" cy="274320"/>
          </a:xfrm>
          <a:prstGeom prst="rect">
            <a:avLst/>
          </a:prstGeom>
          <a:noFill/>
        </p:spPr>
        <p:txBody>
          <a:bodyPr wrap="square" anchor="t" lIns="0" rIns="0" tIns="0" bIns="0">
            <a:spAutoFit/>
          </a:bodyPr>
          <a:lstStyle/>
          <a:p>
            <a:pPr algn="l">
              <a:lnSpc>
                <a:spcPct val="100000"/>
              </a:lnSpc>
              <a:spcBef>
                <a:spcPts val="0"/>
              </a:spcBef>
            </a:pPr>
            <a:r>
              <a:rPr sz="1250" b="1">
                <a:solidFill>
                  <a:srgbClr val="FFFFFF"/>
                </a:solidFill>
                <a:latin typeface="Segoe UI"/>
              </a:rPr>
              <a:t>Brief deliverable</a:t>
            </a:r>
          </a:p>
        </p:txBody>
      </p:sp>
      <p:sp>
        <p:nvSpPr>
          <p:cNvPr id="21" name="TextBox 20"/>
          <p:cNvSpPr txBox="1"/>
          <p:nvPr/>
        </p:nvSpPr>
        <p:spPr>
          <a:xfrm>
            <a:off x="6345936" y="1700784"/>
            <a:ext cx="2468880" cy="274320"/>
          </a:xfrm>
          <a:prstGeom prst="rect">
            <a:avLst/>
          </a:prstGeom>
          <a:noFill/>
        </p:spPr>
        <p:txBody>
          <a:bodyPr wrap="square" anchor="t" lIns="0" rIns="0" tIns="0" bIns="0">
            <a:spAutoFit/>
          </a:bodyPr>
          <a:lstStyle/>
          <a:p>
            <a:pPr algn="l">
              <a:lnSpc>
                <a:spcPct val="100000"/>
              </a:lnSpc>
              <a:spcBef>
                <a:spcPts val="0"/>
              </a:spcBef>
            </a:pPr>
            <a:r>
              <a:rPr sz="2000" b="1">
                <a:solidFill>
                  <a:srgbClr val="FFFFFF"/>
                </a:solidFill>
                <a:latin typeface="Segoe UI"/>
              </a:rPr>
              <a:t>4 tables</a:t>
            </a:r>
          </a:p>
        </p:txBody>
      </p:sp>
      <p:sp>
        <p:nvSpPr>
          <p:cNvPr id="22" name="TextBox 21"/>
          <p:cNvSpPr txBox="1"/>
          <p:nvPr/>
        </p:nvSpPr>
        <p:spPr>
          <a:xfrm>
            <a:off x="6345936" y="2240280"/>
            <a:ext cx="2468880" cy="457200"/>
          </a:xfrm>
          <a:prstGeom prst="rect">
            <a:avLst/>
          </a:prstGeom>
          <a:noFill/>
        </p:spPr>
        <p:txBody>
          <a:bodyPr wrap="square" anchor="t" lIns="0" rIns="0" tIns="0" bIns="0">
            <a:spAutoFit/>
          </a:bodyPr>
          <a:lstStyle/>
          <a:p>
            <a:pPr algn="l">
              <a:lnSpc>
                <a:spcPct val="110000"/>
              </a:lnSpc>
              <a:spcBef>
                <a:spcPts val="0"/>
              </a:spcBef>
            </a:pPr>
            <a:r>
              <a:rPr sz="950" b="0">
                <a:solidFill>
                  <a:srgbClr val="5A6672"/>
                </a:solidFill>
                <a:latin typeface="Segoe UI"/>
              </a:rPr>
              <a:t>Required by a stated deliverable</a:t>
            </a:r>
          </a:p>
        </p:txBody>
      </p:sp>
      <p:sp>
        <p:nvSpPr>
          <p:cNvPr id="23" name="TextBox 22"/>
          <p:cNvSpPr txBox="1"/>
          <p:nvPr/>
        </p:nvSpPr>
        <p:spPr>
          <a:xfrm>
            <a:off x="6345936" y="2788920"/>
            <a:ext cx="2468880" cy="2377440"/>
          </a:xfrm>
          <a:prstGeom prst="rect">
            <a:avLst/>
          </a:prstGeom>
          <a:noFill/>
        </p:spPr>
        <p:txBody>
          <a:bodyPr wrap="square" anchor="t" lIns="0" rIns="0" tIns="0" bIns="0">
            <a:spAutoFit/>
          </a:bodyPr>
          <a:lstStyle/>
          <a:p>
            <a:pPr algn="l">
              <a:lnSpc>
                <a:spcPct val="110000"/>
              </a:lnSpc>
              <a:spcBef>
                <a:spcPts val="300"/>
              </a:spcBef>
            </a:pPr>
            <a:r>
              <a:rPr sz="950" b="0">
                <a:solidFill>
                  <a:srgbClr val="12203A"/>
                </a:solidFill>
                <a:latin typeface="Segoe UI"/>
              </a:rPr>
              <a:t>dim_priority</a:t>
            </a:r>
          </a:p>
          <a:p>
            <a:pPr algn="l">
              <a:lnSpc>
                <a:spcPct val="110000"/>
              </a:lnSpc>
              <a:spcBef>
                <a:spcPts val="300"/>
              </a:spcBef>
            </a:pPr>
            <a:r>
              <a:rPr sz="950" b="0">
                <a:solidFill>
                  <a:srgbClr val="12203A"/>
                </a:solidFill>
                <a:latin typeface="Segoe UI"/>
              </a:rPr>
              <a:t>dim_ticket_status</a:t>
            </a:r>
          </a:p>
          <a:p>
            <a:pPr algn="l">
              <a:lnSpc>
                <a:spcPct val="110000"/>
              </a:lnSpc>
              <a:spcBef>
                <a:spcPts val="300"/>
              </a:spcBef>
            </a:pPr>
            <a:r>
              <a:rPr sz="950" b="0">
                <a:solidFill>
                  <a:srgbClr val="12203A"/>
                </a:solidFill>
                <a:latin typeface="Segoe UI"/>
              </a:rPr>
              <a:t>dim_ticket_type</a:t>
            </a:r>
          </a:p>
          <a:p>
            <a:pPr algn="l">
              <a:lnSpc>
                <a:spcPct val="110000"/>
              </a:lnSpc>
              <a:spcBef>
                <a:spcPts val="300"/>
              </a:spcBef>
            </a:pPr>
            <a:r>
              <a:rPr sz="950" b="0">
                <a:solidFill>
                  <a:srgbClr val="12203A"/>
                </a:solidFill>
                <a:latin typeface="Segoe UI"/>
              </a:rPr>
              <a:t>dim_voucher_type</a:t>
            </a:r>
          </a:p>
        </p:txBody>
      </p:sp>
      <p:sp>
        <p:nvSpPr>
          <p:cNvPr id="24" name="Rounded Rectangle 23"/>
          <p:cNvSpPr/>
          <p:nvPr/>
        </p:nvSpPr>
        <p:spPr>
          <a:xfrm>
            <a:off x="9061704" y="1325880"/>
            <a:ext cx="2743200" cy="3931920"/>
          </a:xfrm>
          <a:prstGeom prst="roundRect">
            <a:avLst>
              <a:gd name="adj" fmla="val 6000"/>
            </a:avLst>
          </a:prstGeom>
          <a:solidFill>
            <a:srgbClr val="FFFFFF"/>
          </a:solidFill>
          <a:ln w="9525">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61704" y="1325880"/>
            <a:ext cx="2743200" cy="777240"/>
          </a:xfrm>
          <a:prstGeom prst="round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98864" y="1426464"/>
            <a:ext cx="2468880" cy="274320"/>
          </a:xfrm>
          <a:prstGeom prst="rect">
            <a:avLst/>
          </a:prstGeom>
          <a:noFill/>
        </p:spPr>
        <p:txBody>
          <a:bodyPr wrap="square" anchor="t" lIns="0" rIns="0" tIns="0" bIns="0">
            <a:spAutoFit/>
          </a:bodyPr>
          <a:lstStyle/>
          <a:p>
            <a:pPr algn="l">
              <a:lnSpc>
                <a:spcPct val="100000"/>
              </a:lnSpc>
              <a:spcBef>
                <a:spcPts val="0"/>
              </a:spcBef>
            </a:pPr>
            <a:r>
              <a:rPr sz="1250" b="1">
                <a:solidFill>
                  <a:srgbClr val="FFFFFF"/>
                </a:solidFill>
                <a:latin typeface="Segoe UI"/>
              </a:rPr>
              <a:t>Grain necessity</a:t>
            </a:r>
          </a:p>
        </p:txBody>
      </p:sp>
      <p:sp>
        <p:nvSpPr>
          <p:cNvPr id="27" name="TextBox 26"/>
          <p:cNvSpPr txBox="1"/>
          <p:nvPr/>
        </p:nvSpPr>
        <p:spPr>
          <a:xfrm>
            <a:off x="9198864" y="1700784"/>
            <a:ext cx="2468880" cy="274320"/>
          </a:xfrm>
          <a:prstGeom prst="rect">
            <a:avLst/>
          </a:prstGeom>
          <a:noFill/>
        </p:spPr>
        <p:txBody>
          <a:bodyPr wrap="square" anchor="t" lIns="0" rIns="0" tIns="0" bIns="0">
            <a:spAutoFit/>
          </a:bodyPr>
          <a:lstStyle/>
          <a:p>
            <a:pPr algn="l">
              <a:lnSpc>
                <a:spcPct val="100000"/>
              </a:lnSpc>
              <a:spcBef>
                <a:spcPts val="0"/>
              </a:spcBef>
            </a:pPr>
            <a:r>
              <a:rPr sz="2000" b="1">
                <a:solidFill>
                  <a:srgbClr val="FFFFFF"/>
                </a:solidFill>
                <a:latin typeface="Segoe UI"/>
              </a:rPr>
              <a:t>1 tables</a:t>
            </a:r>
          </a:p>
        </p:txBody>
      </p:sp>
      <p:sp>
        <p:nvSpPr>
          <p:cNvPr id="28" name="TextBox 27"/>
          <p:cNvSpPr txBox="1"/>
          <p:nvPr/>
        </p:nvSpPr>
        <p:spPr>
          <a:xfrm>
            <a:off x="9198864" y="2240280"/>
            <a:ext cx="2468880" cy="457200"/>
          </a:xfrm>
          <a:prstGeom prst="rect">
            <a:avLst/>
          </a:prstGeom>
          <a:noFill/>
        </p:spPr>
        <p:txBody>
          <a:bodyPr wrap="square" anchor="t" lIns="0" rIns="0" tIns="0" bIns="0">
            <a:spAutoFit/>
          </a:bodyPr>
          <a:lstStyle/>
          <a:p>
            <a:pPr algn="l">
              <a:lnSpc>
                <a:spcPct val="110000"/>
              </a:lnSpc>
              <a:spcBef>
                <a:spcPts val="0"/>
              </a:spcBef>
            </a:pPr>
            <a:r>
              <a:rPr sz="950" b="0">
                <a:solidFill>
                  <a:srgbClr val="5A6672"/>
                </a:solidFill>
                <a:latin typeface="Segoe UI"/>
              </a:rPr>
              <a:t>Separate grain — additivity</a:t>
            </a:r>
          </a:p>
        </p:txBody>
      </p:sp>
      <p:sp>
        <p:nvSpPr>
          <p:cNvPr id="29" name="TextBox 28"/>
          <p:cNvSpPr txBox="1"/>
          <p:nvPr/>
        </p:nvSpPr>
        <p:spPr>
          <a:xfrm>
            <a:off x="9198864" y="2788920"/>
            <a:ext cx="2468880" cy="2377440"/>
          </a:xfrm>
          <a:prstGeom prst="rect">
            <a:avLst/>
          </a:prstGeom>
          <a:noFill/>
        </p:spPr>
        <p:txBody>
          <a:bodyPr wrap="square" anchor="t" lIns="0" rIns="0" tIns="0" bIns="0">
            <a:spAutoFit/>
          </a:bodyPr>
          <a:lstStyle/>
          <a:p>
            <a:pPr algn="l">
              <a:lnSpc>
                <a:spcPct val="110000"/>
              </a:lnSpc>
              <a:spcBef>
                <a:spcPts val="300"/>
              </a:spcBef>
            </a:pPr>
            <a:r>
              <a:rPr sz="950" b="0">
                <a:solidFill>
                  <a:srgbClr val="12203A"/>
                </a:solidFill>
                <a:latin typeface="Segoe UI"/>
              </a:rPr>
              <a:t>fct_merchant_target</a:t>
            </a:r>
          </a:p>
        </p:txBody>
      </p:sp>
      <p:sp>
        <p:nvSpPr>
          <p:cNvPr id="30" name="Rounded Rectangle 29"/>
          <p:cNvSpPr/>
          <p:nvPr/>
        </p:nvSpPr>
        <p:spPr>
          <a:xfrm>
            <a:off x="11914632" y="1325880"/>
            <a:ext cx="2743200" cy="3931920"/>
          </a:xfrm>
          <a:prstGeom prst="roundRect">
            <a:avLst>
              <a:gd name="adj" fmla="val 6000"/>
            </a:avLst>
          </a:prstGeom>
          <a:solidFill>
            <a:srgbClr val="FFFFFF"/>
          </a:solidFill>
          <a:ln w="9525">
            <a:solidFill>
              <a:srgbClr val="7B4B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914632" y="1325880"/>
            <a:ext cx="2743200" cy="777240"/>
          </a:xfrm>
          <a:prstGeom prst="roundRect">
            <a:avLst/>
          </a:prstGeom>
          <a:solidFill>
            <a:srgbClr val="7B4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051792" y="1426464"/>
            <a:ext cx="2468880" cy="274320"/>
          </a:xfrm>
          <a:prstGeom prst="rect">
            <a:avLst/>
          </a:prstGeom>
          <a:noFill/>
        </p:spPr>
        <p:txBody>
          <a:bodyPr wrap="square" anchor="t" lIns="0" rIns="0" tIns="0" bIns="0">
            <a:spAutoFit/>
          </a:bodyPr>
          <a:lstStyle/>
          <a:p>
            <a:pPr algn="l">
              <a:lnSpc>
                <a:spcPct val="100000"/>
              </a:lnSpc>
              <a:spcBef>
                <a:spcPts val="0"/>
              </a:spcBef>
            </a:pPr>
            <a:r>
              <a:rPr sz="1250" b="1">
                <a:solidFill>
                  <a:srgbClr val="FFFFFF"/>
                </a:solidFill>
                <a:latin typeface="Segoe UI"/>
              </a:rPr>
              <a:t>My extension</a:t>
            </a:r>
          </a:p>
        </p:txBody>
      </p:sp>
      <p:sp>
        <p:nvSpPr>
          <p:cNvPr id="33" name="TextBox 32"/>
          <p:cNvSpPr txBox="1"/>
          <p:nvPr/>
        </p:nvSpPr>
        <p:spPr>
          <a:xfrm>
            <a:off x="12051792" y="1700784"/>
            <a:ext cx="2468880" cy="274320"/>
          </a:xfrm>
          <a:prstGeom prst="rect">
            <a:avLst/>
          </a:prstGeom>
          <a:noFill/>
        </p:spPr>
        <p:txBody>
          <a:bodyPr wrap="square" anchor="t" lIns="0" rIns="0" tIns="0" bIns="0">
            <a:spAutoFit/>
          </a:bodyPr>
          <a:lstStyle/>
          <a:p>
            <a:pPr algn="l">
              <a:lnSpc>
                <a:spcPct val="100000"/>
              </a:lnSpc>
              <a:spcBef>
                <a:spcPts val="0"/>
              </a:spcBef>
            </a:pPr>
            <a:r>
              <a:rPr sz="2000" b="1">
                <a:solidFill>
                  <a:srgbClr val="FFFFFF"/>
                </a:solidFill>
                <a:latin typeface="Segoe UI"/>
              </a:rPr>
              <a:t>4 tables</a:t>
            </a:r>
          </a:p>
        </p:txBody>
      </p:sp>
      <p:sp>
        <p:nvSpPr>
          <p:cNvPr id="34" name="TextBox 33"/>
          <p:cNvSpPr txBox="1"/>
          <p:nvPr/>
        </p:nvSpPr>
        <p:spPr>
          <a:xfrm>
            <a:off x="12051792" y="2240280"/>
            <a:ext cx="2468880" cy="457200"/>
          </a:xfrm>
          <a:prstGeom prst="rect">
            <a:avLst/>
          </a:prstGeom>
          <a:noFill/>
        </p:spPr>
        <p:txBody>
          <a:bodyPr wrap="square" anchor="t" lIns="0" rIns="0" tIns="0" bIns="0">
            <a:spAutoFit/>
          </a:bodyPr>
          <a:lstStyle/>
          <a:p>
            <a:pPr algn="l">
              <a:lnSpc>
                <a:spcPct val="110000"/>
              </a:lnSpc>
              <a:spcBef>
                <a:spcPts val="0"/>
              </a:spcBef>
            </a:pPr>
            <a:r>
              <a:rPr sz="950" b="0">
                <a:solidFill>
                  <a:srgbClr val="5A6672"/>
                </a:solidFill>
                <a:latin typeface="Segoe UI"/>
              </a:rPr>
              <a:t>Beyond the brief, added on judgement</a:t>
            </a:r>
          </a:p>
        </p:txBody>
      </p:sp>
      <p:sp>
        <p:nvSpPr>
          <p:cNvPr id="35" name="TextBox 34"/>
          <p:cNvSpPr txBox="1"/>
          <p:nvPr/>
        </p:nvSpPr>
        <p:spPr>
          <a:xfrm>
            <a:off x="12051792" y="2788920"/>
            <a:ext cx="2468880" cy="2377440"/>
          </a:xfrm>
          <a:prstGeom prst="rect">
            <a:avLst/>
          </a:prstGeom>
          <a:noFill/>
        </p:spPr>
        <p:txBody>
          <a:bodyPr wrap="square" anchor="t" lIns="0" rIns="0" tIns="0" bIns="0">
            <a:spAutoFit/>
          </a:bodyPr>
          <a:lstStyle/>
          <a:p>
            <a:pPr algn="l">
              <a:lnSpc>
                <a:spcPct val="110000"/>
              </a:lnSpc>
              <a:spcBef>
                <a:spcPts val="300"/>
              </a:spcBef>
            </a:pPr>
            <a:r>
              <a:rPr sz="950" b="0">
                <a:solidFill>
                  <a:srgbClr val="7B4B94"/>
                </a:solidFill>
                <a:latin typeface="Segoe UI"/>
              </a:rPr>
              <a:t>dim_merchant_history</a:t>
            </a:r>
          </a:p>
          <a:p>
            <a:pPr algn="l">
              <a:lnSpc>
                <a:spcPct val="110000"/>
              </a:lnSpc>
              <a:spcBef>
                <a:spcPts val="300"/>
              </a:spcBef>
            </a:pPr>
            <a:r>
              <a:rPr sz="950" b="0">
                <a:solidFill>
                  <a:srgbClr val="7B4B94"/>
                </a:solidFill>
                <a:latin typeface="Segoe UI"/>
              </a:rPr>
              <a:t>mart_merchant_change_alerts</a:t>
            </a:r>
          </a:p>
          <a:p>
            <a:pPr algn="l">
              <a:lnSpc>
                <a:spcPct val="110000"/>
              </a:lnSpc>
              <a:spcBef>
                <a:spcPts val="300"/>
              </a:spcBef>
            </a:pPr>
            <a:r>
              <a:rPr sz="950" b="0">
                <a:solidFill>
                  <a:srgbClr val="7B4B94"/>
                </a:solidFill>
                <a:latin typeface="Segoe UI"/>
              </a:rPr>
              <a:t>mart_merchant_scorecard</a:t>
            </a:r>
          </a:p>
          <a:p>
            <a:pPr algn="l">
              <a:lnSpc>
                <a:spcPct val="110000"/>
              </a:lnSpc>
              <a:spcBef>
                <a:spcPts val="300"/>
              </a:spcBef>
            </a:pPr>
            <a:r>
              <a:rPr sz="950" b="0">
                <a:solidFill>
                  <a:srgbClr val="7B4B94"/>
                </a:solidFill>
                <a:latin typeface="Segoe UI"/>
              </a:rPr>
              <a:t>snap_merchant</a:t>
            </a:r>
          </a:p>
        </p:txBody>
      </p:sp>
      <p:sp>
        <p:nvSpPr>
          <p:cNvPr id="36" name="Rounded Rectangle 35"/>
          <p:cNvSpPr/>
          <p:nvPr/>
        </p:nvSpPr>
        <p:spPr>
          <a:xfrm>
            <a:off x="502920" y="5440680"/>
            <a:ext cx="11155680" cy="960120"/>
          </a:xfrm>
          <a:prstGeom prst="roundRect">
            <a:avLst>
              <a:gd name="adj" fmla="val 6000"/>
            </a:avLst>
          </a:prstGeom>
          <a:solidFill>
            <a:srgbClr val="FEF8EC"/>
          </a:solidFill>
          <a:ln w="952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5596128"/>
            <a:ext cx="10607040" cy="731520"/>
          </a:xfrm>
          <a:prstGeom prst="rect">
            <a:avLst/>
          </a:prstGeom>
          <a:noFill/>
        </p:spPr>
        <p:txBody>
          <a:bodyPr wrap="square" anchor="t" lIns="0" rIns="0" tIns="0" bIns="0">
            <a:spAutoFit/>
          </a:bodyPr>
          <a:lstStyle/>
          <a:p>
            <a:pPr algn="l">
              <a:lnSpc>
                <a:spcPct val="115000"/>
              </a:lnSpc>
              <a:spcBef>
                <a:spcPts val="0"/>
              </a:spcBef>
            </a:pPr>
            <a:r>
              <a:rPr sz="1200" b="1">
                <a:solidFill>
                  <a:srgbClr val="E8A317"/>
                </a:solidFill>
                <a:latin typeface="Segoe UI"/>
              </a:rPr>
              <a:t>The fair criticism: four dimensions of 4–6 rows is over-normalisation. </a:t>
            </a:r>
          </a:p>
          <a:p>
            <a:pPr algn="l">
              <a:lnSpc>
                <a:spcPct val="115000"/>
              </a:lnSpc>
              <a:spcBef>
                <a:spcPts val="0"/>
              </a:spcBef>
            </a:pPr>
            <a:r>
              <a:rPr sz="1100" b="0">
                <a:solidFill>
                  <a:srgbClr val="12203A"/>
                </a:solidFill>
                <a:latin typeface="Segoe UI"/>
              </a:rPr>
              <a:t>That was the first design here — all three ticket dimensions in one table behind a discriminator — and it was worse: the FKs on fct_support_tickets could not be tested, and Power BI cannot build three independent filter paths off one physical table. Splitting them added 9 enforced foreign keys that previously could not exist.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The numbers</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1 January – 31 July 2026</a:t>
            </a:r>
          </a:p>
        </p:txBody>
      </p:sp>
      <p:sp>
        <p:nvSpPr>
          <p:cNvPr id="6" name="Rounded Rectangle 5"/>
          <p:cNvSpPr/>
          <p:nvPr/>
        </p:nvSpPr>
        <p:spPr>
          <a:xfrm>
            <a:off x="502920" y="1325880"/>
            <a:ext cx="2148840" cy="1417320"/>
          </a:xfrm>
          <a:prstGeom prst="roundRect">
            <a:avLst>
              <a:gd name="adj" fmla="val 6000"/>
            </a:avLst>
          </a:prstGeom>
          <a:solidFill>
            <a:srgbClr val="12305B"/>
          </a:solidFill>
          <a:ln w="9525">
            <a:solidFill>
              <a:srgbClr val="123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72184"/>
            <a:ext cx="1783080" cy="228600"/>
          </a:xfrm>
          <a:prstGeom prst="rect">
            <a:avLst/>
          </a:prstGeom>
          <a:noFill/>
        </p:spPr>
        <p:txBody>
          <a:bodyPr wrap="square" anchor="t" lIns="0" rIns="0" tIns="0" bIns="0">
            <a:spAutoFit/>
          </a:bodyPr>
          <a:lstStyle/>
          <a:p>
            <a:pPr algn="l">
              <a:lnSpc>
                <a:spcPct val="100000"/>
              </a:lnSpc>
              <a:spcBef>
                <a:spcPts val="0"/>
              </a:spcBef>
            </a:pPr>
            <a:r>
              <a:rPr sz="1000" b="1">
                <a:solidFill>
                  <a:srgbClr val="C9DAF0"/>
                </a:solidFill>
                <a:latin typeface="Segoe UI"/>
              </a:rPr>
              <a:t>TOTAL SALES</a:t>
            </a:r>
          </a:p>
        </p:txBody>
      </p:sp>
      <p:sp>
        <p:nvSpPr>
          <p:cNvPr id="8" name="TextBox 7"/>
          <p:cNvSpPr txBox="1"/>
          <p:nvPr/>
        </p:nvSpPr>
        <p:spPr>
          <a:xfrm>
            <a:off x="685800" y="1728216"/>
            <a:ext cx="1783080" cy="548640"/>
          </a:xfrm>
          <a:prstGeom prst="rect">
            <a:avLst/>
          </a:prstGeom>
          <a:noFill/>
        </p:spPr>
        <p:txBody>
          <a:bodyPr wrap="square" anchor="t" lIns="0" rIns="0" tIns="0" bIns="0">
            <a:spAutoFit/>
          </a:bodyPr>
          <a:lstStyle/>
          <a:p>
            <a:pPr algn="l">
              <a:lnSpc>
                <a:spcPct val="100000"/>
              </a:lnSpc>
              <a:spcBef>
                <a:spcPts val="0"/>
              </a:spcBef>
            </a:pPr>
            <a:r>
              <a:rPr sz="3000" b="1">
                <a:solidFill>
                  <a:srgbClr val="FFFFFF"/>
                </a:solidFill>
                <a:latin typeface="Segoe UI"/>
              </a:rPr>
              <a:t>R65.5m</a:t>
            </a:r>
          </a:p>
        </p:txBody>
      </p:sp>
      <p:sp>
        <p:nvSpPr>
          <p:cNvPr id="9" name="TextBox 8"/>
          <p:cNvSpPr txBox="1"/>
          <p:nvPr/>
        </p:nvSpPr>
        <p:spPr>
          <a:xfrm>
            <a:off x="685800" y="2313432"/>
            <a:ext cx="1783080" cy="320040"/>
          </a:xfrm>
          <a:prstGeom prst="rect">
            <a:avLst/>
          </a:prstGeom>
          <a:noFill/>
        </p:spPr>
        <p:txBody>
          <a:bodyPr wrap="square" anchor="t" lIns="0" rIns="0" tIns="0" bIns="0">
            <a:spAutoFit/>
          </a:bodyPr>
          <a:lstStyle/>
          <a:p>
            <a:pPr algn="l">
              <a:lnSpc>
                <a:spcPct val="100000"/>
              </a:lnSpc>
              <a:spcBef>
                <a:spcPts val="0"/>
              </a:spcBef>
            </a:pPr>
            <a:r>
              <a:rPr sz="950" b="0">
                <a:solidFill>
                  <a:srgbClr val="AFC4DC"/>
                </a:solidFill>
                <a:latin typeface="Segoe UI"/>
              </a:rPr>
              <a:t>510,127 transactions</a:t>
            </a:r>
          </a:p>
        </p:txBody>
      </p:sp>
      <p:sp>
        <p:nvSpPr>
          <p:cNvPr id="10" name="Rounded Rectangle 9"/>
          <p:cNvSpPr/>
          <p:nvPr/>
        </p:nvSpPr>
        <p:spPr>
          <a:xfrm>
            <a:off x="2788920" y="1325880"/>
            <a:ext cx="2148840" cy="1417320"/>
          </a:xfrm>
          <a:prstGeom prst="roundRect">
            <a:avLst>
              <a:gd name="adj" fmla="val 6000"/>
            </a:avLst>
          </a:prstGeom>
          <a:solidFill>
            <a:srgbClr val="0E8B8B"/>
          </a:solidFill>
          <a:ln w="9525">
            <a:solidFill>
              <a:srgbClr val="0E8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1800" y="1472184"/>
            <a:ext cx="1783080" cy="228600"/>
          </a:xfrm>
          <a:prstGeom prst="rect">
            <a:avLst/>
          </a:prstGeom>
          <a:noFill/>
        </p:spPr>
        <p:txBody>
          <a:bodyPr wrap="square" anchor="t" lIns="0" rIns="0" tIns="0" bIns="0">
            <a:spAutoFit/>
          </a:bodyPr>
          <a:lstStyle/>
          <a:p>
            <a:pPr algn="l">
              <a:lnSpc>
                <a:spcPct val="100000"/>
              </a:lnSpc>
              <a:spcBef>
                <a:spcPts val="0"/>
              </a:spcBef>
            </a:pPr>
            <a:r>
              <a:rPr sz="1000" b="1">
                <a:solidFill>
                  <a:srgbClr val="C9DAF0"/>
                </a:solidFill>
                <a:latin typeface="Segoe UI"/>
              </a:rPr>
              <a:t>REDEMPTION</a:t>
            </a:r>
          </a:p>
        </p:txBody>
      </p:sp>
      <p:sp>
        <p:nvSpPr>
          <p:cNvPr id="12" name="TextBox 11"/>
          <p:cNvSpPr txBox="1"/>
          <p:nvPr/>
        </p:nvSpPr>
        <p:spPr>
          <a:xfrm>
            <a:off x="2971800" y="1728216"/>
            <a:ext cx="1783080" cy="548640"/>
          </a:xfrm>
          <a:prstGeom prst="rect">
            <a:avLst/>
          </a:prstGeom>
          <a:noFill/>
        </p:spPr>
        <p:txBody>
          <a:bodyPr wrap="square" anchor="t" lIns="0" rIns="0" tIns="0" bIns="0">
            <a:spAutoFit/>
          </a:bodyPr>
          <a:lstStyle/>
          <a:p>
            <a:pPr algn="l">
              <a:lnSpc>
                <a:spcPct val="100000"/>
              </a:lnSpc>
              <a:spcBef>
                <a:spcPts val="0"/>
              </a:spcBef>
            </a:pPr>
            <a:r>
              <a:rPr sz="3000" b="1">
                <a:solidFill>
                  <a:srgbClr val="FFFFFF"/>
                </a:solidFill>
                <a:latin typeface="Segoe UI"/>
              </a:rPr>
              <a:t>84.2%</a:t>
            </a:r>
          </a:p>
        </p:txBody>
      </p:sp>
      <p:sp>
        <p:nvSpPr>
          <p:cNvPr id="13" name="TextBox 12"/>
          <p:cNvSpPr txBox="1"/>
          <p:nvPr/>
        </p:nvSpPr>
        <p:spPr>
          <a:xfrm>
            <a:off x="2971800" y="2313432"/>
            <a:ext cx="1783080" cy="320040"/>
          </a:xfrm>
          <a:prstGeom prst="rect">
            <a:avLst/>
          </a:prstGeom>
          <a:noFill/>
        </p:spPr>
        <p:txBody>
          <a:bodyPr wrap="square" anchor="t" lIns="0" rIns="0" tIns="0" bIns="0">
            <a:spAutoFit/>
          </a:bodyPr>
          <a:lstStyle/>
          <a:p>
            <a:pPr algn="l">
              <a:lnSpc>
                <a:spcPct val="100000"/>
              </a:lnSpc>
              <a:spcBef>
                <a:spcPts val="0"/>
              </a:spcBef>
            </a:pPr>
            <a:r>
              <a:rPr sz="950" b="0">
                <a:solidFill>
                  <a:srgbClr val="AFC4DC"/>
                </a:solidFill>
                <a:latin typeface="Segoe UI"/>
              </a:rPr>
              <a:t>101,843 of 120,969</a:t>
            </a:r>
          </a:p>
        </p:txBody>
      </p:sp>
      <p:sp>
        <p:nvSpPr>
          <p:cNvPr id="14" name="Rounded Rectangle 13"/>
          <p:cNvSpPr/>
          <p:nvPr/>
        </p:nvSpPr>
        <p:spPr>
          <a:xfrm>
            <a:off x="5074920" y="1325880"/>
            <a:ext cx="2148840" cy="1417320"/>
          </a:xfrm>
          <a:prstGeom prst="roundRect">
            <a:avLst>
              <a:gd name="adj" fmla="val 6000"/>
            </a:avLst>
          </a:prstGeom>
          <a:solidFill>
            <a:srgbClr val="1B4079"/>
          </a:solidFill>
          <a:ln w="9525">
            <a:solidFill>
              <a:srgbClr val="1B40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7800" y="1472184"/>
            <a:ext cx="1783080" cy="228600"/>
          </a:xfrm>
          <a:prstGeom prst="rect">
            <a:avLst/>
          </a:prstGeom>
          <a:noFill/>
        </p:spPr>
        <p:txBody>
          <a:bodyPr wrap="square" anchor="t" lIns="0" rIns="0" tIns="0" bIns="0">
            <a:spAutoFit/>
          </a:bodyPr>
          <a:lstStyle/>
          <a:p>
            <a:pPr algn="l">
              <a:lnSpc>
                <a:spcPct val="100000"/>
              </a:lnSpc>
              <a:spcBef>
                <a:spcPts val="0"/>
              </a:spcBef>
            </a:pPr>
            <a:r>
              <a:rPr sz="1000" b="1">
                <a:solidFill>
                  <a:srgbClr val="C9DAF0"/>
                </a:solidFill>
                <a:latin typeface="Segoe UI"/>
              </a:rPr>
              <a:t>AVG BASKET</a:t>
            </a:r>
          </a:p>
        </p:txBody>
      </p:sp>
      <p:sp>
        <p:nvSpPr>
          <p:cNvPr id="16" name="TextBox 15"/>
          <p:cNvSpPr txBox="1"/>
          <p:nvPr/>
        </p:nvSpPr>
        <p:spPr>
          <a:xfrm>
            <a:off x="5257800" y="1728216"/>
            <a:ext cx="1783080" cy="548640"/>
          </a:xfrm>
          <a:prstGeom prst="rect">
            <a:avLst/>
          </a:prstGeom>
          <a:noFill/>
        </p:spPr>
        <p:txBody>
          <a:bodyPr wrap="square" anchor="t" lIns="0" rIns="0" tIns="0" bIns="0">
            <a:spAutoFit/>
          </a:bodyPr>
          <a:lstStyle/>
          <a:p>
            <a:pPr algn="l">
              <a:lnSpc>
                <a:spcPct val="100000"/>
              </a:lnSpc>
              <a:spcBef>
                <a:spcPts val="0"/>
              </a:spcBef>
            </a:pPr>
            <a:r>
              <a:rPr sz="3000" b="1">
                <a:solidFill>
                  <a:srgbClr val="FFFFFF"/>
                </a:solidFill>
                <a:latin typeface="Segoe UI"/>
              </a:rPr>
              <a:t>R128</a:t>
            </a:r>
          </a:p>
        </p:txBody>
      </p:sp>
      <p:sp>
        <p:nvSpPr>
          <p:cNvPr id="17" name="TextBox 16"/>
          <p:cNvSpPr txBox="1"/>
          <p:nvPr/>
        </p:nvSpPr>
        <p:spPr>
          <a:xfrm>
            <a:off x="5257800" y="2313432"/>
            <a:ext cx="1783080" cy="320040"/>
          </a:xfrm>
          <a:prstGeom prst="rect">
            <a:avLst/>
          </a:prstGeom>
          <a:noFill/>
        </p:spPr>
        <p:txBody>
          <a:bodyPr wrap="square" anchor="t" lIns="0" rIns="0" tIns="0" bIns="0">
            <a:spAutoFit/>
          </a:bodyPr>
          <a:lstStyle/>
          <a:p>
            <a:pPr algn="l">
              <a:lnSpc>
                <a:spcPct val="100000"/>
              </a:lnSpc>
              <a:spcBef>
                <a:spcPts val="0"/>
              </a:spcBef>
            </a:pPr>
            <a:r>
              <a:rPr sz="950" b="0">
                <a:solidFill>
                  <a:srgbClr val="AFC4DC"/>
                </a:solidFill>
                <a:latin typeface="Segoe UI"/>
              </a:rPr>
              <a:t>all voucher types</a:t>
            </a:r>
          </a:p>
        </p:txBody>
      </p:sp>
      <p:sp>
        <p:nvSpPr>
          <p:cNvPr id="18" name="Rounded Rectangle 17"/>
          <p:cNvSpPr/>
          <p:nvPr/>
        </p:nvSpPr>
        <p:spPr>
          <a:xfrm>
            <a:off x="7360920" y="1325880"/>
            <a:ext cx="2148840" cy="1417320"/>
          </a:xfrm>
          <a:prstGeom prst="roundRect">
            <a:avLst>
              <a:gd name="adj" fmla="val 6000"/>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43800" y="1472184"/>
            <a:ext cx="1783080" cy="228600"/>
          </a:xfrm>
          <a:prstGeom prst="rect">
            <a:avLst/>
          </a:prstGeom>
          <a:noFill/>
        </p:spPr>
        <p:txBody>
          <a:bodyPr wrap="square" anchor="t" lIns="0" rIns="0" tIns="0" bIns="0">
            <a:spAutoFit/>
          </a:bodyPr>
          <a:lstStyle/>
          <a:p>
            <a:pPr algn="l">
              <a:lnSpc>
                <a:spcPct val="100000"/>
              </a:lnSpc>
              <a:spcBef>
                <a:spcPts val="0"/>
              </a:spcBef>
            </a:pPr>
            <a:r>
              <a:rPr sz="1000" b="1">
                <a:solidFill>
                  <a:srgbClr val="C9DAF0"/>
                </a:solidFill>
                <a:latin typeface="Segoe UI"/>
              </a:rPr>
              <a:t>SLA BREACH</a:t>
            </a:r>
          </a:p>
        </p:txBody>
      </p:sp>
      <p:sp>
        <p:nvSpPr>
          <p:cNvPr id="20" name="TextBox 19"/>
          <p:cNvSpPr txBox="1"/>
          <p:nvPr/>
        </p:nvSpPr>
        <p:spPr>
          <a:xfrm>
            <a:off x="7543800" y="1728216"/>
            <a:ext cx="1783080" cy="548640"/>
          </a:xfrm>
          <a:prstGeom prst="rect">
            <a:avLst/>
          </a:prstGeom>
          <a:noFill/>
        </p:spPr>
        <p:txBody>
          <a:bodyPr wrap="square" anchor="t" lIns="0" rIns="0" tIns="0" bIns="0">
            <a:spAutoFit/>
          </a:bodyPr>
          <a:lstStyle/>
          <a:p>
            <a:pPr algn="l">
              <a:lnSpc>
                <a:spcPct val="100000"/>
              </a:lnSpc>
              <a:spcBef>
                <a:spcPts val="0"/>
              </a:spcBef>
            </a:pPr>
            <a:r>
              <a:rPr sz="3000" b="1">
                <a:solidFill>
                  <a:srgbClr val="FFFFFF"/>
                </a:solidFill>
                <a:latin typeface="Segoe UI"/>
              </a:rPr>
              <a:t>26.3%</a:t>
            </a:r>
          </a:p>
        </p:txBody>
      </p:sp>
      <p:sp>
        <p:nvSpPr>
          <p:cNvPr id="21" name="TextBox 20"/>
          <p:cNvSpPr txBox="1"/>
          <p:nvPr/>
        </p:nvSpPr>
        <p:spPr>
          <a:xfrm>
            <a:off x="7543800" y="2313432"/>
            <a:ext cx="1783080" cy="320040"/>
          </a:xfrm>
          <a:prstGeom prst="rect">
            <a:avLst/>
          </a:prstGeom>
          <a:noFill/>
        </p:spPr>
        <p:txBody>
          <a:bodyPr wrap="square" anchor="t" lIns="0" rIns="0" tIns="0" bIns="0">
            <a:spAutoFit/>
          </a:bodyPr>
          <a:lstStyle/>
          <a:p>
            <a:pPr algn="l">
              <a:lnSpc>
                <a:spcPct val="100000"/>
              </a:lnSpc>
              <a:spcBef>
                <a:spcPts val="0"/>
              </a:spcBef>
            </a:pPr>
            <a:r>
              <a:rPr sz="950" b="0">
                <a:solidFill>
                  <a:srgbClr val="AFC4DC"/>
                </a:solidFill>
                <a:latin typeface="Segoe UI"/>
              </a:rPr>
              <a:t>94.7% on High/Critical</a:t>
            </a:r>
          </a:p>
        </p:txBody>
      </p:sp>
      <p:sp>
        <p:nvSpPr>
          <p:cNvPr id="22" name="Rounded Rectangle 21"/>
          <p:cNvSpPr/>
          <p:nvPr/>
        </p:nvSpPr>
        <p:spPr>
          <a:xfrm>
            <a:off x="9646920" y="1325880"/>
            <a:ext cx="2057400" cy="1417320"/>
          </a:xfrm>
          <a:prstGeom prst="roundRect">
            <a:avLst>
              <a:gd name="adj" fmla="val 6000"/>
            </a:avLst>
          </a:prstGeom>
          <a:solidFill>
            <a:srgbClr val="7B4B94"/>
          </a:solidFill>
          <a:ln w="9525">
            <a:solidFill>
              <a:srgbClr val="7B4B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29800" y="1472184"/>
            <a:ext cx="1691640" cy="228600"/>
          </a:xfrm>
          <a:prstGeom prst="rect">
            <a:avLst/>
          </a:prstGeom>
          <a:noFill/>
        </p:spPr>
        <p:txBody>
          <a:bodyPr wrap="square" anchor="t" lIns="0" rIns="0" tIns="0" bIns="0">
            <a:spAutoFit/>
          </a:bodyPr>
          <a:lstStyle/>
          <a:p>
            <a:pPr algn="l">
              <a:lnSpc>
                <a:spcPct val="100000"/>
              </a:lnSpc>
              <a:spcBef>
                <a:spcPts val="0"/>
              </a:spcBef>
            </a:pPr>
            <a:r>
              <a:rPr sz="1000" b="1">
                <a:solidFill>
                  <a:srgbClr val="C9DAF0"/>
                </a:solidFill>
                <a:latin typeface="Segoe UI"/>
              </a:rPr>
              <a:t>LIABILITY</a:t>
            </a:r>
          </a:p>
        </p:txBody>
      </p:sp>
      <p:sp>
        <p:nvSpPr>
          <p:cNvPr id="24" name="TextBox 23"/>
          <p:cNvSpPr txBox="1"/>
          <p:nvPr/>
        </p:nvSpPr>
        <p:spPr>
          <a:xfrm>
            <a:off x="9829800" y="1728216"/>
            <a:ext cx="1691640" cy="548640"/>
          </a:xfrm>
          <a:prstGeom prst="rect">
            <a:avLst/>
          </a:prstGeom>
          <a:noFill/>
        </p:spPr>
        <p:txBody>
          <a:bodyPr wrap="square" anchor="t" lIns="0" rIns="0" tIns="0" bIns="0">
            <a:spAutoFit/>
          </a:bodyPr>
          <a:lstStyle/>
          <a:p>
            <a:pPr algn="l">
              <a:lnSpc>
                <a:spcPct val="100000"/>
              </a:lnSpc>
              <a:spcBef>
                <a:spcPts val="0"/>
              </a:spcBef>
            </a:pPr>
            <a:r>
              <a:rPr sz="3000" b="1">
                <a:solidFill>
                  <a:srgbClr val="FFFFFF"/>
                </a:solidFill>
                <a:latin typeface="Segoe UI"/>
              </a:rPr>
              <a:t>R3.5m</a:t>
            </a:r>
          </a:p>
        </p:txBody>
      </p:sp>
      <p:sp>
        <p:nvSpPr>
          <p:cNvPr id="25" name="TextBox 24"/>
          <p:cNvSpPr txBox="1"/>
          <p:nvPr/>
        </p:nvSpPr>
        <p:spPr>
          <a:xfrm>
            <a:off x="9829800" y="2313432"/>
            <a:ext cx="1691640" cy="320040"/>
          </a:xfrm>
          <a:prstGeom prst="rect">
            <a:avLst/>
          </a:prstGeom>
          <a:noFill/>
        </p:spPr>
        <p:txBody>
          <a:bodyPr wrap="square" anchor="t" lIns="0" rIns="0" tIns="0" bIns="0">
            <a:spAutoFit/>
          </a:bodyPr>
          <a:lstStyle/>
          <a:p>
            <a:pPr algn="l">
              <a:lnSpc>
                <a:spcPct val="100000"/>
              </a:lnSpc>
              <a:spcBef>
                <a:spcPts val="0"/>
              </a:spcBef>
            </a:pPr>
            <a:r>
              <a:rPr sz="950" b="0">
                <a:solidFill>
                  <a:srgbClr val="AFC4DC"/>
                </a:solidFill>
                <a:latin typeface="Segoe UI"/>
              </a:rPr>
              <a:t>unredeemed value</a:t>
            </a:r>
          </a:p>
        </p:txBody>
      </p:sp>
      <p:sp>
        <p:nvSpPr>
          <p:cNvPr id="26" name="Rounded Rectangle 25"/>
          <p:cNvSpPr/>
          <p:nvPr/>
        </p:nvSpPr>
        <p:spPr>
          <a:xfrm>
            <a:off x="502920" y="3017520"/>
            <a:ext cx="11201400" cy="3383280"/>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3291840"/>
            <a:ext cx="10515600" cy="3337560"/>
          </a:xfrm>
          <a:prstGeom prst="rect">
            <a:avLst/>
          </a:prstGeom>
          <a:noFill/>
        </p:spPr>
        <p:txBody>
          <a:bodyPr wrap="square" anchor="t" lIns="0" rIns="0" tIns="0" bIns="0">
            <a:spAutoFit/>
          </a:bodyPr>
          <a:lstStyle/>
          <a:p>
            <a:pPr algn="l">
              <a:lnSpc>
                <a:spcPct val="115000"/>
              </a:lnSpc>
              <a:spcBef>
                <a:spcPts val="0"/>
              </a:spcBef>
            </a:pPr>
            <a:r>
              <a:rPr sz="1300" b="1">
                <a:solidFill>
                  <a:srgbClr val="12305B"/>
                </a:solidFill>
                <a:latin typeface="Segoe UI"/>
              </a:rPr>
              <a:t>Umhlanga Value Mart is failing — and it is operational, not demand.</a:t>
            </a:r>
          </a:p>
          <a:p>
            <a:pPr algn="l">
              <a:lnSpc>
                <a:spcPct val="115000"/>
              </a:lnSpc>
              <a:spcBef>
                <a:spcPts val="200"/>
              </a:spcBef>
            </a:pPr>
            <a:r>
              <a:rPr sz="1150" b="0">
                <a:solidFill>
                  <a:srgbClr val="5A6672"/>
                </a:solidFill>
                <a:latin typeface="Segoe UI"/>
              </a:rPr>
              <a:t>July sales −42.5% against its own prior three-month average, while support tickets rose +693% in the same month. R571,518 annualised at risk, and plausibly recoverable because the two moving together points to a service breakdown rather than lost customers.</a:t>
            </a:r>
          </a:p>
          <a:p>
            <a:pPr algn="l">
              <a:lnSpc>
                <a:spcPct val="115000"/>
              </a:lnSpc>
              <a:spcBef>
                <a:spcPts val="900"/>
              </a:spcBef>
            </a:pPr>
            <a:r>
              <a:rPr sz="1300" b="1">
                <a:solidFill>
                  <a:srgbClr val="12305B"/>
                </a:solidFill>
                <a:latin typeface="Segoe UI"/>
              </a:rPr>
              <a:t>The SLA policy is configured backwards.</a:t>
            </a:r>
          </a:p>
          <a:p>
            <a:pPr algn="l">
              <a:lnSpc>
                <a:spcPct val="115000"/>
              </a:lnSpc>
              <a:spcBef>
                <a:spcPts val="200"/>
              </a:spcBef>
            </a:pPr>
            <a:r>
              <a:rPr sz="1150" b="0">
                <a:solidFill>
                  <a:srgbClr val="5A6672"/>
                </a:solidFill>
                <a:latin typeface="Segoe UI"/>
              </a:rPr>
              <a:t>Critical gets a 12-hour target and takes 52.7 hours (98.3% breach). Low gets 48 hours and takes 11.3 (0.2%). The ladder runs opposite to the actual workload, so 94.7% of all 358 breaches land on High and Critical. The metric is measuring a policy error, not the team.</a:t>
            </a:r>
          </a:p>
          <a:p>
            <a:pPr algn="l">
              <a:lnSpc>
                <a:spcPct val="115000"/>
              </a:lnSpc>
              <a:spcBef>
                <a:spcPts val="900"/>
              </a:spcBef>
            </a:pPr>
            <a:r>
              <a:rPr sz="1300" b="1">
                <a:solidFill>
                  <a:srgbClr val="12305B"/>
                </a:solidFill>
                <a:latin typeface="Segoe UI"/>
              </a:rPr>
              <a:t>Eastern Cape is the one declining region — on four independent signals.</a:t>
            </a:r>
          </a:p>
          <a:p>
            <a:pPr algn="l">
              <a:lnSpc>
                <a:spcPct val="115000"/>
              </a:lnSpc>
              <a:spcBef>
                <a:spcPts val="200"/>
              </a:spcBef>
            </a:pPr>
            <a:r>
              <a:rPr sz="1150" b="0">
                <a:solidFill>
                  <a:srgbClr val="5A6672"/>
                </a:solidFill>
                <a:latin typeface="Segoe UI"/>
              </a:rPr>
              <a:t>Only region that peaked before July; 9.8% below its own peak while every other region is AT its peak; flattest trend slope; and a 12.2% June fall against +1.4% to +3.8% elsewhere. One signal would be noise. Four is a finding.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The five business questions</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Section 6 of the brief — every answer computed, with the SQL in sql/02_business_questions.sql</a:t>
            </a:r>
          </a:p>
        </p:txBody>
      </p:sp>
      <p:sp>
        <p:nvSpPr>
          <p:cNvPr id="6" name="Rounded Rectangle 5"/>
          <p:cNvSpPr/>
          <p:nvPr/>
        </p:nvSpPr>
        <p:spPr>
          <a:xfrm>
            <a:off x="502920" y="1234440"/>
            <a:ext cx="11201400" cy="1060704"/>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362456"/>
            <a:ext cx="566928" cy="457200"/>
          </a:xfrm>
          <a:prstGeom prst="round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44752"/>
            <a:ext cx="566928" cy="274320"/>
          </a:xfrm>
          <a:prstGeom prst="rect">
            <a:avLst/>
          </a:prstGeom>
          <a:noFill/>
        </p:spPr>
        <p:txBody>
          <a:bodyPr wrap="square" anchor="t" lIns="0" rIns="0" tIns="0" bIns="0">
            <a:spAutoFit/>
          </a:bodyPr>
          <a:lstStyle/>
          <a:p>
            <a:pPr algn="ctr">
              <a:lnSpc>
                <a:spcPct val="100000"/>
              </a:lnSpc>
              <a:spcBef>
                <a:spcPts val="0"/>
              </a:spcBef>
            </a:pPr>
            <a:r>
              <a:rPr sz="1400" b="1">
                <a:solidFill>
                  <a:srgbClr val="FFFFFF"/>
                </a:solidFill>
                <a:latin typeface="Segoe UI"/>
              </a:rPr>
              <a:t>Q1</a:t>
            </a:r>
          </a:p>
        </p:txBody>
      </p:sp>
      <p:sp>
        <p:nvSpPr>
          <p:cNvPr id="9" name="TextBox 8"/>
          <p:cNvSpPr txBox="1"/>
          <p:nvPr/>
        </p:nvSpPr>
        <p:spPr>
          <a:xfrm>
            <a:off x="1371600" y="1335024"/>
            <a:ext cx="10149840" cy="256032"/>
          </a:xfrm>
          <a:prstGeom prst="rect">
            <a:avLst/>
          </a:prstGeom>
          <a:noFill/>
        </p:spPr>
        <p:txBody>
          <a:bodyPr wrap="square" anchor="t" lIns="0" rIns="0" tIns="0" bIns="0">
            <a:spAutoFit/>
          </a:bodyPr>
          <a:lstStyle/>
          <a:p>
            <a:pPr algn="l">
              <a:lnSpc>
                <a:spcPct val="100000"/>
              </a:lnSpc>
              <a:spcBef>
                <a:spcPts val="0"/>
              </a:spcBef>
            </a:pPr>
            <a:r>
              <a:rPr sz="1200" b="1">
                <a:solidFill>
                  <a:srgbClr val="12305B"/>
                </a:solidFill>
                <a:latin typeface="Segoe UI"/>
              </a:rPr>
              <a:t>Which merchants generate the highest sales value and transaction volume?</a:t>
            </a:r>
          </a:p>
        </p:txBody>
      </p:sp>
      <p:sp>
        <p:nvSpPr>
          <p:cNvPr id="10" name="TextBox 9"/>
          <p:cNvSpPr txBox="1"/>
          <p:nvPr/>
        </p:nvSpPr>
        <p:spPr>
          <a:xfrm>
            <a:off x="1371600" y="1600200"/>
            <a:ext cx="10149840" cy="512064"/>
          </a:xfrm>
          <a:prstGeom prst="rect">
            <a:avLst/>
          </a:prstGeom>
          <a:noFill/>
        </p:spPr>
        <p:txBody>
          <a:bodyPr wrap="square" anchor="t" lIns="0" rIns="0" tIns="0" bIns="0">
            <a:spAutoFit/>
          </a:bodyPr>
          <a:lstStyle/>
          <a:p>
            <a:pPr algn="l">
              <a:lnSpc>
                <a:spcPct val="110000"/>
              </a:lnSpc>
              <a:spcBef>
                <a:spcPts val="0"/>
              </a:spcBef>
            </a:pPr>
            <a:r>
              <a:rPr sz="950" b="0">
                <a:solidFill>
                  <a:srgbClr val="5A6672"/>
                </a:solidFill>
                <a:latin typeface="Segoe UI"/>
              </a:rPr>
              <a:t>Durban Cash Hub leads on BOTH — R5,776,119 (8.8%) and 45,371 transactions. Both rankings are reported because they need not agree: a larger basket can put a merchant top on value and not on volume. Concentration matters more than the leader — the top 5 hold 35.4% of revenue, and 15 of 25 merchants make up 80%.</a:t>
            </a:r>
          </a:p>
        </p:txBody>
      </p:sp>
      <p:sp>
        <p:nvSpPr>
          <p:cNvPr id="11" name="TextBox 10"/>
          <p:cNvSpPr txBox="1"/>
          <p:nvPr/>
        </p:nvSpPr>
        <p:spPr>
          <a:xfrm>
            <a:off x="1371600" y="2112264"/>
            <a:ext cx="10149840" cy="164592"/>
          </a:xfrm>
          <a:prstGeom prst="rect">
            <a:avLst/>
          </a:prstGeom>
          <a:noFill/>
        </p:spPr>
        <p:txBody>
          <a:bodyPr wrap="square" anchor="t" lIns="0" rIns="0" tIns="0" bIns="0">
            <a:spAutoFit/>
          </a:bodyPr>
          <a:lstStyle/>
          <a:p>
            <a:pPr algn="l">
              <a:lnSpc>
                <a:spcPct val="100000"/>
              </a:lnSpc>
              <a:spcBef>
                <a:spcPts val="0"/>
              </a:spcBef>
            </a:pPr>
            <a:r>
              <a:rPr sz="850" b="1">
                <a:solidFill>
                  <a:srgbClr val="12305B"/>
                </a:solidFill>
                <a:latin typeface="Segoe UI"/>
              </a:rPr>
              <a:t>Power BI: Merchant Analysis  ·  league table + Executive Overview KPIs</a:t>
            </a:r>
          </a:p>
        </p:txBody>
      </p:sp>
      <p:sp>
        <p:nvSpPr>
          <p:cNvPr id="12" name="Rounded Rectangle 11"/>
          <p:cNvSpPr/>
          <p:nvPr/>
        </p:nvSpPr>
        <p:spPr>
          <a:xfrm>
            <a:off x="502920" y="2359152"/>
            <a:ext cx="11201400" cy="1060704"/>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487168"/>
            <a:ext cx="566928" cy="457200"/>
          </a:xfrm>
          <a:prstGeom prst="roundRect">
            <a:avLst/>
          </a:prstGeom>
          <a:solidFill>
            <a:srgbClr val="0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569464"/>
            <a:ext cx="566928" cy="274320"/>
          </a:xfrm>
          <a:prstGeom prst="rect">
            <a:avLst/>
          </a:prstGeom>
          <a:noFill/>
        </p:spPr>
        <p:txBody>
          <a:bodyPr wrap="square" anchor="t" lIns="0" rIns="0" tIns="0" bIns="0">
            <a:spAutoFit/>
          </a:bodyPr>
          <a:lstStyle/>
          <a:p>
            <a:pPr algn="ctr">
              <a:lnSpc>
                <a:spcPct val="100000"/>
              </a:lnSpc>
              <a:spcBef>
                <a:spcPts val="0"/>
              </a:spcBef>
            </a:pPr>
            <a:r>
              <a:rPr sz="1400" b="1">
                <a:solidFill>
                  <a:srgbClr val="FFFFFF"/>
                </a:solidFill>
                <a:latin typeface="Segoe UI"/>
              </a:rPr>
              <a:t>Q2</a:t>
            </a:r>
          </a:p>
        </p:txBody>
      </p:sp>
      <p:sp>
        <p:nvSpPr>
          <p:cNvPr id="15" name="TextBox 14"/>
          <p:cNvSpPr txBox="1"/>
          <p:nvPr/>
        </p:nvSpPr>
        <p:spPr>
          <a:xfrm>
            <a:off x="1371600" y="2459736"/>
            <a:ext cx="10149840" cy="256032"/>
          </a:xfrm>
          <a:prstGeom prst="rect">
            <a:avLst/>
          </a:prstGeom>
          <a:noFill/>
        </p:spPr>
        <p:txBody>
          <a:bodyPr wrap="square" anchor="t" lIns="0" rIns="0" tIns="0" bIns="0">
            <a:spAutoFit/>
          </a:bodyPr>
          <a:lstStyle/>
          <a:p>
            <a:pPr algn="l">
              <a:lnSpc>
                <a:spcPct val="100000"/>
              </a:lnSpc>
              <a:spcBef>
                <a:spcPts val="0"/>
              </a:spcBef>
            </a:pPr>
            <a:r>
              <a:rPr sz="1200" b="1">
                <a:solidFill>
                  <a:srgbClr val="12305B"/>
                </a:solidFill>
                <a:latin typeface="Segoe UI"/>
              </a:rPr>
              <a:t>Which voucher type has the highest redemption rate?</a:t>
            </a:r>
          </a:p>
        </p:txBody>
      </p:sp>
      <p:sp>
        <p:nvSpPr>
          <p:cNvPr id="16" name="TextBox 15"/>
          <p:cNvSpPr txBox="1"/>
          <p:nvPr/>
        </p:nvSpPr>
        <p:spPr>
          <a:xfrm>
            <a:off x="1371600" y="2724912"/>
            <a:ext cx="10149840" cy="512064"/>
          </a:xfrm>
          <a:prstGeom prst="rect">
            <a:avLst/>
          </a:prstGeom>
          <a:noFill/>
        </p:spPr>
        <p:txBody>
          <a:bodyPr wrap="square" anchor="t" lIns="0" rIns="0" tIns="0" bIns="0">
            <a:spAutoFit/>
          </a:bodyPr>
          <a:lstStyle/>
          <a:p>
            <a:pPr algn="l">
              <a:lnSpc>
                <a:spcPct val="110000"/>
              </a:lnSpc>
              <a:spcBef>
                <a:spcPts val="0"/>
              </a:spcBef>
            </a:pPr>
            <a:r>
              <a:rPr sz="950" b="0">
                <a:solidFill>
                  <a:srgbClr val="5A6672"/>
                </a:solidFill>
                <a:latin typeface="Segoe UI"/>
              </a:rPr>
              <a:t>Airtime at 92.8%; Gaming lowest at 76.0% — a 16.9pp spread. Value-based and volume-based rates are near identical within each type, and time-to-redeem is flat (3.5–3.7 days), so the difference is WHETHER customers redeem, not how quickly. Gaming's 24% non-redemption is the largest block of the R3.5m liability.</a:t>
            </a:r>
          </a:p>
        </p:txBody>
      </p:sp>
      <p:sp>
        <p:nvSpPr>
          <p:cNvPr id="17" name="TextBox 16"/>
          <p:cNvSpPr txBox="1"/>
          <p:nvPr/>
        </p:nvSpPr>
        <p:spPr>
          <a:xfrm>
            <a:off x="1371600" y="3236976"/>
            <a:ext cx="10149840" cy="164592"/>
          </a:xfrm>
          <a:prstGeom prst="rect">
            <a:avLst/>
          </a:prstGeom>
          <a:noFill/>
        </p:spPr>
        <p:txBody>
          <a:bodyPr wrap="square" anchor="t" lIns="0" rIns="0" tIns="0" bIns="0">
            <a:spAutoFit/>
          </a:bodyPr>
          <a:lstStyle/>
          <a:p>
            <a:pPr algn="l">
              <a:lnSpc>
                <a:spcPct val="100000"/>
              </a:lnSpc>
              <a:spcBef>
                <a:spcPts val="0"/>
              </a:spcBef>
            </a:pPr>
            <a:r>
              <a:rPr sz="850" b="1">
                <a:solidFill>
                  <a:srgbClr val="0E8B8B"/>
                </a:solidFill>
                <a:latin typeface="Segoe UI"/>
              </a:rPr>
              <a:t>Power BI: Voucher &amp; Redemption  ·  redemption rate and liability by type</a:t>
            </a:r>
          </a:p>
        </p:txBody>
      </p:sp>
      <p:sp>
        <p:nvSpPr>
          <p:cNvPr id="18" name="Rounded Rectangle 17"/>
          <p:cNvSpPr/>
          <p:nvPr/>
        </p:nvSpPr>
        <p:spPr>
          <a:xfrm>
            <a:off x="502920" y="3483864"/>
            <a:ext cx="11201400" cy="1060704"/>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 y="3611880"/>
            <a:ext cx="566928" cy="457200"/>
          </a:xfrm>
          <a:prstGeom prst="round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694176"/>
            <a:ext cx="566928" cy="274320"/>
          </a:xfrm>
          <a:prstGeom prst="rect">
            <a:avLst/>
          </a:prstGeom>
          <a:noFill/>
        </p:spPr>
        <p:txBody>
          <a:bodyPr wrap="square" anchor="t" lIns="0" rIns="0" tIns="0" bIns="0">
            <a:spAutoFit/>
          </a:bodyPr>
          <a:lstStyle/>
          <a:p>
            <a:pPr algn="ctr">
              <a:lnSpc>
                <a:spcPct val="100000"/>
              </a:lnSpc>
              <a:spcBef>
                <a:spcPts val="0"/>
              </a:spcBef>
            </a:pPr>
            <a:r>
              <a:rPr sz="1400" b="1">
                <a:solidFill>
                  <a:srgbClr val="FFFFFF"/>
                </a:solidFill>
                <a:latin typeface="Segoe UI"/>
              </a:rPr>
              <a:t>Q3</a:t>
            </a:r>
          </a:p>
        </p:txBody>
      </p:sp>
      <p:sp>
        <p:nvSpPr>
          <p:cNvPr id="21" name="TextBox 20"/>
          <p:cNvSpPr txBox="1"/>
          <p:nvPr/>
        </p:nvSpPr>
        <p:spPr>
          <a:xfrm>
            <a:off x="1371600" y="3584448"/>
            <a:ext cx="10149840" cy="256032"/>
          </a:xfrm>
          <a:prstGeom prst="rect">
            <a:avLst/>
          </a:prstGeom>
          <a:noFill/>
        </p:spPr>
        <p:txBody>
          <a:bodyPr wrap="square" anchor="t" lIns="0" rIns="0" tIns="0" bIns="0">
            <a:spAutoFit/>
          </a:bodyPr>
          <a:lstStyle/>
          <a:p>
            <a:pPr algn="l">
              <a:lnSpc>
                <a:spcPct val="100000"/>
              </a:lnSpc>
              <a:spcBef>
                <a:spcPts val="0"/>
              </a:spcBef>
            </a:pPr>
            <a:r>
              <a:rPr sz="1200" b="1">
                <a:solidFill>
                  <a:srgbClr val="12305B"/>
                </a:solidFill>
                <a:latin typeface="Segoe UI"/>
              </a:rPr>
              <a:t>Which region shows declining sales or transaction behaviour?</a:t>
            </a:r>
          </a:p>
        </p:txBody>
      </p:sp>
      <p:sp>
        <p:nvSpPr>
          <p:cNvPr id="22" name="TextBox 21"/>
          <p:cNvSpPr txBox="1"/>
          <p:nvPr/>
        </p:nvSpPr>
        <p:spPr>
          <a:xfrm>
            <a:off x="1371600" y="3849624"/>
            <a:ext cx="10149840" cy="512064"/>
          </a:xfrm>
          <a:prstGeom prst="rect">
            <a:avLst/>
          </a:prstGeom>
          <a:noFill/>
        </p:spPr>
        <p:txBody>
          <a:bodyPr wrap="square" anchor="t" lIns="0" rIns="0" tIns="0" bIns="0">
            <a:spAutoFit/>
          </a:bodyPr>
          <a:lstStyle/>
          <a:p>
            <a:pPr algn="l">
              <a:lnSpc>
                <a:spcPct val="110000"/>
              </a:lnSpc>
              <a:spcBef>
                <a:spcPts val="0"/>
              </a:spcBef>
            </a:pPr>
            <a:r>
              <a:rPr sz="950" b="0">
                <a:solidFill>
                  <a:srgbClr val="5A6672"/>
                </a:solidFill>
                <a:latin typeface="Segoe UI"/>
              </a:rPr>
              <a:t>Eastern Cape, on four independent signals: the only region to peak before July; 9.8% below its own peak while all others are AT peak; the flattest trend slope (+2.0% vs +4.4%–8.5%); and a 12.2% June fall against +1.4%–3.8% elsewhere. Three of the five Critical/Watch merchants sit there.</a:t>
            </a:r>
          </a:p>
        </p:txBody>
      </p:sp>
      <p:sp>
        <p:nvSpPr>
          <p:cNvPr id="23" name="TextBox 22"/>
          <p:cNvSpPr txBox="1"/>
          <p:nvPr/>
        </p:nvSpPr>
        <p:spPr>
          <a:xfrm>
            <a:off x="1371600" y="4361688"/>
            <a:ext cx="10149840" cy="164592"/>
          </a:xfrm>
          <a:prstGeom prst="rect">
            <a:avLst/>
          </a:prstGeom>
          <a:noFill/>
        </p:spPr>
        <p:txBody>
          <a:bodyPr wrap="square" anchor="t" lIns="0" rIns="0" tIns="0" bIns="0">
            <a:spAutoFit/>
          </a:bodyPr>
          <a:lstStyle/>
          <a:p>
            <a:pPr algn="l">
              <a:lnSpc>
                <a:spcPct val="100000"/>
              </a:lnSpc>
              <a:spcBef>
                <a:spcPts val="0"/>
              </a:spcBef>
            </a:pPr>
            <a:r>
              <a:rPr sz="850" b="1">
                <a:solidFill>
                  <a:srgbClr val="E8A317"/>
                </a:solidFill>
                <a:latin typeface="Segoe UI"/>
              </a:rPr>
              <a:t>Power BI: Geographic Intelligence  ·  province map and trend</a:t>
            </a:r>
          </a:p>
        </p:txBody>
      </p:sp>
      <p:sp>
        <p:nvSpPr>
          <p:cNvPr id="24" name="Rounded Rectangle 23"/>
          <p:cNvSpPr/>
          <p:nvPr/>
        </p:nvSpPr>
        <p:spPr>
          <a:xfrm>
            <a:off x="502920" y="4608576"/>
            <a:ext cx="11201400" cy="1060704"/>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080" y="4736592"/>
            <a:ext cx="566928" cy="45720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818888"/>
            <a:ext cx="566928" cy="274320"/>
          </a:xfrm>
          <a:prstGeom prst="rect">
            <a:avLst/>
          </a:prstGeom>
          <a:noFill/>
        </p:spPr>
        <p:txBody>
          <a:bodyPr wrap="square" anchor="t" lIns="0" rIns="0" tIns="0" bIns="0">
            <a:spAutoFit/>
          </a:bodyPr>
          <a:lstStyle/>
          <a:p>
            <a:pPr algn="ctr">
              <a:lnSpc>
                <a:spcPct val="100000"/>
              </a:lnSpc>
              <a:spcBef>
                <a:spcPts val="0"/>
              </a:spcBef>
            </a:pPr>
            <a:r>
              <a:rPr sz="1400" b="1">
                <a:solidFill>
                  <a:srgbClr val="FFFFFF"/>
                </a:solidFill>
                <a:latin typeface="Segoe UI"/>
              </a:rPr>
              <a:t>Q4</a:t>
            </a:r>
          </a:p>
        </p:txBody>
      </p:sp>
      <p:sp>
        <p:nvSpPr>
          <p:cNvPr id="27" name="TextBox 26"/>
          <p:cNvSpPr txBox="1"/>
          <p:nvPr/>
        </p:nvSpPr>
        <p:spPr>
          <a:xfrm>
            <a:off x="1371600" y="4709160"/>
            <a:ext cx="10149840" cy="256032"/>
          </a:xfrm>
          <a:prstGeom prst="rect">
            <a:avLst/>
          </a:prstGeom>
          <a:noFill/>
        </p:spPr>
        <p:txBody>
          <a:bodyPr wrap="square" anchor="t" lIns="0" rIns="0" tIns="0" bIns="0">
            <a:spAutoFit/>
          </a:bodyPr>
          <a:lstStyle/>
          <a:p>
            <a:pPr algn="l">
              <a:lnSpc>
                <a:spcPct val="100000"/>
              </a:lnSpc>
              <a:spcBef>
                <a:spcPts val="0"/>
              </a:spcBef>
            </a:pPr>
            <a:r>
              <a:rPr sz="1200" b="1">
                <a:solidFill>
                  <a:srgbClr val="12305B"/>
                </a:solidFill>
                <a:latin typeface="Segoe UI"/>
              </a:rPr>
              <a:t>Are ticket volumes, priority or resolution times associated with weaker performance?</a:t>
            </a:r>
          </a:p>
        </p:txBody>
      </p:sp>
      <p:sp>
        <p:nvSpPr>
          <p:cNvPr id="28" name="TextBox 27"/>
          <p:cNvSpPr txBox="1"/>
          <p:nvPr/>
        </p:nvSpPr>
        <p:spPr>
          <a:xfrm>
            <a:off x="1371600" y="4974336"/>
            <a:ext cx="10149840" cy="512064"/>
          </a:xfrm>
          <a:prstGeom prst="rect">
            <a:avLst/>
          </a:prstGeom>
          <a:noFill/>
        </p:spPr>
        <p:txBody>
          <a:bodyPr wrap="square" anchor="t" lIns="0" rIns="0" tIns="0" bIns="0">
            <a:spAutoFit/>
          </a:bodyPr>
          <a:lstStyle/>
          <a:p>
            <a:pPr algn="l">
              <a:lnSpc>
                <a:spcPct val="110000"/>
              </a:lnSpc>
              <a:spcBef>
                <a:spcPts val="0"/>
              </a:spcBef>
            </a:pPr>
            <a:r>
              <a:rPr sz="950" b="0">
                <a:solidFill>
                  <a:srgbClr val="5A6672"/>
                </a:solidFill>
                <a:latin typeface="Segoe UI"/>
              </a:rPr>
              <a:t>Not at portfolio level — the apparent r = −0.56 is confounded by merchant size and collapses to −0.20 once controlled. The real signal is event-level, and is covered on the following slide.</a:t>
            </a:r>
          </a:p>
        </p:txBody>
      </p:sp>
      <p:sp>
        <p:nvSpPr>
          <p:cNvPr id="29" name="TextBox 28"/>
          <p:cNvSpPr txBox="1"/>
          <p:nvPr/>
        </p:nvSpPr>
        <p:spPr>
          <a:xfrm>
            <a:off x="1371600" y="5486400"/>
            <a:ext cx="10149840" cy="164592"/>
          </a:xfrm>
          <a:prstGeom prst="rect">
            <a:avLst/>
          </a:prstGeom>
          <a:noFill/>
        </p:spPr>
        <p:txBody>
          <a:bodyPr wrap="square" anchor="t" lIns="0" rIns="0" tIns="0" bIns="0">
            <a:spAutoFit/>
          </a:bodyPr>
          <a:lstStyle/>
          <a:p>
            <a:pPr algn="l">
              <a:lnSpc>
                <a:spcPct val="100000"/>
              </a:lnSpc>
              <a:spcBef>
                <a:spcPts val="0"/>
              </a:spcBef>
            </a:pPr>
            <a:r>
              <a:rPr sz="850" b="1">
                <a:solidFill>
                  <a:srgbClr val="C0392B"/>
                </a:solidFill>
                <a:latin typeface="Segoe UI"/>
              </a:rPr>
              <a:t>Power BI: Operational View  ·  and Business Answers for the confounding</a:t>
            </a:r>
          </a:p>
        </p:txBody>
      </p:sp>
      <p:sp>
        <p:nvSpPr>
          <p:cNvPr id="30" name="Rounded Rectangle 29"/>
          <p:cNvSpPr/>
          <p:nvPr/>
        </p:nvSpPr>
        <p:spPr>
          <a:xfrm>
            <a:off x="502920" y="5733288"/>
            <a:ext cx="11201400" cy="1060704"/>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0080" y="5861303"/>
            <a:ext cx="566928" cy="457200"/>
          </a:xfrm>
          <a:prstGeom prst="roundRect">
            <a:avLst/>
          </a:prstGeom>
          <a:solidFill>
            <a:srgbClr val="7B4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943600"/>
            <a:ext cx="566928" cy="274320"/>
          </a:xfrm>
          <a:prstGeom prst="rect">
            <a:avLst/>
          </a:prstGeom>
          <a:noFill/>
        </p:spPr>
        <p:txBody>
          <a:bodyPr wrap="square" anchor="t" lIns="0" rIns="0" tIns="0" bIns="0">
            <a:spAutoFit/>
          </a:bodyPr>
          <a:lstStyle/>
          <a:p>
            <a:pPr algn="ctr">
              <a:lnSpc>
                <a:spcPct val="100000"/>
              </a:lnSpc>
              <a:spcBef>
                <a:spcPts val="0"/>
              </a:spcBef>
            </a:pPr>
            <a:r>
              <a:rPr sz="1400" b="1">
                <a:solidFill>
                  <a:srgbClr val="FFFFFF"/>
                </a:solidFill>
                <a:latin typeface="Segoe UI"/>
              </a:rPr>
              <a:t>Q5</a:t>
            </a:r>
          </a:p>
        </p:txBody>
      </p:sp>
      <p:sp>
        <p:nvSpPr>
          <p:cNvPr id="33" name="TextBox 32"/>
          <p:cNvSpPr txBox="1"/>
          <p:nvPr/>
        </p:nvSpPr>
        <p:spPr>
          <a:xfrm>
            <a:off x="1371600" y="5833872"/>
            <a:ext cx="10149840" cy="256032"/>
          </a:xfrm>
          <a:prstGeom prst="rect">
            <a:avLst/>
          </a:prstGeom>
          <a:noFill/>
        </p:spPr>
        <p:txBody>
          <a:bodyPr wrap="square" anchor="t" lIns="0" rIns="0" tIns="0" bIns="0">
            <a:spAutoFit/>
          </a:bodyPr>
          <a:lstStyle/>
          <a:p>
            <a:pPr algn="l">
              <a:lnSpc>
                <a:spcPct val="100000"/>
              </a:lnSpc>
              <a:spcBef>
                <a:spcPts val="0"/>
              </a:spcBef>
            </a:pPr>
            <a:r>
              <a:rPr sz="1200" b="1">
                <a:solidFill>
                  <a:srgbClr val="12305B"/>
                </a:solidFill>
                <a:latin typeface="Segoe UI"/>
              </a:rPr>
              <a:t>Which merchants should management focus on first, and why?</a:t>
            </a:r>
          </a:p>
        </p:txBody>
      </p:sp>
      <p:sp>
        <p:nvSpPr>
          <p:cNvPr id="34" name="TextBox 33"/>
          <p:cNvSpPr txBox="1"/>
          <p:nvPr/>
        </p:nvSpPr>
        <p:spPr>
          <a:xfrm>
            <a:off x="1371600" y="6099048"/>
            <a:ext cx="10149840" cy="512064"/>
          </a:xfrm>
          <a:prstGeom prst="rect">
            <a:avLst/>
          </a:prstGeom>
          <a:noFill/>
        </p:spPr>
        <p:txBody>
          <a:bodyPr wrap="square" anchor="t" lIns="0" rIns="0" tIns="0" bIns="0">
            <a:spAutoFit/>
          </a:bodyPr>
          <a:lstStyle/>
          <a:p>
            <a:pPr algn="l">
              <a:lnSpc>
                <a:spcPct val="110000"/>
              </a:lnSpc>
              <a:spcBef>
                <a:spcPts val="0"/>
              </a:spcBef>
            </a:pPr>
            <a:r>
              <a:rPr sz="950" b="0">
                <a:solidFill>
                  <a:srgbClr val="5A6672"/>
                </a:solidFill>
                <a:latin typeface="Segoe UI"/>
              </a:rPr>
              <a:t>Ranked by revenue at risk, not severity: 1. Umhlanga Value Mart (R571,518), 2. Table Bay Express (R354,163), 3. Pretoria PayPoint (R154,045). A 42.5% collapse at a small merchant costs less than a 6% slide at a large one — ranking on percentage change alone directs the account team to the wrong merchant.</a:t>
            </a:r>
          </a:p>
        </p:txBody>
      </p:sp>
      <p:sp>
        <p:nvSpPr>
          <p:cNvPr id="35" name="TextBox 34"/>
          <p:cNvSpPr txBox="1"/>
          <p:nvPr/>
        </p:nvSpPr>
        <p:spPr>
          <a:xfrm>
            <a:off x="1371600" y="6611112"/>
            <a:ext cx="10149840" cy="164592"/>
          </a:xfrm>
          <a:prstGeom prst="rect">
            <a:avLst/>
          </a:prstGeom>
          <a:noFill/>
        </p:spPr>
        <p:txBody>
          <a:bodyPr wrap="square" anchor="t" lIns="0" rIns="0" tIns="0" bIns="0">
            <a:spAutoFit/>
          </a:bodyPr>
          <a:lstStyle/>
          <a:p>
            <a:pPr algn="l">
              <a:lnSpc>
                <a:spcPct val="100000"/>
              </a:lnSpc>
              <a:spcBef>
                <a:spcPts val="0"/>
              </a:spcBef>
            </a:pPr>
            <a:r>
              <a:rPr sz="850" b="1">
                <a:solidFill>
                  <a:srgbClr val="7B4B94"/>
                </a:solidFill>
                <a:latin typeface="Segoe UI"/>
              </a:rPr>
              <a:t>Power BI: Merchant Value &amp; Risk  ·  ranked by revenue at risk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Analytical rigour — a confounded correlation</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Q4 — are ticket volumes associated with weaker merchant performance?</a:t>
            </a:r>
          </a:p>
        </p:txBody>
      </p:sp>
      <p:sp>
        <p:nvSpPr>
          <p:cNvPr id="6" name="Rounded Rectangle 5"/>
          <p:cNvSpPr/>
          <p:nvPr/>
        </p:nvSpPr>
        <p:spPr>
          <a:xfrm>
            <a:off x="502920" y="1280160"/>
            <a:ext cx="5486400" cy="2606040"/>
          </a:xfrm>
          <a:prstGeom prst="roundRect">
            <a:avLst>
              <a:gd name="adj" fmla="val 6000"/>
            </a:avLst>
          </a:prstGeom>
          <a:solidFill>
            <a:srgbClr val="FDF0EE"/>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44752"/>
            <a:ext cx="4937760" cy="2286000"/>
          </a:xfrm>
          <a:prstGeom prst="rect">
            <a:avLst/>
          </a:prstGeom>
          <a:noFill/>
        </p:spPr>
        <p:txBody>
          <a:bodyPr wrap="square" anchor="t" lIns="0" rIns="0" tIns="0" bIns="0">
            <a:spAutoFit/>
          </a:bodyPr>
          <a:lstStyle/>
          <a:p>
            <a:pPr algn="l">
              <a:lnSpc>
                <a:spcPct val="112000"/>
              </a:lnSpc>
              <a:spcBef>
                <a:spcPts val="0"/>
              </a:spcBef>
            </a:pPr>
            <a:r>
              <a:rPr sz="1400" b="1">
                <a:solidFill>
                  <a:srgbClr val="C0392B"/>
                </a:solidFill>
                <a:latin typeface="Segoe UI"/>
              </a:rPr>
              <a:t>The surface reading</a:t>
            </a:r>
          </a:p>
          <a:p>
            <a:pPr algn="l">
              <a:lnSpc>
                <a:spcPct val="112000"/>
              </a:lnSpc>
              <a:spcBef>
                <a:spcPts val="500"/>
              </a:spcBef>
            </a:pPr>
            <a:r>
              <a:rPr sz="1150" b="0">
                <a:solidFill>
                  <a:srgbClr val="12203A"/>
                </a:solidFill>
                <a:latin typeface="Segoe UI"/>
              </a:rPr>
              <a:t>Tickets per 1,000 transactions correlates with target attainment at</a:t>
            </a:r>
          </a:p>
          <a:p>
            <a:pPr algn="l">
              <a:lnSpc>
                <a:spcPct val="112000"/>
              </a:lnSpc>
              <a:spcBef>
                <a:spcPts val="300"/>
              </a:spcBef>
            </a:pPr>
            <a:r>
              <a:rPr sz="3000" b="1">
                <a:solidFill>
                  <a:srgbClr val="C0392B"/>
                </a:solidFill>
                <a:latin typeface="Segoe UI"/>
              </a:rPr>
              <a:t>r = −0.56</a:t>
            </a:r>
          </a:p>
          <a:p>
            <a:pPr algn="l">
              <a:lnSpc>
                <a:spcPct val="112000"/>
              </a:lnSpc>
              <a:spcBef>
                <a:spcPts val="400"/>
              </a:spcBef>
            </a:pPr>
            <a:r>
              <a:rPr sz="950" b="0">
                <a:solidFill>
                  <a:srgbClr val="C0392B"/>
                </a:solidFill>
                <a:latin typeface="Segoe UI"/>
              </a:rPr>
              <a:t>r = Pearson correlation coefficient. Runs −1 to +1. 0 means no linear relationship; the SIGN is the direction, the SIZE is the strength. −0.56 is a moderate inverse relationship: as one goes up, the other tends to go down.</a:t>
            </a:r>
          </a:p>
          <a:p>
            <a:pPr algn="l">
              <a:lnSpc>
                <a:spcPct val="112000"/>
              </a:lnSpc>
              <a:spcBef>
                <a:spcPts val="400"/>
              </a:spcBef>
            </a:pPr>
            <a:r>
              <a:rPr sz="1100" b="0">
                <a:solidFill>
                  <a:srgbClr val="5A6672"/>
                </a:solidFill>
                <a:latin typeface="Segoe UI"/>
              </a:rPr>
              <a:t>"Operational friction hurts merchant performance." Clean, quotable — and not supported once tested.</a:t>
            </a:r>
          </a:p>
        </p:txBody>
      </p:sp>
      <p:sp>
        <p:nvSpPr>
          <p:cNvPr id="8" name="Rounded Rectangle 7"/>
          <p:cNvSpPr/>
          <p:nvPr/>
        </p:nvSpPr>
        <p:spPr>
          <a:xfrm>
            <a:off x="6217920" y="1280160"/>
            <a:ext cx="5486400" cy="2286000"/>
          </a:xfrm>
          <a:prstGeom prst="roundRect">
            <a:avLst>
              <a:gd name="adj" fmla="val 6000"/>
            </a:avLst>
          </a:prstGeom>
          <a:solidFill>
            <a:srgbClr val="F0F9F9"/>
          </a:solidFill>
          <a:ln w="9525">
            <a:solidFill>
              <a:srgbClr val="0E8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481328"/>
            <a:ext cx="4937760" cy="1920240"/>
          </a:xfrm>
          <a:prstGeom prst="rect">
            <a:avLst/>
          </a:prstGeom>
          <a:noFill/>
        </p:spPr>
        <p:txBody>
          <a:bodyPr wrap="square" anchor="t" lIns="0" rIns="0" tIns="0" bIns="0">
            <a:spAutoFit/>
          </a:bodyPr>
          <a:lstStyle/>
          <a:p>
            <a:pPr algn="l">
              <a:lnSpc>
                <a:spcPct val="115000"/>
              </a:lnSpc>
              <a:spcBef>
                <a:spcPts val="0"/>
              </a:spcBef>
            </a:pPr>
            <a:r>
              <a:rPr sz="1400" b="1">
                <a:solidFill>
                  <a:srgbClr val="0E8B8B"/>
                </a:solidFill>
                <a:latin typeface="Segoe UI"/>
              </a:rPr>
              <a:t>Why it is confounded</a:t>
            </a:r>
          </a:p>
          <a:p>
            <a:pPr algn="l">
              <a:lnSpc>
                <a:spcPct val="115000"/>
              </a:lnSpc>
              <a:spcBef>
                <a:spcPts val="600"/>
              </a:spcBef>
            </a:pPr>
            <a:r>
              <a:rPr sz="1200" b="0">
                <a:solidFill>
                  <a:srgbClr val="12203A"/>
                </a:solidFill>
                <a:latin typeface="Segoe UI"/>
              </a:rPr>
              <a:t>That ratio is a size measure in disguise — it correlates with log(total sales) at r = −0.83. Small merchants score badly because the denominator is small.</a:t>
            </a:r>
          </a:p>
          <a:p>
            <a:pPr algn="l">
              <a:lnSpc>
                <a:spcPct val="115000"/>
              </a:lnSpc>
              <a:spcBef>
                <a:spcPts val="600"/>
              </a:spcBef>
            </a:pPr>
            <a:r>
              <a:rPr sz="1400" b="1">
                <a:solidFill>
                  <a:srgbClr val="0E8B8B"/>
                </a:solidFill>
                <a:latin typeface="Segoe UI"/>
              </a:rPr>
              <a:t>Partial correlation, controlling for size:  r = −0.20</a:t>
            </a:r>
          </a:p>
          <a:p>
            <a:pPr algn="l">
              <a:lnSpc>
                <a:spcPct val="115000"/>
              </a:lnSpc>
              <a:spcBef>
                <a:spcPts val="400"/>
              </a:spcBef>
            </a:pPr>
            <a:r>
              <a:rPr sz="1150" b="0">
                <a:solidFill>
                  <a:srgbClr val="5A6672"/>
                </a:solidFill>
                <a:latin typeface="Segoe UI"/>
              </a:rPr>
              <a:t>SLA breach rate and resolution time show no association at all.</a:t>
            </a:r>
          </a:p>
        </p:txBody>
      </p:sp>
      <p:sp>
        <p:nvSpPr>
          <p:cNvPr id="10" name="Rounded Rectangle 9"/>
          <p:cNvSpPr/>
          <p:nvPr/>
        </p:nvSpPr>
        <p:spPr>
          <a:xfrm>
            <a:off x="502920" y="3749039"/>
            <a:ext cx="11201400" cy="2651760"/>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977639"/>
            <a:ext cx="10515600" cy="2194560"/>
          </a:xfrm>
          <a:prstGeom prst="rect">
            <a:avLst/>
          </a:prstGeom>
          <a:noFill/>
        </p:spPr>
        <p:txBody>
          <a:bodyPr wrap="square" anchor="t" lIns="0" rIns="0" tIns="0" bIns="0">
            <a:spAutoFit/>
          </a:bodyPr>
          <a:lstStyle/>
          <a:p>
            <a:pPr algn="l">
              <a:lnSpc>
                <a:spcPct val="120000"/>
              </a:lnSpc>
              <a:spcBef>
                <a:spcPts val="0"/>
              </a:spcBef>
            </a:pPr>
            <a:r>
              <a:rPr sz="1500" b="1">
                <a:solidFill>
                  <a:srgbClr val="12305B"/>
                </a:solidFill>
                <a:latin typeface="Segoe UI"/>
              </a:rPr>
              <a:t>Where the real signal is: event-level, not portfolio-level</a:t>
            </a:r>
          </a:p>
          <a:p>
            <a:pPr algn="l">
              <a:lnSpc>
                <a:spcPct val="120000"/>
              </a:lnSpc>
              <a:spcBef>
                <a:spcPts val="800"/>
              </a:spcBef>
            </a:pPr>
            <a:r>
              <a:rPr sz="1250" b="0">
                <a:solidFill>
                  <a:srgbClr val="12203A"/>
                </a:solidFill>
                <a:latin typeface="Segoe UI"/>
              </a:rPr>
              <a:t>Durban Cash Hub — tickets +780% in June, and sales GREW 8.2%.  A service problem at a healthy account.</a:t>
            </a:r>
          </a:p>
          <a:p>
            <a:pPr algn="l">
              <a:lnSpc>
                <a:spcPct val="120000"/>
              </a:lnSpc>
              <a:spcBef>
                <a:spcPts val="400"/>
              </a:spcBef>
            </a:pPr>
            <a:r>
              <a:rPr sz="1250" b="0">
                <a:solidFill>
                  <a:srgbClr val="12203A"/>
                </a:solidFill>
                <a:latin typeface="Segoe UI"/>
              </a:rPr>
              <a:t>Umhlanga Value Mart — tickets +693% in July, and sales FELL 42.5%.  A failing account.</a:t>
            </a:r>
          </a:p>
          <a:p>
            <a:pPr algn="l">
              <a:lnSpc>
                <a:spcPct val="120000"/>
              </a:lnSpc>
              <a:spcBef>
                <a:spcPts val="800"/>
              </a:spcBef>
            </a:pPr>
            <a:r>
              <a:rPr sz="1200" b="0">
                <a:solidFill>
                  <a:srgbClr val="5A6672"/>
                </a:solidFill>
                <a:latin typeface="Segoe UI"/>
              </a:rPr>
              <a:t>Identical operational signal, opposite commercial diagnosis. Ticket spikes are worth investigating immediately, but they do not predict revenue on their own — which is why the alerting logic pairs ticket movement with sales movement rather than firing on either alone.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Machine learning</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Time-based validation throughout — never a random split</a:t>
            </a:r>
          </a:p>
        </p:txBody>
      </p:sp>
      <p:sp>
        <p:nvSpPr>
          <p:cNvPr id="6" name="Rounded Rectangle 5"/>
          <p:cNvSpPr/>
          <p:nvPr/>
        </p:nvSpPr>
        <p:spPr>
          <a:xfrm>
            <a:off x="502920" y="1280160"/>
            <a:ext cx="11201400" cy="841248"/>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80160"/>
            <a:ext cx="82296" cy="841248"/>
          </a:xfrm>
          <a:prstGeom prst="rect">
            <a:avLst/>
          </a:prstGeom>
          <a:solidFill>
            <a:srgbClr val="0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408176"/>
            <a:ext cx="2377440" cy="274320"/>
          </a:xfrm>
          <a:prstGeom prst="rect">
            <a:avLst/>
          </a:prstGeom>
          <a:noFill/>
        </p:spPr>
        <p:txBody>
          <a:bodyPr wrap="square" anchor="t" lIns="0" rIns="0" tIns="0" bIns="0">
            <a:spAutoFit/>
          </a:bodyPr>
          <a:lstStyle/>
          <a:p>
            <a:pPr algn="l">
              <a:lnSpc>
                <a:spcPct val="100000"/>
              </a:lnSpc>
              <a:spcBef>
                <a:spcPts val="0"/>
              </a:spcBef>
            </a:pPr>
            <a:r>
              <a:rPr sz="1300" b="1">
                <a:solidFill>
                  <a:srgbClr val="12305B"/>
                </a:solidFill>
                <a:latin typeface="Segoe UI"/>
              </a:rPr>
              <a:t>Anomaly detection</a:t>
            </a:r>
          </a:p>
        </p:txBody>
      </p:sp>
      <p:sp>
        <p:nvSpPr>
          <p:cNvPr id="9" name="TextBox 8"/>
          <p:cNvSpPr txBox="1"/>
          <p:nvPr/>
        </p:nvSpPr>
        <p:spPr>
          <a:xfrm>
            <a:off x="777240" y="1719072"/>
            <a:ext cx="2377440" cy="274320"/>
          </a:xfrm>
          <a:prstGeom prst="rect">
            <a:avLst/>
          </a:prstGeom>
          <a:noFill/>
        </p:spPr>
        <p:txBody>
          <a:bodyPr wrap="square" anchor="t" lIns="0" rIns="0" tIns="0" bIns="0">
            <a:spAutoFit/>
          </a:bodyPr>
          <a:lstStyle/>
          <a:p>
            <a:pPr algn="l">
              <a:lnSpc>
                <a:spcPct val="100000"/>
              </a:lnSpc>
              <a:spcBef>
                <a:spcPts val="0"/>
              </a:spcBef>
            </a:pPr>
            <a:r>
              <a:rPr sz="1000" b="0">
                <a:solidFill>
                  <a:srgbClr val="5A6672"/>
                </a:solidFill>
                <a:latin typeface="Segoe UI"/>
              </a:rPr>
              <a:t>Isolation Forest</a:t>
            </a:r>
          </a:p>
        </p:txBody>
      </p:sp>
      <p:sp>
        <p:nvSpPr>
          <p:cNvPr id="10" name="TextBox 9"/>
          <p:cNvSpPr txBox="1"/>
          <p:nvPr/>
        </p:nvSpPr>
        <p:spPr>
          <a:xfrm>
            <a:off x="3291840" y="1517904"/>
            <a:ext cx="2103120" cy="365760"/>
          </a:xfrm>
          <a:prstGeom prst="rect">
            <a:avLst/>
          </a:prstGeom>
          <a:noFill/>
        </p:spPr>
        <p:txBody>
          <a:bodyPr wrap="square" anchor="t" lIns="0" rIns="0" tIns="0" bIns="0">
            <a:spAutoFit/>
          </a:bodyPr>
          <a:lstStyle/>
          <a:p>
            <a:pPr algn="l">
              <a:lnSpc>
                <a:spcPct val="100000"/>
              </a:lnSpc>
              <a:spcBef>
                <a:spcPts val="0"/>
              </a:spcBef>
            </a:pPr>
            <a:r>
              <a:rPr sz="1500" b="1">
                <a:solidFill>
                  <a:srgbClr val="0E8B8B"/>
                </a:solidFill>
                <a:latin typeface="Segoe UI"/>
              </a:rPr>
              <a:t>8 flagged from 150</a:t>
            </a:r>
          </a:p>
        </p:txBody>
      </p:sp>
      <p:sp>
        <p:nvSpPr>
          <p:cNvPr id="11" name="TextBox 10"/>
          <p:cNvSpPr txBox="1"/>
          <p:nvPr/>
        </p:nvSpPr>
        <p:spPr>
          <a:xfrm>
            <a:off x="5577840" y="1536192"/>
            <a:ext cx="5852160" cy="457200"/>
          </a:xfrm>
          <a:prstGeom prst="rect">
            <a:avLst/>
          </a:prstGeom>
          <a:noFill/>
        </p:spPr>
        <p:txBody>
          <a:bodyPr wrap="square" anchor="t" lIns="0" rIns="0" tIns="0" bIns="0">
            <a:spAutoFit/>
          </a:bodyPr>
          <a:lstStyle/>
          <a:p>
            <a:pPr algn="l">
              <a:lnSpc>
                <a:spcPct val="100000"/>
              </a:lnSpc>
              <a:spcBef>
                <a:spcPts val="0"/>
              </a:spcBef>
            </a:pPr>
            <a:r>
              <a:rPr sz="1150" b="0">
                <a:solidFill>
                  <a:srgbClr val="5A6672"/>
                </a:solidFill>
                <a:latin typeface="Segoe UI"/>
              </a:rPr>
              <a:t>All 4 documented embedded patterns recovered unprompted</a:t>
            </a:r>
          </a:p>
        </p:txBody>
      </p:sp>
      <p:sp>
        <p:nvSpPr>
          <p:cNvPr id="12" name="Rounded Rectangle 11"/>
          <p:cNvSpPr/>
          <p:nvPr/>
        </p:nvSpPr>
        <p:spPr>
          <a:xfrm>
            <a:off x="502920" y="2221991"/>
            <a:ext cx="11201400" cy="841248"/>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221991"/>
            <a:ext cx="82296" cy="84124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350008"/>
            <a:ext cx="2377440" cy="274320"/>
          </a:xfrm>
          <a:prstGeom prst="rect">
            <a:avLst/>
          </a:prstGeom>
          <a:noFill/>
        </p:spPr>
        <p:txBody>
          <a:bodyPr wrap="square" anchor="t" lIns="0" rIns="0" tIns="0" bIns="0">
            <a:spAutoFit/>
          </a:bodyPr>
          <a:lstStyle/>
          <a:p>
            <a:pPr algn="l">
              <a:lnSpc>
                <a:spcPct val="100000"/>
              </a:lnSpc>
              <a:spcBef>
                <a:spcPts val="0"/>
              </a:spcBef>
            </a:pPr>
            <a:r>
              <a:rPr sz="1300" b="1">
                <a:solidFill>
                  <a:srgbClr val="12305B"/>
                </a:solidFill>
                <a:latin typeface="Segoe UI"/>
              </a:rPr>
              <a:t>Redemption propensity</a:t>
            </a:r>
          </a:p>
        </p:txBody>
      </p:sp>
      <p:sp>
        <p:nvSpPr>
          <p:cNvPr id="15" name="TextBox 14"/>
          <p:cNvSpPr txBox="1"/>
          <p:nvPr/>
        </p:nvSpPr>
        <p:spPr>
          <a:xfrm>
            <a:off x="777240" y="2660903"/>
            <a:ext cx="2377440" cy="274320"/>
          </a:xfrm>
          <a:prstGeom prst="rect">
            <a:avLst/>
          </a:prstGeom>
          <a:noFill/>
        </p:spPr>
        <p:txBody>
          <a:bodyPr wrap="square" anchor="t" lIns="0" rIns="0" tIns="0" bIns="0">
            <a:spAutoFit/>
          </a:bodyPr>
          <a:lstStyle/>
          <a:p>
            <a:pPr algn="l">
              <a:lnSpc>
                <a:spcPct val="100000"/>
              </a:lnSpc>
              <a:spcBef>
                <a:spcPts val="0"/>
              </a:spcBef>
            </a:pPr>
            <a:r>
              <a:rPr sz="1000" b="0">
                <a:solidFill>
                  <a:srgbClr val="5A6672"/>
                </a:solidFill>
                <a:latin typeface="Segoe UI"/>
              </a:rPr>
              <a:t>HistGradientBoosting</a:t>
            </a:r>
          </a:p>
        </p:txBody>
      </p:sp>
      <p:sp>
        <p:nvSpPr>
          <p:cNvPr id="16" name="TextBox 15"/>
          <p:cNvSpPr txBox="1"/>
          <p:nvPr/>
        </p:nvSpPr>
        <p:spPr>
          <a:xfrm>
            <a:off x="3291840" y="2459735"/>
            <a:ext cx="2103120" cy="365760"/>
          </a:xfrm>
          <a:prstGeom prst="rect">
            <a:avLst/>
          </a:prstGeom>
          <a:noFill/>
        </p:spPr>
        <p:txBody>
          <a:bodyPr wrap="square" anchor="t" lIns="0" rIns="0" tIns="0" bIns="0">
            <a:spAutoFit/>
          </a:bodyPr>
          <a:lstStyle/>
          <a:p>
            <a:pPr algn="l">
              <a:lnSpc>
                <a:spcPct val="100000"/>
              </a:lnSpc>
              <a:spcBef>
                <a:spcPts val="0"/>
              </a:spcBef>
            </a:pPr>
            <a:r>
              <a:rPr sz="1500" b="1">
                <a:solidFill>
                  <a:srgbClr val="E8A317"/>
                </a:solidFill>
                <a:latin typeface="Segoe UI"/>
              </a:rPr>
              <a:t>AUC 0.620</a:t>
            </a:r>
          </a:p>
        </p:txBody>
      </p:sp>
      <p:sp>
        <p:nvSpPr>
          <p:cNvPr id="17" name="TextBox 16"/>
          <p:cNvSpPr txBox="1"/>
          <p:nvPr/>
        </p:nvSpPr>
        <p:spPr>
          <a:xfrm>
            <a:off x="5577840" y="2478024"/>
            <a:ext cx="5852160" cy="457200"/>
          </a:xfrm>
          <a:prstGeom prst="rect">
            <a:avLst/>
          </a:prstGeom>
          <a:noFill/>
        </p:spPr>
        <p:txBody>
          <a:bodyPr wrap="square" anchor="t" lIns="0" rIns="0" tIns="0" bIns="0">
            <a:spAutoFit/>
          </a:bodyPr>
          <a:lstStyle/>
          <a:p>
            <a:pPr algn="l">
              <a:lnSpc>
                <a:spcPct val="100000"/>
              </a:lnSpc>
              <a:spcBef>
                <a:spcPts val="0"/>
              </a:spcBef>
            </a:pPr>
            <a:r>
              <a:rPr sz="1150" b="0">
                <a:solidFill>
                  <a:srgbClr val="5A6672"/>
                </a:solidFill>
                <a:latin typeface="Segoe UI"/>
              </a:rPr>
              <a:t>vs a theoretical ceiling of 0.621</a:t>
            </a:r>
          </a:p>
        </p:txBody>
      </p:sp>
      <p:sp>
        <p:nvSpPr>
          <p:cNvPr id="18" name="Rounded Rectangle 17"/>
          <p:cNvSpPr/>
          <p:nvPr/>
        </p:nvSpPr>
        <p:spPr>
          <a:xfrm>
            <a:off x="502920" y="3163824"/>
            <a:ext cx="11201400" cy="841248"/>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163824"/>
            <a:ext cx="82296" cy="841248"/>
          </a:xfrm>
          <a:prstGeom prst="rect">
            <a:avLst/>
          </a:prstGeom>
          <a:solidFill>
            <a:srgbClr val="1B40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91840"/>
            <a:ext cx="2377440" cy="274320"/>
          </a:xfrm>
          <a:prstGeom prst="rect">
            <a:avLst/>
          </a:prstGeom>
          <a:noFill/>
        </p:spPr>
        <p:txBody>
          <a:bodyPr wrap="square" anchor="t" lIns="0" rIns="0" tIns="0" bIns="0">
            <a:spAutoFit/>
          </a:bodyPr>
          <a:lstStyle/>
          <a:p>
            <a:pPr algn="l">
              <a:lnSpc>
                <a:spcPct val="100000"/>
              </a:lnSpc>
              <a:spcBef>
                <a:spcPts val="0"/>
              </a:spcBef>
            </a:pPr>
            <a:r>
              <a:rPr sz="1300" b="1">
                <a:solidFill>
                  <a:srgbClr val="12305B"/>
                </a:solidFill>
                <a:latin typeface="Segoe UI"/>
              </a:rPr>
              <a:t>Resolution time</a:t>
            </a:r>
          </a:p>
        </p:txBody>
      </p:sp>
      <p:sp>
        <p:nvSpPr>
          <p:cNvPr id="21" name="TextBox 20"/>
          <p:cNvSpPr txBox="1"/>
          <p:nvPr/>
        </p:nvSpPr>
        <p:spPr>
          <a:xfrm>
            <a:off x="777240" y="3602736"/>
            <a:ext cx="2377440" cy="274320"/>
          </a:xfrm>
          <a:prstGeom prst="rect">
            <a:avLst/>
          </a:prstGeom>
          <a:noFill/>
        </p:spPr>
        <p:txBody>
          <a:bodyPr wrap="square" anchor="t" lIns="0" rIns="0" tIns="0" bIns="0">
            <a:spAutoFit/>
          </a:bodyPr>
          <a:lstStyle/>
          <a:p>
            <a:pPr algn="l">
              <a:lnSpc>
                <a:spcPct val="100000"/>
              </a:lnSpc>
              <a:spcBef>
                <a:spcPts val="0"/>
              </a:spcBef>
            </a:pPr>
            <a:r>
              <a:rPr sz="1000" b="0">
                <a:solidFill>
                  <a:srgbClr val="5A6672"/>
                </a:solidFill>
                <a:latin typeface="Segoe UI"/>
              </a:rPr>
              <a:t>HistGradientBoosting</a:t>
            </a:r>
          </a:p>
        </p:txBody>
      </p:sp>
      <p:sp>
        <p:nvSpPr>
          <p:cNvPr id="22" name="TextBox 21"/>
          <p:cNvSpPr txBox="1"/>
          <p:nvPr/>
        </p:nvSpPr>
        <p:spPr>
          <a:xfrm>
            <a:off x="3291840" y="3401568"/>
            <a:ext cx="2103120" cy="365760"/>
          </a:xfrm>
          <a:prstGeom prst="rect">
            <a:avLst/>
          </a:prstGeom>
          <a:noFill/>
        </p:spPr>
        <p:txBody>
          <a:bodyPr wrap="square" anchor="t" lIns="0" rIns="0" tIns="0" bIns="0">
            <a:spAutoFit/>
          </a:bodyPr>
          <a:lstStyle/>
          <a:p>
            <a:pPr algn="l">
              <a:lnSpc>
                <a:spcPct val="100000"/>
              </a:lnSpc>
              <a:spcBef>
                <a:spcPts val="0"/>
              </a:spcBef>
            </a:pPr>
            <a:r>
              <a:rPr sz="1500" b="1">
                <a:solidFill>
                  <a:srgbClr val="1B4079"/>
                </a:solidFill>
                <a:latin typeface="Segoe UI"/>
              </a:rPr>
              <a:t>MAE 9.8h</a:t>
            </a:r>
          </a:p>
        </p:txBody>
      </p:sp>
      <p:sp>
        <p:nvSpPr>
          <p:cNvPr id="23" name="TextBox 22"/>
          <p:cNvSpPr txBox="1"/>
          <p:nvPr/>
        </p:nvSpPr>
        <p:spPr>
          <a:xfrm>
            <a:off x="5577840" y="3419856"/>
            <a:ext cx="5852160" cy="457200"/>
          </a:xfrm>
          <a:prstGeom prst="rect">
            <a:avLst/>
          </a:prstGeom>
          <a:noFill/>
        </p:spPr>
        <p:txBody>
          <a:bodyPr wrap="square" anchor="t" lIns="0" rIns="0" tIns="0" bIns="0">
            <a:spAutoFit/>
          </a:bodyPr>
          <a:lstStyle/>
          <a:p>
            <a:pPr algn="l">
              <a:lnSpc>
                <a:spcPct val="100000"/>
              </a:lnSpc>
              <a:spcBef>
                <a:spcPts val="0"/>
              </a:spcBef>
            </a:pPr>
            <a:r>
              <a:rPr sz="1150" b="0">
                <a:solidFill>
                  <a:srgbClr val="5A6672"/>
                </a:solidFill>
                <a:latin typeface="Segoe UI"/>
              </a:rPr>
              <a:t>23.4% better than naive</a:t>
            </a:r>
          </a:p>
        </p:txBody>
      </p:sp>
      <p:sp>
        <p:nvSpPr>
          <p:cNvPr id="24" name="Rounded Rectangle 23"/>
          <p:cNvSpPr/>
          <p:nvPr/>
        </p:nvSpPr>
        <p:spPr>
          <a:xfrm>
            <a:off x="502920" y="4105656"/>
            <a:ext cx="11201400" cy="841248"/>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4105656"/>
            <a:ext cx="82296" cy="841248"/>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233672"/>
            <a:ext cx="2377440" cy="274320"/>
          </a:xfrm>
          <a:prstGeom prst="rect">
            <a:avLst/>
          </a:prstGeom>
          <a:noFill/>
        </p:spPr>
        <p:txBody>
          <a:bodyPr wrap="square" anchor="t" lIns="0" rIns="0" tIns="0" bIns="0">
            <a:spAutoFit/>
          </a:bodyPr>
          <a:lstStyle/>
          <a:p>
            <a:pPr algn="l">
              <a:lnSpc>
                <a:spcPct val="100000"/>
              </a:lnSpc>
              <a:spcBef>
                <a:spcPts val="0"/>
              </a:spcBef>
            </a:pPr>
            <a:r>
              <a:rPr sz="1300" b="1">
                <a:solidFill>
                  <a:srgbClr val="12305B"/>
                </a:solidFill>
                <a:latin typeface="Segoe UI"/>
              </a:rPr>
              <a:t>Sales forecast</a:t>
            </a:r>
          </a:p>
        </p:txBody>
      </p:sp>
      <p:sp>
        <p:nvSpPr>
          <p:cNvPr id="27" name="TextBox 26"/>
          <p:cNvSpPr txBox="1"/>
          <p:nvPr/>
        </p:nvSpPr>
        <p:spPr>
          <a:xfrm>
            <a:off x="777240" y="4544568"/>
            <a:ext cx="2377440" cy="274320"/>
          </a:xfrm>
          <a:prstGeom prst="rect">
            <a:avLst/>
          </a:prstGeom>
          <a:noFill/>
        </p:spPr>
        <p:txBody>
          <a:bodyPr wrap="square" anchor="t" lIns="0" rIns="0" tIns="0" bIns="0">
            <a:spAutoFit/>
          </a:bodyPr>
          <a:lstStyle/>
          <a:p>
            <a:pPr algn="l">
              <a:lnSpc>
                <a:spcPct val="100000"/>
              </a:lnSpc>
              <a:spcBef>
                <a:spcPts val="0"/>
              </a:spcBef>
            </a:pPr>
            <a:r>
              <a:rPr sz="1000" b="0">
                <a:solidFill>
                  <a:srgbClr val="5A6672"/>
                </a:solidFill>
                <a:latin typeface="Segoe UI"/>
              </a:rPr>
              <a:t>Holt-Winters</a:t>
            </a:r>
          </a:p>
        </p:txBody>
      </p:sp>
      <p:sp>
        <p:nvSpPr>
          <p:cNvPr id="28" name="TextBox 27"/>
          <p:cNvSpPr txBox="1"/>
          <p:nvPr/>
        </p:nvSpPr>
        <p:spPr>
          <a:xfrm>
            <a:off x="3291840" y="4343400"/>
            <a:ext cx="2103120" cy="365760"/>
          </a:xfrm>
          <a:prstGeom prst="rect">
            <a:avLst/>
          </a:prstGeom>
          <a:noFill/>
        </p:spPr>
        <p:txBody>
          <a:bodyPr wrap="square" anchor="t" lIns="0" rIns="0" tIns="0" bIns="0">
            <a:spAutoFit/>
          </a:bodyPr>
          <a:lstStyle/>
          <a:p>
            <a:pPr algn="l">
              <a:lnSpc>
                <a:spcPct val="100000"/>
              </a:lnSpc>
              <a:spcBef>
                <a:spcPts val="0"/>
              </a:spcBef>
            </a:pPr>
            <a:r>
              <a:rPr sz="1500" b="1">
                <a:solidFill>
                  <a:srgbClr val="12305B"/>
                </a:solidFill>
                <a:latin typeface="Segoe UI"/>
              </a:rPr>
              <a:t>MAPE 4.69%</a:t>
            </a:r>
          </a:p>
        </p:txBody>
      </p:sp>
      <p:sp>
        <p:nvSpPr>
          <p:cNvPr id="29" name="TextBox 28"/>
          <p:cNvSpPr txBox="1"/>
          <p:nvPr/>
        </p:nvSpPr>
        <p:spPr>
          <a:xfrm>
            <a:off x="5577840" y="4361688"/>
            <a:ext cx="5852160" cy="457200"/>
          </a:xfrm>
          <a:prstGeom prst="rect">
            <a:avLst/>
          </a:prstGeom>
          <a:noFill/>
        </p:spPr>
        <p:txBody>
          <a:bodyPr wrap="square" anchor="t" lIns="0" rIns="0" tIns="0" bIns="0">
            <a:spAutoFit/>
          </a:bodyPr>
          <a:lstStyle/>
          <a:p>
            <a:pPr algn="l">
              <a:lnSpc>
                <a:spcPct val="100000"/>
              </a:lnSpc>
              <a:spcBef>
                <a:spcPts val="0"/>
              </a:spcBef>
            </a:pPr>
            <a:r>
              <a:rPr sz="1150" b="0">
                <a:solidFill>
                  <a:srgbClr val="5A6672"/>
                </a:solidFill>
                <a:latin typeface="Segoe UI"/>
              </a:rPr>
              <a:t>49.7% better than naive</a:t>
            </a:r>
          </a:p>
        </p:txBody>
      </p:sp>
      <p:sp>
        <p:nvSpPr>
          <p:cNvPr id="30" name="Rounded Rectangle 29"/>
          <p:cNvSpPr/>
          <p:nvPr/>
        </p:nvSpPr>
        <p:spPr>
          <a:xfrm>
            <a:off x="502920" y="5047488"/>
            <a:ext cx="11201400" cy="841248"/>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5047488"/>
            <a:ext cx="82296" cy="841248"/>
          </a:xfrm>
          <a:prstGeom prst="rect">
            <a:avLst/>
          </a:prstGeom>
          <a:solidFill>
            <a:srgbClr val="7B4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175504"/>
            <a:ext cx="2377440" cy="274320"/>
          </a:xfrm>
          <a:prstGeom prst="rect">
            <a:avLst/>
          </a:prstGeom>
          <a:noFill/>
        </p:spPr>
        <p:txBody>
          <a:bodyPr wrap="square" anchor="t" lIns="0" rIns="0" tIns="0" bIns="0">
            <a:spAutoFit/>
          </a:bodyPr>
          <a:lstStyle/>
          <a:p>
            <a:pPr algn="l">
              <a:lnSpc>
                <a:spcPct val="100000"/>
              </a:lnSpc>
              <a:spcBef>
                <a:spcPts val="0"/>
              </a:spcBef>
            </a:pPr>
            <a:r>
              <a:rPr sz="1300" b="1">
                <a:solidFill>
                  <a:srgbClr val="12305B"/>
                </a:solidFill>
                <a:latin typeface="Segoe UI"/>
              </a:rPr>
              <a:t>Segmentation</a:t>
            </a:r>
          </a:p>
        </p:txBody>
      </p:sp>
      <p:sp>
        <p:nvSpPr>
          <p:cNvPr id="33" name="TextBox 32"/>
          <p:cNvSpPr txBox="1"/>
          <p:nvPr/>
        </p:nvSpPr>
        <p:spPr>
          <a:xfrm>
            <a:off x="777240" y="5486400"/>
            <a:ext cx="2377440" cy="274320"/>
          </a:xfrm>
          <a:prstGeom prst="rect">
            <a:avLst/>
          </a:prstGeom>
          <a:noFill/>
        </p:spPr>
        <p:txBody>
          <a:bodyPr wrap="square" anchor="t" lIns="0" rIns="0" tIns="0" bIns="0">
            <a:spAutoFit/>
          </a:bodyPr>
          <a:lstStyle/>
          <a:p>
            <a:pPr algn="l">
              <a:lnSpc>
                <a:spcPct val="100000"/>
              </a:lnSpc>
              <a:spcBef>
                <a:spcPts val="0"/>
              </a:spcBef>
            </a:pPr>
            <a:r>
              <a:rPr sz="1000" b="0">
                <a:solidFill>
                  <a:srgbClr val="5A6672"/>
                </a:solidFill>
                <a:latin typeface="Segoe UI"/>
              </a:rPr>
              <a:t>K-Means (k=4)</a:t>
            </a:r>
          </a:p>
        </p:txBody>
      </p:sp>
      <p:sp>
        <p:nvSpPr>
          <p:cNvPr id="34" name="TextBox 33"/>
          <p:cNvSpPr txBox="1"/>
          <p:nvPr/>
        </p:nvSpPr>
        <p:spPr>
          <a:xfrm>
            <a:off x="3291840" y="5285232"/>
            <a:ext cx="2103120" cy="365760"/>
          </a:xfrm>
          <a:prstGeom prst="rect">
            <a:avLst/>
          </a:prstGeom>
          <a:noFill/>
        </p:spPr>
        <p:txBody>
          <a:bodyPr wrap="square" anchor="t" lIns="0" rIns="0" tIns="0" bIns="0">
            <a:spAutoFit/>
          </a:bodyPr>
          <a:lstStyle/>
          <a:p>
            <a:pPr algn="l">
              <a:lnSpc>
                <a:spcPct val="100000"/>
              </a:lnSpc>
              <a:spcBef>
                <a:spcPts val="0"/>
              </a:spcBef>
            </a:pPr>
            <a:r>
              <a:rPr sz="1500" b="1">
                <a:solidFill>
                  <a:srgbClr val="7B4B94"/>
                </a:solidFill>
                <a:latin typeface="Segoe UI"/>
              </a:rPr>
              <a:t>silhouette 0.185</a:t>
            </a:r>
          </a:p>
        </p:txBody>
      </p:sp>
      <p:sp>
        <p:nvSpPr>
          <p:cNvPr id="35" name="TextBox 34"/>
          <p:cNvSpPr txBox="1"/>
          <p:nvPr/>
        </p:nvSpPr>
        <p:spPr>
          <a:xfrm>
            <a:off x="5577840" y="5303520"/>
            <a:ext cx="5852160" cy="457200"/>
          </a:xfrm>
          <a:prstGeom prst="rect">
            <a:avLst/>
          </a:prstGeom>
          <a:noFill/>
        </p:spPr>
        <p:txBody>
          <a:bodyPr wrap="square" anchor="t" lIns="0" rIns="0" tIns="0" bIns="0">
            <a:spAutoFit/>
          </a:bodyPr>
          <a:lstStyle/>
          <a:p>
            <a:pPr algn="l">
              <a:lnSpc>
                <a:spcPct val="100000"/>
              </a:lnSpc>
              <a:spcBef>
                <a:spcPts val="0"/>
              </a:spcBef>
            </a:pPr>
            <a:r>
              <a:rPr sz="1150" b="0">
                <a:solidFill>
                  <a:srgbClr val="5A6672"/>
                </a:solidFill>
                <a:latin typeface="Segoe UI"/>
              </a:rPr>
              <a:t>k chosen on business grounds; the cost is stated</a:t>
            </a:r>
          </a:p>
        </p:txBody>
      </p:sp>
      <p:sp>
        <p:nvSpPr>
          <p:cNvPr id="36" name="Rounded Rectangle 35"/>
          <p:cNvSpPr/>
          <p:nvPr/>
        </p:nvSpPr>
        <p:spPr>
          <a:xfrm>
            <a:off x="502920" y="6035040"/>
            <a:ext cx="11201400" cy="749808"/>
          </a:xfrm>
          <a:prstGeom prst="roundRect">
            <a:avLst>
              <a:gd name="adj" fmla="val 6000"/>
            </a:avLst>
          </a:prstGeom>
          <a:solidFill>
            <a:srgbClr val="FEF8EC"/>
          </a:solidFill>
          <a:ln w="952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6135624"/>
            <a:ext cx="10607040" cy="640080"/>
          </a:xfrm>
          <a:prstGeom prst="rect">
            <a:avLst/>
          </a:prstGeom>
          <a:noFill/>
        </p:spPr>
        <p:txBody>
          <a:bodyPr wrap="square" anchor="t" lIns="0" rIns="0" tIns="0" bIns="0">
            <a:spAutoFit/>
          </a:bodyPr>
          <a:lstStyle/>
          <a:p>
            <a:pPr algn="l">
              <a:lnSpc>
                <a:spcPct val="115000"/>
              </a:lnSpc>
              <a:spcBef>
                <a:spcPts val="0"/>
              </a:spcBef>
            </a:pPr>
            <a:r>
              <a:rPr sz="1300" b="1">
                <a:solidFill>
                  <a:srgbClr val="E8A317"/>
                </a:solidFill>
                <a:latin typeface="Segoe UI"/>
              </a:rPr>
              <a:t>How the models were validated</a:t>
            </a:r>
          </a:p>
          <a:p>
            <a:pPr algn="l">
              <a:lnSpc>
                <a:spcPct val="115000"/>
              </a:lnSpc>
              <a:spcBef>
                <a:spcPts val="400"/>
              </a:spcBef>
            </a:pPr>
            <a:r>
              <a:rPr sz="1100" b="0">
                <a:solidFill>
                  <a:srgbClr val="12203A"/>
                </a:solidFill>
                <a:latin typeface="Segoe UI"/>
              </a:rPr>
              <a:t>Time-based splits only — train Jan–May, test Jun–Jul. A random split leaks future information and produces a metric that will not hold in production.   ·   Every supervised model is compared against a NAIVE baseline, not just reported in isolation.   ·   The anomaly model was checked against four patterns documented in the dataset README and recovered all four without being told what they were.   ·   The 0.620 AUC was tested against a theoretical ceiling: a voucher-type base-rate oracle scores 0.621, so the model captures 99.8% of achievable signal and the limit is the data, not the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Geographic intelligence</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Where the business is — and, more usefully, where it is not</a:t>
            </a:r>
          </a:p>
        </p:txBody>
      </p:sp>
      <p:sp>
        <p:nvSpPr>
          <p:cNvPr id="6" name="Rounded Rectangle 5"/>
          <p:cNvSpPr/>
          <p:nvPr/>
        </p:nvSpPr>
        <p:spPr>
          <a:xfrm>
            <a:off x="502920" y="1280160"/>
            <a:ext cx="2103120" cy="1371600"/>
          </a:xfrm>
          <a:prstGeom prst="roundRect">
            <a:avLst>
              <a:gd name="adj" fmla="val 6000"/>
            </a:avLst>
          </a:prstGeom>
          <a:solidFill>
            <a:srgbClr val="12305B"/>
          </a:solidFill>
          <a:ln w="9525">
            <a:solidFill>
              <a:srgbClr val="123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 y="1417320"/>
            <a:ext cx="1828800" cy="256032"/>
          </a:xfrm>
          <a:prstGeom prst="rect">
            <a:avLst/>
          </a:prstGeom>
          <a:noFill/>
        </p:spPr>
        <p:txBody>
          <a:bodyPr wrap="square" anchor="t" lIns="0" rIns="0" tIns="0" bIns="0">
            <a:spAutoFit/>
          </a:bodyPr>
          <a:lstStyle/>
          <a:p>
            <a:pPr algn="l">
              <a:lnSpc>
                <a:spcPct val="100000"/>
              </a:lnSpc>
              <a:spcBef>
                <a:spcPts val="0"/>
              </a:spcBef>
            </a:pPr>
            <a:r>
              <a:rPr sz="1150" b="1">
                <a:solidFill>
                  <a:srgbClr val="FFFFFF"/>
                </a:solidFill>
                <a:latin typeface="Segoe UI"/>
              </a:rPr>
              <a:t>Free State</a:t>
            </a:r>
          </a:p>
        </p:txBody>
      </p:sp>
      <p:sp>
        <p:nvSpPr>
          <p:cNvPr id="8" name="TextBox 7"/>
          <p:cNvSpPr txBox="1"/>
          <p:nvPr/>
        </p:nvSpPr>
        <p:spPr>
          <a:xfrm>
            <a:off x="649224" y="1700784"/>
            <a:ext cx="1828800" cy="384048"/>
          </a:xfrm>
          <a:prstGeom prst="rect">
            <a:avLst/>
          </a:prstGeom>
          <a:noFill/>
        </p:spPr>
        <p:txBody>
          <a:bodyPr wrap="square" anchor="t" lIns="0" rIns="0" tIns="0" bIns="0">
            <a:spAutoFit/>
          </a:bodyPr>
          <a:lstStyle/>
          <a:p>
            <a:pPr algn="l">
              <a:lnSpc>
                <a:spcPct val="100000"/>
              </a:lnSpc>
              <a:spcBef>
                <a:spcPts val="0"/>
              </a:spcBef>
            </a:pPr>
            <a:r>
              <a:rPr sz="2200" b="1">
                <a:solidFill>
                  <a:srgbClr val="FFFFFF"/>
                </a:solidFill>
                <a:latin typeface="Segoe UI"/>
              </a:rPr>
              <a:t>R18.0m</a:t>
            </a:r>
          </a:p>
        </p:txBody>
      </p:sp>
      <p:sp>
        <p:nvSpPr>
          <p:cNvPr id="9" name="TextBox 8"/>
          <p:cNvSpPr txBox="1"/>
          <p:nvPr/>
        </p:nvSpPr>
        <p:spPr>
          <a:xfrm>
            <a:off x="649224" y="2212848"/>
            <a:ext cx="1828800" cy="274320"/>
          </a:xfrm>
          <a:prstGeom prst="rect">
            <a:avLst/>
          </a:prstGeom>
          <a:noFill/>
        </p:spPr>
        <p:txBody>
          <a:bodyPr wrap="square" anchor="t" lIns="0" rIns="0" tIns="0" bIns="0">
            <a:spAutoFit/>
          </a:bodyPr>
          <a:lstStyle/>
          <a:p>
            <a:pPr algn="l">
              <a:lnSpc>
                <a:spcPct val="100000"/>
              </a:lnSpc>
              <a:spcBef>
                <a:spcPts val="0"/>
              </a:spcBef>
            </a:pPr>
            <a:r>
              <a:rPr sz="950" b="0">
                <a:solidFill>
                  <a:srgbClr val="C9DAF0"/>
                </a:solidFill>
                <a:latin typeface="Segoe UI"/>
              </a:rPr>
              <a:t>27.5% · 10 merchants</a:t>
            </a:r>
          </a:p>
        </p:txBody>
      </p:sp>
      <p:sp>
        <p:nvSpPr>
          <p:cNvPr id="10" name="Rounded Rectangle 9"/>
          <p:cNvSpPr/>
          <p:nvPr/>
        </p:nvSpPr>
        <p:spPr>
          <a:xfrm>
            <a:off x="2788920" y="1280160"/>
            <a:ext cx="2103120" cy="1371600"/>
          </a:xfrm>
          <a:prstGeom prst="roundRect">
            <a:avLst>
              <a:gd name="adj" fmla="val 6000"/>
            </a:avLst>
          </a:prstGeom>
          <a:solidFill>
            <a:srgbClr val="0E8B8B"/>
          </a:solidFill>
          <a:ln w="9525">
            <a:solidFill>
              <a:srgbClr val="0E8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35224" y="1417320"/>
            <a:ext cx="1828800" cy="256032"/>
          </a:xfrm>
          <a:prstGeom prst="rect">
            <a:avLst/>
          </a:prstGeom>
          <a:noFill/>
        </p:spPr>
        <p:txBody>
          <a:bodyPr wrap="square" anchor="t" lIns="0" rIns="0" tIns="0" bIns="0">
            <a:spAutoFit/>
          </a:bodyPr>
          <a:lstStyle/>
          <a:p>
            <a:pPr algn="l">
              <a:lnSpc>
                <a:spcPct val="100000"/>
              </a:lnSpc>
              <a:spcBef>
                <a:spcPts val="0"/>
              </a:spcBef>
            </a:pPr>
            <a:r>
              <a:rPr sz="1150" b="1">
                <a:solidFill>
                  <a:srgbClr val="FFFFFF"/>
                </a:solidFill>
                <a:latin typeface="Segoe UI"/>
              </a:rPr>
              <a:t>Gauteng</a:t>
            </a:r>
          </a:p>
        </p:txBody>
      </p:sp>
      <p:sp>
        <p:nvSpPr>
          <p:cNvPr id="12" name="TextBox 11"/>
          <p:cNvSpPr txBox="1"/>
          <p:nvPr/>
        </p:nvSpPr>
        <p:spPr>
          <a:xfrm>
            <a:off x="2935224" y="1700784"/>
            <a:ext cx="1828800" cy="384048"/>
          </a:xfrm>
          <a:prstGeom prst="rect">
            <a:avLst/>
          </a:prstGeom>
          <a:noFill/>
        </p:spPr>
        <p:txBody>
          <a:bodyPr wrap="square" anchor="t" lIns="0" rIns="0" tIns="0" bIns="0">
            <a:spAutoFit/>
          </a:bodyPr>
          <a:lstStyle/>
          <a:p>
            <a:pPr algn="l">
              <a:lnSpc>
                <a:spcPct val="100000"/>
              </a:lnSpc>
              <a:spcBef>
                <a:spcPts val="0"/>
              </a:spcBef>
            </a:pPr>
            <a:r>
              <a:rPr sz="2200" b="1">
                <a:solidFill>
                  <a:srgbClr val="FFFFFF"/>
                </a:solidFill>
                <a:latin typeface="Segoe UI"/>
              </a:rPr>
              <a:t>R16.1m</a:t>
            </a:r>
          </a:p>
        </p:txBody>
      </p:sp>
      <p:sp>
        <p:nvSpPr>
          <p:cNvPr id="13" name="TextBox 12"/>
          <p:cNvSpPr txBox="1"/>
          <p:nvPr/>
        </p:nvSpPr>
        <p:spPr>
          <a:xfrm>
            <a:off x="2935224" y="2212848"/>
            <a:ext cx="1828800" cy="274320"/>
          </a:xfrm>
          <a:prstGeom prst="rect">
            <a:avLst/>
          </a:prstGeom>
          <a:noFill/>
        </p:spPr>
        <p:txBody>
          <a:bodyPr wrap="square" anchor="t" lIns="0" rIns="0" tIns="0" bIns="0">
            <a:spAutoFit/>
          </a:bodyPr>
          <a:lstStyle/>
          <a:p>
            <a:pPr algn="l">
              <a:lnSpc>
                <a:spcPct val="100000"/>
              </a:lnSpc>
              <a:spcBef>
                <a:spcPts val="0"/>
              </a:spcBef>
            </a:pPr>
            <a:r>
              <a:rPr sz="950" b="0">
                <a:solidFill>
                  <a:srgbClr val="C9DAF0"/>
                </a:solidFill>
                <a:latin typeface="Segoe UI"/>
              </a:rPr>
              <a:t>24.6% · 4 merchants</a:t>
            </a:r>
          </a:p>
        </p:txBody>
      </p:sp>
      <p:sp>
        <p:nvSpPr>
          <p:cNvPr id="14" name="Rounded Rectangle 13"/>
          <p:cNvSpPr/>
          <p:nvPr/>
        </p:nvSpPr>
        <p:spPr>
          <a:xfrm>
            <a:off x="5074920" y="1280160"/>
            <a:ext cx="2103120" cy="1371600"/>
          </a:xfrm>
          <a:prstGeom prst="roundRect">
            <a:avLst>
              <a:gd name="adj" fmla="val 6000"/>
            </a:avLst>
          </a:prstGeom>
          <a:solidFill>
            <a:srgbClr val="1B4079"/>
          </a:solidFill>
          <a:ln w="9525">
            <a:solidFill>
              <a:srgbClr val="1B40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21224" y="1417320"/>
            <a:ext cx="1828800" cy="256032"/>
          </a:xfrm>
          <a:prstGeom prst="rect">
            <a:avLst/>
          </a:prstGeom>
          <a:noFill/>
        </p:spPr>
        <p:txBody>
          <a:bodyPr wrap="square" anchor="t" lIns="0" rIns="0" tIns="0" bIns="0">
            <a:spAutoFit/>
          </a:bodyPr>
          <a:lstStyle/>
          <a:p>
            <a:pPr algn="l">
              <a:lnSpc>
                <a:spcPct val="100000"/>
              </a:lnSpc>
              <a:spcBef>
                <a:spcPts val="0"/>
              </a:spcBef>
            </a:pPr>
            <a:r>
              <a:rPr sz="1150" b="1">
                <a:solidFill>
                  <a:srgbClr val="FFFFFF"/>
                </a:solidFill>
                <a:latin typeface="Segoe UI"/>
              </a:rPr>
              <a:t>Western Cape</a:t>
            </a:r>
          </a:p>
        </p:txBody>
      </p:sp>
      <p:sp>
        <p:nvSpPr>
          <p:cNvPr id="16" name="TextBox 15"/>
          <p:cNvSpPr txBox="1"/>
          <p:nvPr/>
        </p:nvSpPr>
        <p:spPr>
          <a:xfrm>
            <a:off x="5221224" y="1700784"/>
            <a:ext cx="1828800" cy="384048"/>
          </a:xfrm>
          <a:prstGeom prst="rect">
            <a:avLst/>
          </a:prstGeom>
          <a:noFill/>
        </p:spPr>
        <p:txBody>
          <a:bodyPr wrap="square" anchor="t" lIns="0" rIns="0" tIns="0" bIns="0">
            <a:spAutoFit/>
          </a:bodyPr>
          <a:lstStyle/>
          <a:p>
            <a:pPr algn="l">
              <a:lnSpc>
                <a:spcPct val="100000"/>
              </a:lnSpc>
              <a:spcBef>
                <a:spcPts val="0"/>
              </a:spcBef>
            </a:pPr>
            <a:r>
              <a:rPr sz="2200" b="1">
                <a:solidFill>
                  <a:srgbClr val="FFFFFF"/>
                </a:solidFill>
                <a:latin typeface="Segoe UI"/>
              </a:rPr>
              <a:t>R13.1m</a:t>
            </a:r>
          </a:p>
        </p:txBody>
      </p:sp>
      <p:sp>
        <p:nvSpPr>
          <p:cNvPr id="17" name="TextBox 16"/>
          <p:cNvSpPr txBox="1"/>
          <p:nvPr/>
        </p:nvSpPr>
        <p:spPr>
          <a:xfrm>
            <a:off x="5221224" y="2212848"/>
            <a:ext cx="1828800" cy="274320"/>
          </a:xfrm>
          <a:prstGeom prst="rect">
            <a:avLst/>
          </a:prstGeom>
          <a:noFill/>
        </p:spPr>
        <p:txBody>
          <a:bodyPr wrap="square" anchor="t" lIns="0" rIns="0" tIns="0" bIns="0">
            <a:spAutoFit/>
          </a:bodyPr>
          <a:lstStyle/>
          <a:p>
            <a:pPr algn="l">
              <a:lnSpc>
                <a:spcPct val="100000"/>
              </a:lnSpc>
              <a:spcBef>
                <a:spcPts val="0"/>
              </a:spcBef>
            </a:pPr>
            <a:r>
              <a:rPr sz="950" b="0">
                <a:solidFill>
                  <a:srgbClr val="C9DAF0"/>
                </a:solidFill>
                <a:latin typeface="Segoe UI"/>
              </a:rPr>
              <a:t>19.9% · 4 merchants</a:t>
            </a:r>
          </a:p>
        </p:txBody>
      </p:sp>
      <p:sp>
        <p:nvSpPr>
          <p:cNvPr id="18" name="Rounded Rectangle 17"/>
          <p:cNvSpPr/>
          <p:nvPr/>
        </p:nvSpPr>
        <p:spPr>
          <a:xfrm>
            <a:off x="7360920" y="1280160"/>
            <a:ext cx="2103120" cy="1371600"/>
          </a:xfrm>
          <a:prstGeom prst="roundRect">
            <a:avLst>
              <a:gd name="adj" fmla="val 6000"/>
            </a:avLst>
          </a:prstGeom>
          <a:solidFill>
            <a:srgbClr val="7B4B94"/>
          </a:solidFill>
          <a:ln w="9525">
            <a:solidFill>
              <a:srgbClr val="7B4B9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07224" y="1417320"/>
            <a:ext cx="1828800" cy="256032"/>
          </a:xfrm>
          <a:prstGeom prst="rect">
            <a:avLst/>
          </a:prstGeom>
          <a:noFill/>
        </p:spPr>
        <p:txBody>
          <a:bodyPr wrap="square" anchor="t" lIns="0" rIns="0" tIns="0" bIns="0">
            <a:spAutoFit/>
          </a:bodyPr>
          <a:lstStyle/>
          <a:p>
            <a:pPr algn="l">
              <a:lnSpc>
                <a:spcPct val="100000"/>
              </a:lnSpc>
              <a:spcBef>
                <a:spcPts val="0"/>
              </a:spcBef>
            </a:pPr>
            <a:r>
              <a:rPr sz="1150" b="1">
                <a:solidFill>
                  <a:srgbClr val="FFFFFF"/>
                </a:solidFill>
                <a:latin typeface="Segoe UI"/>
              </a:rPr>
              <a:t>KwaZulu-Natal</a:t>
            </a:r>
          </a:p>
        </p:txBody>
      </p:sp>
      <p:sp>
        <p:nvSpPr>
          <p:cNvPr id="20" name="TextBox 19"/>
          <p:cNvSpPr txBox="1"/>
          <p:nvPr/>
        </p:nvSpPr>
        <p:spPr>
          <a:xfrm>
            <a:off x="7507224" y="1700784"/>
            <a:ext cx="1828800" cy="384048"/>
          </a:xfrm>
          <a:prstGeom prst="rect">
            <a:avLst/>
          </a:prstGeom>
          <a:noFill/>
        </p:spPr>
        <p:txBody>
          <a:bodyPr wrap="square" anchor="t" lIns="0" rIns="0" tIns="0" bIns="0">
            <a:spAutoFit/>
          </a:bodyPr>
          <a:lstStyle/>
          <a:p>
            <a:pPr algn="l">
              <a:lnSpc>
                <a:spcPct val="100000"/>
              </a:lnSpc>
              <a:spcBef>
                <a:spcPts val="0"/>
              </a:spcBef>
            </a:pPr>
            <a:r>
              <a:rPr sz="2200" b="1">
                <a:solidFill>
                  <a:srgbClr val="FFFFFF"/>
                </a:solidFill>
                <a:latin typeface="Segoe UI"/>
              </a:rPr>
              <a:t>R9.5m</a:t>
            </a:r>
          </a:p>
        </p:txBody>
      </p:sp>
      <p:sp>
        <p:nvSpPr>
          <p:cNvPr id="21" name="TextBox 20"/>
          <p:cNvSpPr txBox="1"/>
          <p:nvPr/>
        </p:nvSpPr>
        <p:spPr>
          <a:xfrm>
            <a:off x="7507224" y="2212848"/>
            <a:ext cx="1828800" cy="274320"/>
          </a:xfrm>
          <a:prstGeom prst="rect">
            <a:avLst/>
          </a:prstGeom>
          <a:noFill/>
        </p:spPr>
        <p:txBody>
          <a:bodyPr wrap="square" anchor="t" lIns="0" rIns="0" tIns="0" bIns="0">
            <a:spAutoFit/>
          </a:bodyPr>
          <a:lstStyle/>
          <a:p>
            <a:pPr algn="l">
              <a:lnSpc>
                <a:spcPct val="100000"/>
              </a:lnSpc>
              <a:spcBef>
                <a:spcPts val="0"/>
              </a:spcBef>
            </a:pPr>
            <a:r>
              <a:rPr sz="950" b="0">
                <a:solidFill>
                  <a:srgbClr val="C9DAF0"/>
                </a:solidFill>
                <a:latin typeface="Segoe UI"/>
              </a:rPr>
              <a:t>14.5% · 3 merchants</a:t>
            </a:r>
          </a:p>
        </p:txBody>
      </p:sp>
      <p:sp>
        <p:nvSpPr>
          <p:cNvPr id="22" name="Rounded Rectangle 21"/>
          <p:cNvSpPr/>
          <p:nvPr/>
        </p:nvSpPr>
        <p:spPr>
          <a:xfrm>
            <a:off x="9646920" y="1280160"/>
            <a:ext cx="2103120" cy="1371600"/>
          </a:xfrm>
          <a:prstGeom prst="roundRect">
            <a:avLst>
              <a:gd name="adj" fmla="val 6000"/>
            </a:avLst>
          </a:prstGeom>
          <a:solidFill>
            <a:srgbClr val="C0392B"/>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93224" y="1417320"/>
            <a:ext cx="1828800" cy="256032"/>
          </a:xfrm>
          <a:prstGeom prst="rect">
            <a:avLst/>
          </a:prstGeom>
          <a:noFill/>
        </p:spPr>
        <p:txBody>
          <a:bodyPr wrap="square" anchor="t" lIns="0" rIns="0" tIns="0" bIns="0">
            <a:spAutoFit/>
          </a:bodyPr>
          <a:lstStyle/>
          <a:p>
            <a:pPr algn="l">
              <a:lnSpc>
                <a:spcPct val="100000"/>
              </a:lnSpc>
              <a:spcBef>
                <a:spcPts val="0"/>
              </a:spcBef>
            </a:pPr>
            <a:r>
              <a:rPr sz="1150" b="1">
                <a:solidFill>
                  <a:srgbClr val="FFFFFF"/>
                </a:solidFill>
                <a:latin typeface="Segoe UI"/>
              </a:rPr>
              <a:t>Eastern Cape</a:t>
            </a:r>
          </a:p>
        </p:txBody>
      </p:sp>
      <p:sp>
        <p:nvSpPr>
          <p:cNvPr id="24" name="TextBox 23"/>
          <p:cNvSpPr txBox="1"/>
          <p:nvPr/>
        </p:nvSpPr>
        <p:spPr>
          <a:xfrm>
            <a:off x="9793224" y="1700784"/>
            <a:ext cx="1828800" cy="384048"/>
          </a:xfrm>
          <a:prstGeom prst="rect">
            <a:avLst/>
          </a:prstGeom>
          <a:noFill/>
        </p:spPr>
        <p:txBody>
          <a:bodyPr wrap="square" anchor="t" lIns="0" rIns="0" tIns="0" bIns="0">
            <a:spAutoFit/>
          </a:bodyPr>
          <a:lstStyle/>
          <a:p>
            <a:pPr algn="l">
              <a:lnSpc>
                <a:spcPct val="100000"/>
              </a:lnSpc>
              <a:spcBef>
                <a:spcPts val="0"/>
              </a:spcBef>
            </a:pPr>
            <a:r>
              <a:rPr sz="2200" b="1">
                <a:solidFill>
                  <a:srgbClr val="FFFFFF"/>
                </a:solidFill>
                <a:latin typeface="Segoe UI"/>
              </a:rPr>
              <a:t>R8.8m</a:t>
            </a:r>
          </a:p>
        </p:txBody>
      </p:sp>
      <p:sp>
        <p:nvSpPr>
          <p:cNvPr id="25" name="TextBox 24"/>
          <p:cNvSpPr txBox="1"/>
          <p:nvPr/>
        </p:nvSpPr>
        <p:spPr>
          <a:xfrm>
            <a:off x="9793224" y="2212848"/>
            <a:ext cx="1828800" cy="274320"/>
          </a:xfrm>
          <a:prstGeom prst="rect">
            <a:avLst/>
          </a:prstGeom>
          <a:noFill/>
        </p:spPr>
        <p:txBody>
          <a:bodyPr wrap="square" anchor="t" lIns="0" rIns="0" tIns="0" bIns="0">
            <a:spAutoFit/>
          </a:bodyPr>
          <a:lstStyle/>
          <a:p>
            <a:pPr algn="l">
              <a:lnSpc>
                <a:spcPct val="100000"/>
              </a:lnSpc>
              <a:spcBef>
                <a:spcPts val="0"/>
              </a:spcBef>
            </a:pPr>
            <a:r>
              <a:rPr sz="950" b="0">
                <a:solidFill>
                  <a:srgbClr val="C9DAF0"/>
                </a:solidFill>
                <a:latin typeface="Segoe UI"/>
              </a:rPr>
              <a:t>13.4% · 4 merchants</a:t>
            </a:r>
          </a:p>
        </p:txBody>
      </p:sp>
      <p:sp>
        <p:nvSpPr>
          <p:cNvPr id="26" name="Rounded Rectangle 25"/>
          <p:cNvSpPr/>
          <p:nvPr/>
        </p:nvSpPr>
        <p:spPr>
          <a:xfrm>
            <a:off x="502920" y="2788920"/>
            <a:ext cx="5486400" cy="1828800"/>
          </a:xfrm>
          <a:prstGeom prst="roundRect">
            <a:avLst>
              <a:gd name="adj" fmla="val 6000"/>
            </a:avLst>
          </a:prstGeom>
          <a:solidFill>
            <a:srgbClr val="FEF8EC"/>
          </a:solidFill>
          <a:ln w="952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2971800"/>
            <a:ext cx="4937760" cy="1554480"/>
          </a:xfrm>
          <a:prstGeom prst="rect">
            <a:avLst/>
          </a:prstGeom>
          <a:noFill/>
        </p:spPr>
        <p:txBody>
          <a:bodyPr wrap="square" anchor="t" lIns="0" rIns="0" tIns="0" bIns="0">
            <a:spAutoFit/>
          </a:bodyPr>
          <a:lstStyle/>
          <a:p>
            <a:pPr algn="l">
              <a:lnSpc>
                <a:spcPct val="115000"/>
              </a:lnSpc>
              <a:spcBef>
                <a:spcPts val="0"/>
              </a:spcBef>
            </a:pPr>
            <a:r>
              <a:rPr sz="1400" b="1">
                <a:solidFill>
                  <a:srgbClr val="E8A317"/>
                </a:solidFill>
                <a:latin typeface="Segoe UI"/>
              </a:rPr>
              <a:t>5 of 9 provinces · 56% of the country uncovered</a:t>
            </a:r>
          </a:p>
          <a:p>
            <a:pPr algn="l">
              <a:lnSpc>
                <a:spcPct val="115000"/>
              </a:lnSpc>
              <a:spcBef>
                <a:spcPts val="600"/>
              </a:spcBef>
            </a:pPr>
            <a:r>
              <a:rPr sz="1150" b="0">
                <a:solidFill>
                  <a:srgbClr val="12203A"/>
                </a:solidFill>
                <a:latin typeface="Segoe UI"/>
              </a:rPr>
              <a:t>Limpopo, Mpumalanga, North West and Northern Cape carry no merchants at all. The choropleth draws them as hatched "no cover" rather than omitting them — an absent province otherwise reads as zero sales when it actually means no footprint.</a:t>
            </a:r>
          </a:p>
        </p:txBody>
      </p:sp>
      <p:sp>
        <p:nvSpPr>
          <p:cNvPr id="28" name="Rounded Rectangle 27"/>
          <p:cNvSpPr/>
          <p:nvPr/>
        </p:nvSpPr>
        <p:spPr>
          <a:xfrm>
            <a:off x="6217920" y="2788920"/>
            <a:ext cx="5486400" cy="1828800"/>
          </a:xfrm>
          <a:prstGeom prst="roundRect">
            <a:avLst>
              <a:gd name="adj" fmla="val 6000"/>
            </a:avLst>
          </a:prstGeom>
          <a:solidFill>
            <a:srgbClr val="FDF0EE"/>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60" y="2971800"/>
            <a:ext cx="4937760" cy="1554480"/>
          </a:xfrm>
          <a:prstGeom prst="rect">
            <a:avLst/>
          </a:prstGeom>
          <a:noFill/>
        </p:spPr>
        <p:txBody>
          <a:bodyPr wrap="square" anchor="t" lIns="0" rIns="0" tIns="0" bIns="0">
            <a:spAutoFit/>
          </a:bodyPr>
          <a:lstStyle/>
          <a:p>
            <a:pPr algn="l">
              <a:lnSpc>
                <a:spcPct val="115000"/>
              </a:lnSpc>
              <a:spcBef>
                <a:spcPts val="0"/>
              </a:spcBef>
            </a:pPr>
            <a:r>
              <a:rPr sz="1400" b="1">
                <a:solidFill>
                  <a:srgbClr val="C0392B"/>
                </a:solidFill>
                <a:latin typeface="Segoe UI"/>
              </a:rPr>
              <a:t>Eastern Cape is the only province in decline</a:t>
            </a:r>
          </a:p>
          <a:p>
            <a:pPr algn="l">
              <a:lnSpc>
                <a:spcPct val="115000"/>
              </a:lnSpc>
              <a:spcBef>
                <a:spcPts val="600"/>
              </a:spcBef>
            </a:pPr>
            <a:r>
              <a:rPr sz="1150" b="0">
                <a:solidFill>
                  <a:srgbClr val="12203A"/>
                </a:solidFill>
                <a:latin typeface="Segoe UI"/>
              </a:rPr>
              <a:t>The only region below its own peak (−9.8%) while every other is AT peak, and the only one with negative recent momentum. Three of the five Critical/Watch merchants sit there — a regional pattern, not one bad account.</a:t>
            </a:r>
          </a:p>
        </p:txBody>
      </p:sp>
      <p:sp>
        <p:nvSpPr>
          <p:cNvPr id="30" name="Rounded Rectangle 29"/>
          <p:cNvSpPr/>
          <p:nvPr/>
        </p:nvSpPr>
        <p:spPr>
          <a:xfrm>
            <a:off x="502920" y="4754880"/>
            <a:ext cx="11201400" cy="1645920"/>
          </a:xfrm>
          <a:prstGeom prst="roundRect">
            <a:avLst>
              <a:gd name="adj" fmla="val 6000"/>
            </a:avLst>
          </a:prstGeom>
          <a:solidFill>
            <a:srgbClr val="EEF3F9"/>
          </a:solidFill>
          <a:ln w="9525">
            <a:solidFill>
              <a:srgbClr val="123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956048"/>
            <a:ext cx="10515600" cy="1371600"/>
          </a:xfrm>
          <a:prstGeom prst="rect">
            <a:avLst/>
          </a:prstGeom>
          <a:noFill/>
        </p:spPr>
        <p:txBody>
          <a:bodyPr wrap="square" anchor="t" lIns="0" rIns="0" tIns="0" bIns="0">
            <a:spAutoFit/>
          </a:bodyPr>
          <a:lstStyle/>
          <a:p>
            <a:pPr algn="l">
              <a:lnSpc>
                <a:spcPct val="118000"/>
              </a:lnSpc>
              <a:spcBef>
                <a:spcPts val="0"/>
              </a:spcBef>
            </a:pPr>
            <a:r>
              <a:rPr sz="1350" b="1">
                <a:solidFill>
                  <a:srgbClr val="12305B"/>
                </a:solidFill>
                <a:latin typeface="Segoe UI"/>
              </a:rPr>
              <a:t>What the geography does NOT tell us — and why that matters</a:t>
            </a:r>
          </a:p>
          <a:p>
            <a:pPr algn="l">
              <a:lnSpc>
                <a:spcPct val="118000"/>
              </a:lnSpc>
              <a:spcBef>
                <a:spcPts val="600"/>
              </a:spcBef>
            </a:pPr>
            <a:r>
              <a:rPr sz="1150" b="0">
                <a:solidFill>
                  <a:srgbClr val="5A6672"/>
                </a:solidFill>
                <a:latin typeface="Segoe UI"/>
              </a:rPr>
              <a:t>It is tempting to read 56% uncovered land as 56% untapped market. It is not. No population, GDP or competitor feed was supplied, and land area is a poor proxy for demand — Northern Cape is the largest province and the most sparsely populated in the country. The honest statement is a FOOTPRINT observation: four provinces have no merchant presence. Sizing that as opportunity requires population and income data the business already holds and this dataset does not.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Reconciliation and controls</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Controls that pass matter as much as controls that fail</a:t>
            </a:r>
          </a:p>
        </p:txBody>
      </p:sp>
      <p:sp>
        <p:nvSpPr>
          <p:cNvPr id="6" name="Rounded Rectangle 5"/>
          <p:cNvSpPr/>
          <p:nvPr/>
        </p:nvSpPr>
        <p:spPr>
          <a:xfrm>
            <a:off x="502920" y="1280160"/>
            <a:ext cx="5486400" cy="2103120"/>
          </a:xfrm>
          <a:prstGeom prst="roundRect">
            <a:avLst>
              <a:gd name="adj" fmla="val 6000"/>
            </a:avLst>
          </a:prstGeom>
          <a:solidFill>
            <a:srgbClr val="0E8B8B"/>
          </a:solidFill>
          <a:ln w="9525">
            <a:solidFill>
              <a:srgbClr val="0E8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81328"/>
            <a:ext cx="4937760" cy="1737360"/>
          </a:xfrm>
          <a:prstGeom prst="rect">
            <a:avLst/>
          </a:prstGeom>
          <a:noFill/>
        </p:spPr>
        <p:txBody>
          <a:bodyPr wrap="square" anchor="t" lIns="0" rIns="0" tIns="0" bIns="0">
            <a:spAutoFit/>
          </a:bodyPr>
          <a:lstStyle/>
          <a:p>
            <a:pPr algn="l">
              <a:lnSpc>
                <a:spcPct val="120000"/>
              </a:lnSpc>
              <a:spcBef>
                <a:spcPts val="0"/>
              </a:spcBef>
            </a:pPr>
            <a:r>
              <a:rPr sz="1500" b="1">
                <a:solidFill>
                  <a:srgbClr val="FFFFFF"/>
                </a:solidFill>
                <a:latin typeface="Segoe UI"/>
              </a:rPr>
              <a:t>5 of 6 controls PASS at zero variance</a:t>
            </a:r>
          </a:p>
          <a:p>
            <a:pPr algn="l">
              <a:lnSpc>
                <a:spcPct val="120000"/>
              </a:lnSpc>
              <a:spcBef>
                <a:spcPts val="800"/>
              </a:spcBef>
            </a:pPr>
            <a:r>
              <a:rPr sz="1200" b="0">
                <a:solidFill>
                  <a:srgbClr val="D6F0EE"/>
                </a:solidFill>
                <a:latin typeface="Segoe UI"/>
              </a:rPr>
              <a:t>Sales value survives bronze → gold · voucher and ticket row counts survive · redeemed + outstanding = issued · the scorecard ties to the sales fact.</a:t>
            </a:r>
          </a:p>
        </p:txBody>
      </p:sp>
      <p:sp>
        <p:nvSpPr>
          <p:cNvPr id="8" name="Rounded Rectangle 7"/>
          <p:cNvSpPr/>
          <p:nvPr/>
        </p:nvSpPr>
        <p:spPr>
          <a:xfrm>
            <a:off x="6217920" y="1280160"/>
            <a:ext cx="5486400" cy="2103120"/>
          </a:xfrm>
          <a:prstGeom prst="roundRect">
            <a:avLst>
              <a:gd name="adj" fmla="val 6000"/>
            </a:avLst>
          </a:prstGeom>
          <a:solidFill>
            <a:srgbClr val="FEF8EC"/>
          </a:solidFill>
          <a:ln w="952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481328"/>
            <a:ext cx="4937760" cy="1737360"/>
          </a:xfrm>
          <a:prstGeom prst="rect">
            <a:avLst/>
          </a:prstGeom>
          <a:noFill/>
        </p:spPr>
        <p:txBody>
          <a:bodyPr wrap="square" anchor="t" lIns="0" rIns="0" tIns="0" bIns="0">
            <a:spAutoFit/>
          </a:bodyPr>
          <a:lstStyle/>
          <a:p>
            <a:pPr algn="l">
              <a:lnSpc>
                <a:spcPct val="120000"/>
              </a:lnSpc>
              <a:spcBef>
                <a:spcPts val="0"/>
              </a:spcBef>
            </a:pPr>
            <a:r>
              <a:rPr sz="1500" b="1">
                <a:solidFill>
                  <a:srgbClr val="E8A317"/>
                </a:solidFill>
                <a:latin typeface="Segoe UI"/>
              </a:rPr>
              <a:t>The 6th is a R43,501,446 variance — and it is EXPECTED</a:t>
            </a:r>
          </a:p>
          <a:p>
            <a:pPr algn="l">
              <a:lnSpc>
                <a:spcPct val="120000"/>
              </a:lnSpc>
              <a:spcBef>
                <a:spcPts val="800"/>
              </a:spcBef>
            </a:pPr>
            <a:r>
              <a:rPr sz="1200" b="0">
                <a:solidFill>
                  <a:srgbClr val="12203A"/>
                </a:solidFill>
                <a:latin typeface="Segoe UI"/>
              </a:rPr>
              <a:t>Sales fact: R65.5m across 510,127 transactions. Voucher fact: R22.0m across 120,969 vouchers. Different populations, ratio 4.2 : 1. They must never be forced to tie.</a:t>
            </a:r>
          </a:p>
        </p:txBody>
      </p:sp>
      <p:sp>
        <p:nvSpPr>
          <p:cNvPr id="10" name="Rounded Rectangle 9"/>
          <p:cNvSpPr/>
          <p:nvPr/>
        </p:nvSpPr>
        <p:spPr>
          <a:xfrm>
            <a:off x="502920" y="3566160"/>
            <a:ext cx="11201400" cy="2834640"/>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794760"/>
            <a:ext cx="10515600" cy="2377440"/>
          </a:xfrm>
          <a:prstGeom prst="rect">
            <a:avLst/>
          </a:prstGeom>
          <a:noFill/>
        </p:spPr>
        <p:txBody>
          <a:bodyPr wrap="square" anchor="t" lIns="0" rIns="0" tIns="0" bIns="0">
            <a:spAutoFit/>
          </a:bodyPr>
          <a:lstStyle/>
          <a:p>
            <a:pPr algn="l">
              <a:lnSpc>
                <a:spcPct val="120000"/>
              </a:lnSpc>
              <a:spcBef>
                <a:spcPts val="0"/>
              </a:spcBef>
            </a:pPr>
            <a:r>
              <a:rPr sz="1500" b="1">
                <a:solidFill>
                  <a:srgbClr val="12305B"/>
                </a:solidFill>
                <a:latin typeface="Segoe UI"/>
              </a:rPr>
              <a:t>Why recording an expected variance is the point</a:t>
            </a:r>
          </a:p>
          <a:p>
            <a:pPr algn="l">
              <a:lnSpc>
                <a:spcPct val="120000"/>
              </a:lnSpc>
              <a:spcBef>
                <a:spcPts val="800"/>
              </a:spcBef>
            </a:pPr>
            <a:r>
              <a:rPr sz="1250" b="0">
                <a:solidFill>
                  <a:srgbClr val="12203A"/>
                </a:solidFill>
                <a:latin typeface="Segoe UI"/>
              </a:rPr>
              <a:t>Without it, someone compares R65.5m to R22.0m, calls it a reconciliation break and escalates — or divides one by the other and reports a value-based redemption rate against the wrong denominator. The control does not just check a number; it records which comparisons are legitimate.</a:t>
            </a:r>
          </a:p>
          <a:p>
            <a:pPr algn="l">
              <a:lnSpc>
                <a:spcPct val="120000"/>
              </a:lnSpc>
              <a:spcBef>
                <a:spcPts val="1200"/>
              </a:spcBef>
            </a:pPr>
            <a:r>
              <a:rPr sz="1400" b="1">
                <a:solidFill>
                  <a:srgbClr val="12305B"/>
                </a:solidFill>
                <a:latin typeface="Segoe UI"/>
              </a:rPr>
              <a:t>Fraud controls follow the same discipline.</a:t>
            </a:r>
          </a:p>
          <a:p>
            <a:pPr algn="l">
              <a:lnSpc>
                <a:spcPct val="120000"/>
              </a:lnSpc>
              <a:spcBef>
                <a:spcPts val="600"/>
              </a:spcBef>
            </a:pPr>
            <a:r>
              <a:rPr sz="1200" b="0">
                <a:solidFill>
                  <a:srgbClr val="5A6672"/>
                </a:solidFill>
                <a:latin typeface="Segoe UI"/>
              </a:rPr>
              <a:t>Supported and built: reversal rate, redemption velocity, liability concentration, behavioural anomaly.   Tested and NIL: voucher value outliers — zero beyond 3 SD, because the generator used a bounded distribution; the control runs and correctly returns zero rather than being quietly dropped.   Not supported: duplicate redemption, geographic anomaly, PIN misuse, customer CLV and churn — there is no customer identifier anywhere in the four files, so each one names the telemetry it would need instead.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Fraud detection and prevention</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Detection is one third of a control framework — prevention and correction are the other two</a:t>
            </a:r>
          </a:p>
        </p:txBody>
      </p:sp>
      <p:sp>
        <p:nvSpPr>
          <p:cNvPr id="6" name="Rounded Rectangle 5"/>
          <p:cNvSpPr/>
          <p:nvPr/>
        </p:nvSpPr>
        <p:spPr>
          <a:xfrm>
            <a:off x="502920" y="1234440"/>
            <a:ext cx="3611880" cy="4069080"/>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234440"/>
            <a:ext cx="3611880" cy="713232"/>
          </a:xfrm>
          <a:prstGeom prst="roundRect">
            <a:avLst/>
          </a:prstGeom>
          <a:solidFill>
            <a:srgbClr val="8B2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335024"/>
            <a:ext cx="3291840" cy="274320"/>
          </a:xfrm>
          <a:prstGeom prst="rect">
            <a:avLst/>
          </a:prstGeom>
          <a:noFill/>
        </p:spPr>
        <p:txBody>
          <a:bodyPr wrap="square" anchor="t" lIns="0" rIns="0" tIns="0" bIns="0">
            <a:spAutoFit/>
          </a:bodyPr>
          <a:lstStyle/>
          <a:p>
            <a:pPr algn="l">
              <a:lnSpc>
                <a:spcPct val="100000"/>
              </a:lnSpc>
              <a:spcBef>
                <a:spcPts val="0"/>
              </a:spcBef>
            </a:pPr>
            <a:r>
              <a:rPr sz="1500" b="1">
                <a:solidFill>
                  <a:srgbClr val="FFFFFF"/>
                </a:solidFill>
                <a:latin typeface="Segoe UI"/>
              </a:rPr>
              <a:t>PREVENT</a:t>
            </a:r>
          </a:p>
        </p:txBody>
      </p:sp>
      <p:sp>
        <p:nvSpPr>
          <p:cNvPr id="9" name="TextBox 8"/>
          <p:cNvSpPr txBox="1"/>
          <p:nvPr/>
        </p:nvSpPr>
        <p:spPr>
          <a:xfrm>
            <a:off x="667512" y="1609344"/>
            <a:ext cx="3291840" cy="256032"/>
          </a:xfrm>
          <a:prstGeom prst="rect">
            <a:avLst/>
          </a:prstGeom>
          <a:noFill/>
        </p:spPr>
        <p:txBody>
          <a:bodyPr wrap="square" anchor="t" lIns="0" rIns="0" tIns="0" bIns="0">
            <a:spAutoFit/>
          </a:bodyPr>
          <a:lstStyle/>
          <a:p>
            <a:pPr algn="l">
              <a:lnSpc>
                <a:spcPct val="100000"/>
              </a:lnSpc>
              <a:spcBef>
                <a:spcPts val="0"/>
              </a:spcBef>
            </a:pPr>
            <a:r>
              <a:rPr sz="950" b="0">
                <a:solidFill>
                  <a:srgbClr val="E8EFF8"/>
                </a:solidFill>
                <a:latin typeface="Segoe UI"/>
              </a:rPr>
              <a:t>Stops the loss occurring</a:t>
            </a:r>
          </a:p>
        </p:txBody>
      </p:sp>
      <p:sp>
        <p:nvSpPr>
          <p:cNvPr id="10" name="TextBox 9"/>
          <p:cNvSpPr txBox="1"/>
          <p:nvPr/>
        </p:nvSpPr>
        <p:spPr>
          <a:xfrm>
            <a:off x="667512" y="2084831"/>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Voucher expiry enforcement</a:t>
            </a:r>
          </a:p>
          <a:p>
            <a:pPr algn="l">
              <a:lnSpc>
                <a:spcPct val="110000"/>
              </a:lnSpc>
              <a:spcBef>
                <a:spcPts val="200"/>
              </a:spcBef>
            </a:pPr>
            <a:r>
              <a:rPr sz="900" b="0">
                <a:solidFill>
                  <a:srgbClr val="5A6672"/>
                </a:solidFill>
                <a:latin typeface="Segoe UI"/>
              </a:rPr>
              <a:t>90-day rule is modelled; enforce at redemption</a:t>
            </a:r>
          </a:p>
        </p:txBody>
      </p:sp>
      <p:sp>
        <p:nvSpPr>
          <p:cNvPr id="11" name="TextBox 10"/>
          <p:cNvSpPr txBox="1"/>
          <p:nvPr/>
        </p:nvSpPr>
        <p:spPr>
          <a:xfrm>
            <a:off x="667512" y="2706624"/>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Value ceilings per type</a:t>
            </a:r>
          </a:p>
          <a:p>
            <a:pPr algn="l">
              <a:lnSpc>
                <a:spcPct val="110000"/>
              </a:lnSpc>
              <a:spcBef>
                <a:spcPts val="200"/>
              </a:spcBef>
            </a:pPr>
            <a:r>
              <a:rPr sz="900" b="0">
                <a:solidFill>
                  <a:srgbClr val="5A6672"/>
                </a:solidFill>
                <a:latin typeface="Segoe UI"/>
              </a:rPr>
              <a:t>Gaming carries the highest non-redemption at 24%</a:t>
            </a:r>
          </a:p>
        </p:txBody>
      </p:sp>
      <p:sp>
        <p:nvSpPr>
          <p:cNvPr id="12" name="TextBox 11"/>
          <p:cNvSpPr txBox="1"/>
          <p:nvPr/>
        </p:nvSpPr>
        <p:spPr>
          <a:xfrm>
            <a:off x="667512" y="3328416"/>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Velocity limits per merchant</a:t>
            </a:r>
          </a:p>
          <a:p>
            <a:pPr algn="l">
              <a:lnSpc>
                <a:spcPct val="110000"/>
              </a:lnSpc>
              <a:spcBef>
                <a:spcPts val="200"/>
              </a:spcBef>
            </a:pPr>
            <a:r>
              <a:rPr sz="900" b="0">
                <a:solidFill>
                  <a:srgbClr val="5A6672"/>
                </a:solidFill>
                <a:latin typeface="Segoe UI"/>
              </a:rPr>
              <a:t>Cap redemptions per merchant per hour</a:t>
            </a:r>
          </a:p>
        </p:txBody>
      </p:sp>
      <p:sp>
        <p:nvSpPr>
          <p:cNvPr id="13" name="TextBox 12"/>
          <p:cNvSpPr txBox="1"/>
          <p:nvPr/>
        </p:nvSpPr>
        <p:spPr>
          <a:xfrm>
            <a:off x="667512" y="3950208"/>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Onboarding due diligence</a:t>
            </a:r>
          </a:p>
          <a:p>
            <a:pPr algn="l">
              <a:lnSpc>
                <a:spcPct val="110000"/>
              </a:lnSpc>
              <a:spcBef>
                <a:spcPts val="200"/>
              </a:spcBef>
            </a:pPr>
            <a:r>
              <a:rPr sz="900" b="0">
                <a:solidFill>
                  <a:srgbClr val="5A6672"/>
                </a:solidFill>
                <a:latin typeface="Segoe UI"/>
              </a:rPr>
              <a:t>2 merchants are CRM 'At Risk' with no linked control</a:t>
            </a:r>
          </a:p>
        </p:txBody>
      </p:sp>
      <p:sp>
        <p:nvSpPr>
          <p:cNvPr id="14" name="TextBox 13"/>
          <p:cNvSpPr txBox="1"/>
          <p:nvPr/>
        </p:nvSpPr>
        <p:spPr>
          <a:xfrm>
            <a:off x="667512" y="4572000"/>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Segregation of duties</a:t>
            </a:r>
          </a:p>
          <a:p>
            <a:pPr algn="l">
              <a:lnSpc>
                <a:spcPct val="110000"/>
              </a:lnSpc>
              <a:spcBef>
                <a:spcPts val="200"/>
              </a:spcBef>
            </a:pPr>
            <a:r>
              <a:rPr sz="900" b="0">
                <a:solidFill>
                  <a:srgbClr val="5A6672"/>
                </a:solidFill>
                <a:latin typeface="Segoe UI"/>
              </a:rPr>
              <a:t>Issuance and redemption approval must not share an owner</a:t>
            </a:r>
          </a:p>
        </p:txBody>
      </p:sp>
      <p:sp>
        <p:nvSpPr>
          <p:cNvPr id="15" name="Rounded Rectangle 14"/>
          <p:cNvSpPr/>
          <p:nvPr/>
        </p:nvSpPr>
        <p:spPr>
          <a:xfrm>
            <a:off x="4297680" y="1234440"/>
            <a:ext cx="3611880" cy="4069080"/>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97680" y="1234440"/>
            <a:ext cx="3611880" cy="713232"/>
          </a:xfrm>
          <a:prstGeom prst="roundRect">
            <a:avLst/>
          </a:prstGeom>
          <a:solidFill>
            <a:srgbClr val="0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62272" y="1335024"/>
            <a:ext cx="3291840" cy="274320"/>
          </a:xfrm>
          <a:prstGeom prst="rect">
            <a:avLst/>
          </a:prstGeom>
          <a:noFill/>
        </p:spPr>
        <p:txBody>
          <a:bodyPr wrap="square" anchor="t" lIns="0" rIns="0" tIns="0" bIns="0">
            <a:spAutoFit/>
          </a:bodyPr>
          <a:lstStyle/>
          <a:p>
            <a:pPr algn="l">
              <a:lnSpc>
                <a:spcPct val="100000"/>
              </a:lnSpc>
              <a:spcBef>
                <a:spcPts val="0"/>
              </a:spcBef>
            </a:pPr>
            <a:r>
              <a:rPr sz="1500" b="1">
                <a:solidFill>
                  <a:srgbClr val="FFFFFF"/>
                </a:solidFill>
                <a:latin typeface="Segoe UI"/>
              </a:rPr>
              <a:t>DETECT</a:t>
            </a:r>
          </a:p>
        </p:txBody>
      </p:sp>
      <p:sp>
        <p:nvSpPr>
          <p:cNvPr id="18" name="TextBox 17"/>
          <p:cNvSpPr txBox="1"/>
          <p:nvPr/>
        </p:nvSpPr>
        <p:spPr>
          <a:xfrm>
            <a:off x="4462272" y="1609344"/>
            <a:ext cx="3291840" cy="256032"/>
          </a:xfrm>
          <a:prstGeom prst="rect">
            <a:avLst/>
          </a:prstGeom>
          <a:noFill/>
        </p:spPr>
        <p:txBody>
          <a:bodyPr wrap="square" anchor="t" lIns="0" rIns="0" tIns="0" bIns="0">
            <a:spAutoFit/>
          </a:bodyPr>
          <a:lstStyle/>
          <a:p>
            <a:pPr algn="l">
              <a:lnSpc>
                <a:spcPct val="100000"/>
              </a:lnSpc>
              <a:spcBef>
                <a:spcPts val="0"/>
              </a:spcBef>
            </a:pPr>
            <a:r>
              <a:rPr sz="950" b="0">
                <a:solidFill>
                  <a:srgbClr val="E8EFF8"/>
                </a:solidFill>
                <a:latin typeface="Segoe UI"/>
              </a:rPr>
              <a:t>Finds it after the fact — what is built</a:t>
            </a:r>
          </a:p>
        </p:txBody>
      </p:sp>
      <p:sp>
        <p:nvSpPr>
          <p:cNvPr id="19" name="TextBox 18"/>
          <p:cNvSpPr txBox="1"/>
          <p:nvPr/>
        </p:nvSpPr>
        <p:spPr>
          <a:xfrm>
            <a:off x="4462272" y="2084831"/>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Reversal rate per 1k txn</a:t>
            </a:r>
          </a:p>
          <a:p>
            <a:pPr algn="l">
              <a:lnSpc>
                <a:spcPct val="110000"/>
              </a:lnSpc>
              <a:spcBef>
                <a:spcPts val="200"/>
              </a:spcBef>
            </a:pPr>
            <a:r>
              <a:rPr sz="900" b="0">
                <a:solidFill>
                  <a:srgbClr val="5A6672"/>
                </a:solidFill>
                <a:latin typeface="Segoe UI"/>
              </a:rPr>
              <a:t>215 reversal tickets; range 0.00–1.99 per 1k</a:t>
            </a:r>
          </a:p>
        </p:txBody>
      </p:sp>
      <p:sp>
        <p:nvSpPr>
          <p:cNvPr id="20" name="TextBox 19"/>
          <p:cNvSpPr txBox="1"/>
          <p:nvPr/>
        </p:nvSpPr>
        <p:spPr>
          <a:xfrm>
            <a:off x="4462272" y="2706624"/>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Redemption velocity</a:t>
            </a:r>
          </a:p>
          <a:p>
            <a:pPr algn="l">
              <a:lnSpc>
                <a:spcPct val="110000"/>
              </a:lnSpc>
              <a:spcBef>
                <a:spcPts val="200"/>
              </a:spcBef>
            </a:pPr>
            <a:r>
              <a:rPr sz="900" b="0">
                <a:solidFill>
                  <a:srgbClr val="5A6672"/>
                </a:solidFill>
                <a:latin typeface="Segoe UI"/>
              </a:rPr>
              <a:t>Same-day share, ~23% and uniform across merchants</a:t>
            </a:r>
          </a:p>
        </p:txBody>
      </p:sp>
      <p:sp>
        <p:nvSpPr>
          <p:cNvPr id="21" name="TextBox 20"/>
          <p:cNvSpPr txBox="1"/>
          <p:nvPr/>
        </p:nvSpPr>
        <p:spPr>
          <a:xfrm>
            <a:off x="4462272" y="3328416"/>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Behavioural anomaly</a:t>
            </a:r>
          </a:p>
          <a:p>
            <a:pPr algn="l">
              <a:lnSpc>
                <a:spcPct val="110000"/>
              </a:lnSpc>
              <a:spcBef>
                <a:spcPts val="200"/>
              </a:spcBef>
            </a:pPr>
            <a:r>
              <a:rPr sz="900" b="0">
                <a:solidFill>
                  <a:srgbClr val="5A6672"/>
                </a:solidFill>
                <a:latin typeface="Segoe UI"/>
              </a:rPr>
              <a:t>Isolation Forest on merchant-month deviation</a:t>
            </a:r>
          </a:p>
        </p:txBody>
      </p:sp>
      <p:sp>
        <p:nvSpPr>
          <p:cNvPr id="22" name="TextBox 21"/>
          <p:cNvSpPr txBox="1"/>
          <p:nvPr/>
        </p:nvSpPr>
        <p:spPr>
          <a:xfrm>
            <a:off x="4462272" y="3950208"/>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Liability concentration</a:t>
            </a:r>
          </a:p>
          <a:p>
            <a:pPr algn="l">
              <a:lnSpc>
                <a:spcPct val="110000"/>
              </a:lnSpc>
              <a:spcBef>
                <a:spcPts val="200"/>
              </a:spcBef>
            </a:pPr>
            <a:r>
              <a:rPr sz="900" b="0">
                <a:solidFill>
                  <a:srgbClr val="5A6672"/>
                </a:solidFill>
                <a:latin typeface="Segoe UI"/>
              </a:rPr>
              <a:t>R3.5m outstanding, tracked per merchant</a:t>
            </a:r>
          </a:p>
        </p:txBody>
      </p:sp>
      <p:sp>
        <p:nvSpPr>
          <p:cNvPr id="23" name="TextBox 22"/>
          <p:cNvSpPr txBox="1"/>
          <p:nvPr/>
        </p:nvSpPr>
        <p:spPr>
          <a:xfrm>
            <a:off x="4462272" y="4572000"/>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Value outliers</a:t>
            </a:r>
          </a:p>
          <a:p>
            <a:pPr algn="l">
              <a:lnSpc>
                <a:spcPct val="110000"/>
              </a:lnSpc>
              <a:spcBef>
                <a:spcPts val="200"/>
              </a:spcBef>
            </a:pPr>
            <a:r>
              <a:rPr sz="900" b="0">
                <a:solidFill>
                  <a:srgbClr val="5A6672"/>
                </a:solidFill>
                <a:latin typeface="Segoe UI"/>
              </a:rPr>
              <a:t>Implemented; correctly returns ZERO on this data</a:t>
            </a:r>
          </a:p>
        </p:txBody>
      </p:sp>
      <p:sp>
        <p:nvSpPr>
          <p:cNvPr id="24" name="Rounded Rectangle 23"/>
          <p:cNvSpPr/>
          <p:nvPr/>
        </p:nvSpPr>
        <p:spPr>
          <a:xfrm>
            <a:off x="8092440" y="1234440"/>
            <a:ext cx="3611880" cy="4069080"/>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092440" y="1234440"/>
            <a:ext cx="3611880" cy="713232"/>
          </a:xfrm>
          <a:prstGeom prst="round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57032" y="1335024"/>
            <a:ext cx="3291840" cy="274320"/>
          </a:xfrm>
          <a:prstGeom prst="rect">
            <a:avLst/>
          </a:prstGeom>
          <a:noFill/>
        </p:spPr>
        <p:txBody>
          <a:bodyPr wrap="square" anchor="t" lIns="0" rIns="0" tIns="0" bIns="0">
            <a:spAutoFit/>
          </a:bodyPr>
          <a:lstStyle/>
          <a:p>
            <a:pPr algn="l">
              <a:lnSpc>
                <a:spcPct val="100000"/>
              </a:lnSpc>
              <a:spcBef>
                <a:spcPts val="0"/>
              </a:spcBef>
            </a:pPr>
            <a:r>
              <a:rPr sz="1500" b="1">
                <a:solidFill>
                  <a:srgbClr val="FFFFFF"/>
                </a:solidFill>
                <a:latin typeface="Segoe UI"/>
              </a:rPr>
              <a:t>CORRECT</a:t>
            </a:r>
          </a:p>
        </p:txBody>
      </p:sp>
      <p:sp>
        <p:nvSpPr>
          <p:cNvPr id="27" name="TextBox 26"/>
          <p:cNvSpPr txBox="1"/>
          <p:nvPr/>
        </p:nvSpPr>
        <p:spPr>
          <a:xfrm>
            <a:off x="8257032" y="1609344"/>
            <a:ext cx="3291840" cy="256032"/>
          </a:xfrm>
          <a:prstGeom prst="rect">
            <a:avLst/>
          </a:prstGeom>
          <a:noFill/>
        </p:spPr>
        <p:txBody>
          <a:bodyPr wrap="square" anchor="t" lIns="0" rIns="0" tIns="0" bIns="0">
            <a:spAutoFit/>
          </a:bodyPr>
          <a:lstStyle/>
          <a:p>
            <a:pPr algn="l">
              <a:lnSpc>
                <a:spcPct val="100000"/>
              </a:lnSpc>
              <a:spcBef>
                <a:spcPts val="0"/>
              </a:spcBef>
            </a:pPr>
            <a:r>
              <a:rPr sz="950" b="0">
                <a:solidFill>
                  <a:srgbClr val="E8EFF8"/>
                </a:solidFill>
                <a:latin typeface="Segoe UI"/>
              </a:rPr>
              <a:t>Limits the damage once found</a:t>
            </a:r>
          </a:p>
        </p:txBody>
      </p:sp>
      <p:sp>
        <p:nvSpPr>
          <p:cNvPr id="28" name="TextBox 27"/>
          <p:cNvSpPr txBox="1"/>
          <p:nvPr/>
        </p:nvSpPr>
        <p:spPr>
          <a:xfrm>
            <a:off x="8257032" y="2084831"/>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Quarantine on DQ failure</a:t>
            </a:r>
          </a:p>
          <a:p>
            <a:pPr algn="l">
              <a:lnSpc>
                <a:spcPct val="110000"/>
              </a:lnSpc>
              <a:spcBef>
                <a:spcPts val="200"/>
              </a:spcBef>
            </a:pPr>
            <a:r>
              <a:rPr sz="900" b="0">
                <a:solidFill>
                  <a:srgbClr val="5A6672"/>
                </a:solidFill>
                <a:latin typeface="Segoe UI"/>
              </a:rPr>
              <a:t>Bad loads never reach gold — the pipeline gate</a:t>
            </a:r>
          </a:p>
        </p:txBody>
      </p:sp>
      <p:sp>
        <p:nvSpPr>
          <p:cNvPr id="29" name="TextBox 28"/>
          <p:cNvSpPr txBox="1"/>
          <p:nvPr/>
        </p:nvSpPr>
        <p:spPr>
          <a:xfrm>
            <a:off x="8257032" y="2706624"/>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Change alerting</a:t>
            </a:r>
          </a:p>
          <a:p>
            <a:pPr algn="l">
              <a:lnSpc>
                <a:spcPct val="110000"/>
              </a:lnSpc>
              <a:spcBef>
                <a:spcPts val="200"/>
              </a:spcBef>
            </a:pPr>
            <a:r>
              <a:rPr sz="900" b="0">
                <a:solidFill>
                  <a:srgbClr val="5A6672"/>
                </a:solidFill>
                <a:latin typeface="Segoe UI"/>
              </a:rPr>
              <a:t>SCD2 diff raises status/target changes as Critical</a:t>
            </a:r>
          </a:p>
        </p:txBody>
      </p:sp>
      <p:sp>
        <p:nvSpPr>
          <p:cNvPr id="30" name="TextBox 29"/>
          <p:cNvSpPr txBox="1"/>
          <p:nvPr/>
        </p:nvSpPr>
        <p:spPr>
          <a:xfrm>
            <a:off x="8257032" y="3328416"/>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Reversal workflow</a:t>
            </a:r>
          </a:p>
          <a:p>
            <a:pPr algn="l">
              <a:lnSpc>
                <a:spcPct val="110000"/>
              </a:lnSpc>
              <a:spcBef>
                <a:spcPts val="200"/>
              </a:spcBef>
            </a:pPr>
            <a:r>
              <a:rPr sz="900" b="0">
                <a:solidFill>
                  <a:srgbClr val="5A6672"/>
                </a:solidFill>
                <a:latin typeface="Segoe UI"/>
              </a:rPr>
              <a:t>Financial tickets are 25% of volume; route separately</a:t>
            </a:r>
          </a:p>
        </p:txBody>
      </p:sp>
      <p:sp>
        <p:nvSpPr>
          <p:cNvPr id="31" name="TextBox 30"/>
          <p:cNvSpPr txBox="1"/>
          <p:nvPr/>
        </p:nvSpPr>
        <p:spPr>
          <a:xfrm>
            <a:off x="8257032" y="3950208"/>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Merchant suspension path</a:t>
            </a:r>
          </a:p>
          <a:p>
            <a:pPr algn="l">
              <a:lnSpc>
                <a:spcPct val="110000"/>
              </a:lnSpc>
              <a:spcBef>
                <a:spcPts val="200"/>
              </a:spcBef>
            </a:pPr>
            <a:r>
              <a:rPr sz="900" b="0">
                <a:solidFill>
                  <a:srgbClr val="5A6672"/>
                </a:solidFill>
                <a:latin typeface="Segoe UI"/>
              </a:rPr>
              <a:t>Risk band 'Review' should trigger a hold, not an email</a:t>
            </a:r>
          </a:p>
        </p:txBody>
      </p:sp>
      <p:sp>
        <p:nvSpPr>
          <p:cNvPr id="32" name="TextBox 31"/>
          <p:cNvSpPr txBox="1"/>
          <p:nvPr/>
        </p:nvSpPr>
        <p:spPr>
          <a:xfrm>
            <a:off x="8257032" y="4572000"/>
            <a:ext cx="3291840" cy="566928"/>
          </a:xfrm>
          <a:prstGeom prst="rect">
            <a:avLst/>
          </a:prstGeom>
          <a:noFill/>
        </p:spPr>
        <p:txBody>
          <a:bodyPr wrap="square" anchor="t" lIns="0" rIns="0" tIns="0" bIns="0">
            <a:spAutoFit/>
          </a:bodyPr>
          <a:lstStyle/>
          <a:p>
            <a:pPr algn="l">
              <a:lnSpc>
                <a:spcPct val="110000"/>
              </a:lnSpc>
              <a:spcBef>
                <a:spcPts val="0"/>
              </a:spcBef>
            </a:pPr>
            <a:r>
              <a:rPr sz="1050" b="1">
                <a:solidFill>
                  <a:srgbClr val="12305B"/>
                </a:solidFill>
                <a:latin typeface="Segoe UI"/>
              </a:rPr>
              <a:t>Audit trail</a:t>
            </a:r>
          </a:p>
          <a:p>
            <a:pPr algn="l">
              <a:lnSpc>
                <a:spcPct val="110000"/>
              </a:lnSpc>
              <a:spcBef>
                <a:spcPts val="200"/>
              </a:spcBef>
            </a:pPr>
            <a:r>
              <a:rPr sz="900" b="0">
                <a:solidFill>
                  <a:srgbClr val="5A6672"/>
                </a:solidFill>
                <a:latin typeface="Segoe UI"/>
              </a:rPr>
              <a:t>batch_id on every row answers 'which load produced this?'</a:t>
            </a:r>
          </a:p>
        </p:txBody>
      </p:sp>
      <p:sp>
        <p:nvSpPr>
          <p:cNvPr id="33" name="Rounded Rectangle 32"/>
          <p:cNvSpPr/>
          <p:nvPr/>
        </p:nvSpPr>
        <p:spPr>
          <a:xfrm>
            <a:off x="502920" y="5440680"/>
            <a:ext cx="11201400" cy="960120"/>
          </a:xfrm>
          <a:prstGeom prst="roundRect">
            <a:avLst>
              <a:gd name="adj" fmla="val 6000"/>
            </a:avLst>
          </a:prstGeom>
          <a:solidFill>
            <a:srgbClr val="FDF0EE"/>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596128"/>
            <a:ext cx="10607040" cy="777240"/>
          </a:xfrm>
          <a:prstGeom prst="rect">
            <a:avLst/>
          </a:prstGeom>
          <a:noFill/>
        </p:spPr>
        <p:txBody>
          <a:bodyPr wrap="square" anchor="t" lIns="0" rIns="0" tIns="0" bIns="0">
            <a:spAutoFit/>
          </a:bodyPr>
          <a:lstStyle/>
          <a:p>
            <a:pPr algn="l">
              <a:lnSpc>
                <a:spcPct val="115000"/>
              </a:lnSpc>
              <a:spcBef>
                <a:spcPts val="0"/>
              </a:spcBef>
            </a:pPr>
            <a:r>
              <a:rPr sz="1200" b="1">
                <a:solidFill>
                  <a:srgbClr val="C0392B"/>
                </a:solidFill>
                <a:latin typeface="Segoe UI"/>
              </a:rPr>
              <a:t>Four controls cannot be built on this dataset, and each names what it needs. </a:t>
            </a:r>
          </a:p>
          <a:p>
            <a:pPr algn="l">
              <a:lnSpc>
                <a:spcPct val="115000"/>
              </a:lnSpc>
              <a:spcBef>
                <a:spcPts val="400"/>
              </a:spcBef>
            </a:pPr>
            <a:r>
              <a:rPr sz="1050" b="0">
                <a:solidFill>
                  <a:srgbClr val="12203A"/>
                </a:solidFill>
                <a:latin typeface="Segoe UI"/>
              </a:rPr>
              <a:t>Duplicate redemption — voucher_id is unique by construction, so a duplicate cannot appear; needs the raw redemption event log with failed attempts.   Geographic anomaly — needs transaction location and timestamp, not static merchant province.   PIN misuse — needs PIN, attempt outcome and failure reason.   Customer velocity — needs a customer or session identifier, which does not exist in any of the four files.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Deployed to Microsoft Fabric</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Provisioned by API, authenticated without stored secrets</a:t>
            </a:r>
          </a:p>
        </p:txBody>
      </p:sp>
      <p:sp>
        <p:nvSpPr>
          <p:cNvPr id="6" name="Rounded Rectangle 5"/>
          <p:cNvSpPr/>
          <p:nvPr/>
        </p:nvSpPr>
        <p:spPr>
          <a:xfrm>
            <a:off x="502920" y="1280160"/>
            <a:ext cx="5486400" cy="3246120"/>
          </a:xfrm>
          <a:prstGeom prst="roundRect">
            <a:avLst>
              <a:gd name="adj" fmla="val 6000"/>
            </a:avLst>
          </a:prstGeom>
          <a:solidFill>
            <a:srgbClr val="EFF9F2"/>
          </a:solidFill>
          <a:ln w="9525">
            <a:solidFill>
              <a:srgbClr val="1E84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63040"/>
            <a:ext cx="4937760" cy="274320"/>
          </a:xfrm>
          <a:prstGeom prst="rect">
            <a:avLst/>
          </a:prstGeom>
          <a:noFill/>
        </p:spPr>
        <p:txBody>
          <a:bodyPr wrap="square" anchor="t" lIns="0" rIns="0" tIns="0" bIns="0">
            <a:spAutoFit/>
          </a:bodyPr>
          <a:lstStyle/>
          <a:p>
            <a:pPr algn="l">
              <a:lnSpc>
                <a:spcPct val="100000"/>
              </a:lnSpc>
              <a:spcBef>
                <a:spcPts val="0"/>
              </a:spcBef>
            </a:pPr>
            <a:r>
              <a:rPr sz="1500" b="1">
                <a:solidFill>
                  <a:srgbClr val="1E8449"/>
                </a:solidFill>
                <a:latin typeface="Segoe UI"/>
              </a:rPr>
              <a:t>Provisioned and verified</a:t>
            </a:r>
          </a:p>
        </p:txBody>
      </p:sp>
      <p:sp>
        <p:nvSpPr>
          <p:cNvPr id="8" name="TextBox 7"/>
          <p:cNvSpPr txBox="1"/>
          <p:nvPr/>
        </p:nvSpPr>
        <p:spPr>
          <a:xfrm>
            <a:off x="822960" y="1828800"/>
            <a:ext cx="4937760" cy="2468880"/>
          </a:xfrm>
          <a:prstGeom prst="rect">
            <a:avLst/>
          </a:prstGeom>
          <a:noFill/>
        </p:spPr>
        <p:txBody>
          <a:bodyPr wrap="square" anchor="t" lIns="0" rIns="0" tIns="0" bIns="0">
            <a:spAutoFit/>
          </a:bodyPr>
          <a:lstStyle/>
          <a:p>
            <a:pPr algn="l">
              <a:lnSpc>
                <a:spcPct val="115000"/>
              </a:lnSpc>
              <a:spcBef>
                <a:spcPts val="800"/>
              </a:spcBef>
            </a:pPr>
            <a:r>
              <a:rPr sz="1150" b="0">
                <a:solidFill>
                  <a:srgbClr val="12203A"/>
                </a:solidFill>
                <a:latin typeface="Segoe UI"/>
              </a:rPr>
              <a:t>Workspace and Lakehouse
WS_MerchantVoucher with LH_MerchantVoucher holding the medallion layers in OneLake</a:t>
            </a:r>
          </a:p>
          <a:p>
            <a:pPr algn="l">
              <a:lnSpc>
                <a:spcPct val="115000"/>
              </a:lnSpc>
              <a:spcBef>
                <a:spcPts val="800"/>
              </a:spcBef>
            </a:pPr>
            <a:r>
              <a:rPr sz="1150" b="0">
                <a:solidFill>
                  <a:srgbClr val="12203A"/>
                </a:solidFill>
                <a:latin typeface="Segoe UI"/>
              </a:rPr>
              <a:t>Warehouse
WH_MerchantVoucher, provisioned through the Fabric REST API</a:t>
            </a:r>
          </a:p>
          <a:p>
            <a:pPr algn="l">
              <a:lnSpc>
                <a:spcPct val="115000"/>
              </a:lnSpc>
              <a:spcBef>
                <a:spcPts val="800"/>
              </a:spcBef>
            </a:pPr>
            <a:r>
              <a:rPr sz="1150" b="0">
                <a:solidFill>
                  <a:srgbClr val="12203A"/>
                </a:solidFill>
                <a:latin typeface="Segoe UI"/>
              </a:rPr>
              <a:t>Medallion pipeline
ZIP to bronze to silver to gold, four notebooks, completed in 5m 54s</a:t>
            </a:r>
          </a:p>
          <a:p>
            <a:pPr algn="l">
              <a:lnSpc>
                <a:spcPct val="115000"/>
              </a:lnSpc>
              <a:spcBef>
                <a:spcPts val="800"/>
              </a:spcBef>
            </a:pPr>
            <a:r>
              <a:rPr sz="1150" b="0">
                <a:solidFill>
                  <a:srgbClr val="12203A"/>
                </a:solidFill>
                <a:latin typeface="Segoe UI"/>
              </a:rPr>
              <a:t>Gold in the Warehouse
26,500 sales rows, 120,969 vouchers, R65,521,298.75 — ties to the cent</a:t>
            </a:r>
          </a:p>
          <a:p>
            <a:pPr algn="l">
              <a:lnSpc>
                <a:spcPct val="115000"/>
              </a:lnSpc>
              <a:spcBef>
                <a:spcPts val="800"/>
              </a:spcBef>
            </a:pPr>
            <a:r>
              <a:rPr sz="1150" b="0">
                <a:solidFill>
                  <a:srgbClr val="12203A"/>
                </a:solidFill>
                <a:latin typeface="Segoe UI"/>
              </a:rPr>
              <a:t>Authentication
az login CLI token — no service principal, no stored secret</a:t>
            </a:r>
          </a:p>
        </p:txBody>
      </p:sp>
      <p:sp>
        <p:nvSpPr>
          <p:cNvPr id="9" name="Rounded Rectangle 8"/>
          <p:cNvSpPr/>
          <p:nvPr/>
        </p:nvSpPr>
        <p:spPr>
          <a:xfrm>
            <a:off x="6217920" y="1280160"/>
            <a:ext cx="5486400" cy="3246120"/>
          </a:xfrm>
          <a:prstGeom prst="roundRect">
            <a:avLst>
              <a:gd name="adj" fmla="val 6000"/>
            </a:avLst>
          </a:prstGeom>
          <a:solidFill>
            <a:srgbClr val="EEF3F9"/>
          </a:solidFill>
          <a:ln w="9525">
            <a:solidFill>
              <a:srgbClr val="0E8B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463040"/>
            <a:ext cx="4937760" cy="274320"/>
          </a:xfrm>
          <a:prstGeom prst="rect">
            <a:avLst/>
          </a:prstGeom>
          <a:noFill/>
        </p:spPr>
        <p:txBody>
          <a:bodyPr wrap="square" anchor="t" lIns="0" rIns="0" tIns="0" bIns="0">
            <a:spAutoFit/>
          </a:bodyPr>
          <a:lstStyle/>
          <a:p>
            <a:pPr algn="l">
              <a:lnSpc>
                <a:spcPct val="100000"/>
              </a:lnSpc>
              <a:spcBef>
                <a:spcPts val="0"/>
              </a:spcBef>
            </a:pPr>
            <a:r>
              <a:rPr sz="1500" b="1">
                <a:solidFill>
                  <a:srgbClr val="0E8B8B"/>
                </a:solidFill>
                <a:latin typeface="Segoe UI"/>
              </a:rPr>
              <a:t>Built to run on either engine</a:t>
            </a:r>
          </a:p>
        </p:txBody>
      </p:sp>
      <p:sp>
        <p:nvSpPr>
          <p:cNvPr id="11" name="TextBox 10"/>
          <p:cNvSpPr txBox="1"/>
          <p:nvPr/>
        </p:nvSpPr>
        <p:spPr>
          <a:xfrm>
            <a:off x="6537960" y="1828800"/>
            <a:ext cx="4937760" cy="2468880"/>
          </a:xfrm>
          <a:prstGeom prst="rect">
            <a:avLst/>
          </a:prstGeom>
          <a:noFill/>
        </p:spPr>
        <p:txBody>
          <a:bodyPr wrap="square" anchor="t" lIns="0" rIns="0" tIns="0" bIns="0">
            <a:spAutoFit/>
          </a:bodyPr>
          <a:lstStyle/>
          <a:p>
            <a:pPr algn="l">
              <a:lnSpc>
                <a:spcPct val="115000"/>
              </a:lnSpc>
              <a:spcBef>
                <a:spcPts val="0"/>
              </a:spcBef>
            </a:pPr>
            <a:r>
              <a:rPr sz="1250" b="1">
                <a:solidFill>
                  <a:srgbClr val="0E8B8B"/>
                </a:solidFill>
                <a:latin typeface="Segoe UI"/>
              </a:rPr>
              <a:t>One codebase, two targets.</a:t>
            </a:r>
          </a:p>
          <a:p>
            <a:pPr algn="l">
              <a:lnSpc>
                <a:spcPct val="115000"/>
              </a:lnSpc>
              <a:spcBef>
                <a:spcPts val="600"/>
              </a:spcBef>
            </a:pPr>
            <a:r>
              <a:rPr sz="1150" b="0">
                <a:solidFill>
                  <a:srgbClr val="12203A"/>
                </a:solidFill>
                <a:latin typeface="Segoe UI"/>
              </a:rPr>
              <a:t>Development runs against a local analytical engine — seconds per build, no cloud cost — and production targets the Fabric Warehouse through dbt-fabric. The project and the models are the same; only the adapter changes.</a:t>
            </a:r>
          </a:p>
          <a:p>
            <a:pPr algn="l">
              <a:lnSpc>
                <a:spcPct val="115000"/>
              </a:lnSpc>
              <a:spcBef>
                <a:spcPts val="600"/>
              </a:spcBef>
            </a:pPr>
            <a:r>
              <a:rPr sz="1150" b="0">
                <a:solidFill>
                  <a:srgbClr val="12203A"/>
                </a:solidFill>
                <a:latin typeface="Segoe UI"/>
              </a:rPr>
              <a:t>Dialect differences are handled in a portability macro layer rather than by maintaining two copies of the SQL: mvi_datediff, mvi_bool, mvi_median, mvi_percentile and mvi_arg_max dispatch per adapter.</a:t>
            </a:r>
          </a:p>
          <a:p>
            <a:pPr algn="l">
              <a:lnSpc>
                <a:spcPct val="115000"/>
              </a:lnSpc>
              <a:spcBef>
                <a:spcPts val="600"/>
              </a:spcBef>
            </a:pPr>
            <a:r>
              <a:rPr sz="1150" b="0">
                <a:solidFill>
                  <a:srgbClr val="5A6672"/>
                </a:solidFill>
                <a:latin typeface="Segoe UI"/>
              </a:rPr>
              <a:t>Verified by connecting and running against the warehouse, not assumed.</a:t>
            </a:r>
          </a:p>
        </p:txBody>
      </p:sp>
      <p:sp>
        <p:nvSpPr>
          <p:cNvPr id="12" name="Rounded Rectangle 11"/>
          <p:cNvSpPr/>
          <p:nvPr/>
        </p:nvSpPr>
        <p:spPr>
          <a:xfrm>
            <a:off x="502920" y="4572000"/>
            <a:ext cx="11201400" cy="1828800"/>
          </a:xfrm>
          <a:prstGeom prst="roundRect">
            <a:avLst>
              <a:gd name="adj" fmla="val 6000"/>
            </a:avLst>
          </a:prstGeom>
          <a:solidFill>
            <a:srgbClr val="EEF3F9"/>
          </a:solidFill>
          <a:ln w="9525">
            <a:solidFill>
              <a:srgbClr val="123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800600"/>
            <a:ext cx="10515600" cy="1463040"/>
          </a:xfrm>
          <a:prstGeom prst="rect">
            <a:avLst/>
          </a:prstGeom>
          <a:noFill/>
        </p:spPr>
        <p:txBody>
          <a:bodyPr wrap="square" anchor="t" lIns="0" rIns="0" tIns="0" bIns="0">
            <a:spAutoFit/>
          </a:bodyPr>
          <a:lstStyle/>
          <a:p>
            <a:pPr algn="l">
              <a:lnSpc>
                <a:spcPct val="120000"/>
              </a:lnSpc>
              <a:spcBef>
                <a:spcPts val="0"/>
              </a:spcBef>
            </a:pPr>
            <a:r>
              <a:rPr sz="1400" b="1">
                <a:solidFill>
                  <a:srgbClr val="12305B"/>
                </a:solidFill>
                <a:latin typeface="Segoe UI"/>
              </a:rPr>
              <a:t>Cost control, because unattended compute does not stop on its own</a:t>
            </a:r>
          </a:p>
          <a:p>
            <a:pPr algn="l">
              <a:lnSpc>
                <a:spcPct val="120000"/>
              </a:lnSpc>
              <a:spcBef>
                <a:spcPts val="600"/>
              </a:spcBef>
            </a:pPr>
            <a:r>
              <a:rPr sz="1200" b="0">
                <a:solidFill>
                  <a:srgbClr val="12203A"/>
                </a:solidFill>
                <a:latin typeface="Segoe UI"/>
              </a:rPr>
              <a:t>The daily trigger ships DISABLED with a hard end date of 2026-10-03 — one week before the capacity is due to be released. fabric_cost_guard.py --check / --stop / --nuke is the kill switch: it inventories every item, flags always-on item types that bill continuously rather than per run, and two scheduled tasks watch the clock. Deleting the workspace costs nothing irreplaceable — run_all.py rebuilds the entire warehouse locally in about two minutes.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Recommendations</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Ranked by revenue at risk, not by severity of decline</a:t>
            </a:r>
          </a:p>
        </p:txBody>
      </p:sp>
      <p:sp>
        <p:nvSpPr>
          <p:cNvPr id="6" name="Rounded Rectangle 5"/>
          <p:cNvSpPr/>
          <p:nvPr/>
        </p:nvSpPr>
        <p:spPr>
          <a:xfrm>
            <a:off x="502920" y="1280160"/>
            <a:ext cx="11201400" cy="941832"/>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44751"/>
            <a:ext cx="502920" cy="566928"/>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54480"/>
            <a:ext cx="502920" cy="320040"/>
          </a:xfrm>
          <a:prstGeom prst="rect">
            <a:avLst/>
          </a:prstGeom>
          <a:noFill/>
        </p:spPr>
        <p:txBody>
          <a:bodyPr wrap="square" anchor="t" lIns="0" rIns="0" tIns="0" bIns="0">
            <a:spAutoFit/>
          </a:bodyPr>
          <a:lstStyle/>
          <a:p>
            <a:pPr algn="ctr">
              <a:lnSpc>
                <a:spcPct val="100000"/>
              </a:lnSpc>
              <a:spcBef>
                <a:spcPts val="0"/>
              </a:spcBef>
            </a:pPr>
            <a:r>
              <a:rPr sz="1700" b="1">
                <a:solidFill>
                  <a:srgbClr val="FFFFFF"/>
                </a:solidFill>
                <a:latin typeface="Segoe UI"/>
              </a:rPr>
              <a:t>1</a:t>
            </a:r>
          </a:p>
        </p:txBody>
      </p:sp>
      <p:sp>
        <p:nvSpPr>
          <p:cNvPr id="9" name="TextBox 8"/>
          <p:cNvSpPr txBox="1"/>
          <p:nvPr/>
        </p:nvSpPr>
        <p:spPr>
          <a:xfrm>
            <a:off x="1325880" y="1408176"/>
            <a:ext cx="4572000" cy="274320"/>
          </a:xfrm>
          <a:prstGeom prst="rect">
            <a:avLst/>
          </a:prstGeom>
          <a:noFill/>
        </p:spPr>
        <p:txBody>
          <a:bodyPr wrap="square" anchor="t" lIns="0" rIns="0" tIns="0" bIns="0">
            <a:spAutoFit/>
          </a:bodyPr>
          <a:lstStyle/>
          <a:p>
            <a:pPr algn="l">
              <a:lnSpc>
                <a:spcPct val="100000"/>
              </a:lnSpc>
              <a:spcBef>
                <a:spcPts val="0"/>
              </a:spcBef>
            </a:pPr>
            <a:r>
              <a:rPr sz="1350" b="1">
                <a:solidFill>
                  <a:srgbClr val="12305B"/>
                </a:solidFill>
                <a:latin typeface="Segoe UI"/>
              </a:rPr>
              <a:t>Site visit to Umhlanga Value Mart this week</a:t>
            </a:r>
          </a:p>
        </p:txBody>
      </p:sp>
      <p:sp>
        <p:nvSpPr>
          <p:cNvPr id="10" name="TextBox 9"/>
          <p:cNvSpPr txBox="1"/>
          <p:nvPr/>
        </p:nvSpPr>
        <p:spPr>
          <a:xfrm>
            <a:off x="1325880" y="1737360"/>
            <a:ext cx="7863840" cy="411480"/>
          </a:xfrm>
          <a:prstGeom prst="rect">
            <a:avLst/>
          </a:prstGeom>
          <a:noFill/>
        </p:spPr>
        <p:txBody>
          <a:bodyPr wrap="square" anchor="t" lIns="0" rIns="0" tIns="0" bIns="0">
            <a:spAutoFit/>
          </a:bodyPr>
          <a:lstStyle/>
          <a:p>
            <a:pPr algn="l">
              <a:lnSpc>
                <a:spcPct val="110000"/>
              </a:lnSpc>
              <a:spcBef>
                <a:spcPts val="0"/>
              </a:spcBef>
            </a:pPr>
            <a:r>
              <a:rPr sz="1050" b="0">
                <a:solidFill>
                  <a:srgbClr val="5A6672"/>
                </a:solidFill>
                <a:latin typeface="Segoe UI"/>
              </a:rPr>
              <a:t>Sales −42.5% and tickets +693% in the same month — operational failure causing commercial damage, which means it is plausibly recoverable</a:t>
            </a:r>
          </a:p>
        </p:txBody>
      </p:sp>
      <p:sp>
        <p:nvSpPr>
          <p:cNvPr id="11" name="TextBox 10"/>
          <p:cNvSpPr txBox="1"/>
          <p:nvPr/>
        </p:nvSpPr>
        <p:spPr>
          <a:xfrm>
            <a:off x="9418320" y="1554480"/>
            <a:ext cx="2103120" cy="365760"/>
          </a:xfrm>
          <a:prstGeom prst="rect">
            <a:avLst/>
          </a:prstGeom>
          <a:noFill/>
        </p:spPr>
        <p:txBody>
          <a:bodyPr wrap="square" anchor="t" lIns="0" rIns="0" tIns="0" bIns="0">
            <a:spAutoFit/>
          </a:bodyPr>
          <a:lstStyle/>
          <a:p>
            <a:pPr algn="r">
              <a:lnSpc>
                <a:spcPct val="100000"/>
              </a:lnSpc>
              <a:spcBef>
                <a:spcPts val="0"/>
              </a:spcBef>
            </a:pPr>
            <a:r>
              <a:rPr sz="1400" b="1">
                <a:solidFill>
                  <a:srgbClr val="C0392B"/>
                </a:solidFill>
                <a:latin typeface="Segoe UI"/>
              </a:rPr>
              <a:t>R571,518</a:t>
            </a:r>
          </a:p>
        </p:txBody>
      </p:sp>
      <p:sp>
        <p:nvSpPr>
          <p:cNvPr id="12" name="Rounded Rectangle 11"/>
          <p:cNvSpPr/>
          <p:nvPr/>
        </p:nvSpPr>
        <p:spPr>
          <a:xfrm>
            <a:off x="502920" y="2313432"/>
            <a:ext cx="11201400" cy="941832"/>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478024"/>
            <a:ext cx="502920" cy="566928"/>
          </a:xfrm>
          <a:prstGeom prst="round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587751"/>
            <a:ext cx="502920" cy="320040"/>
          </a:xfrm>
          <a:prstGeom prst="rect">
            <a:avLst/>
          </a:prstGeom>
          <a:noFill/>
        </p:spPr>
        <p:txBody>
          <a:bodyPr wrap="square" anchor="t" lIns="0" rIns="0" tIns="0" bIns="0">
            <a:spAutoFit/>
          </a:bodyPr>
          <a:lstStyle/>
          <a:p>
            <a:pPr algn="ctr">
              <a:lnSpc>
                <a:spcPct val="100000"/>
              </a:lnSpc>
              <a:spcBef>
                <a:spcPts val="0"/>
              </a:spcBef>
            </a:pPr>
            <a:r>
              <a:rPr sz="1700" b="1">
                <a:solidFill>
                  <a:srgbClr val="FFFFFF"/>
                </a:solidFill>
                <a:latin typeface="Segoe UI"/>
              </a:rPr>
              <a:t>2</a:t>
            </a:r>
          </a:p>
        </p:txBody>
      </p:sp>
      <p:sp>
        <p:nvSpPr>
          <p:cNvPr id="15" name="TextBox 14"/>
          <p:cNvSpPr txBox="1"/>
          <p:nvPr/>
        </p:nvSpPr>
        <p:spPr>
          <a:xfrm>
            <a:off x="1325880" y="2441448"/>
            <a:ext cx="4572000" cy="274320"/>
          </a:xfrm>
          <a:prstGeom prst="rect">
            <a:avLst/>
          </a:prstGeom>
          <a:noFill/>
        </p:spPr>
        <p:txBody>
          <a:bodyPr wrap="square" anchor="t" lIns="0" rIns="0" tIns="0" bIns="0">
            <a:spAutoFit/>
          </a:bodyPr>
          <a:lstStyle/>
          <a:p>
            <a:pPr algn="l">
              <a:lnSpc>
                <a:spcPct val="100000"/>
              </a:lnSpc>
              <a:spcBef>
                <a:spcPts val="0"/>
              </a:spcBef>
            </a:pPr>
            <a:r>
              <a:rPr sz="1350" b="1">
                <a:solidFill>
                  <a:srgbClr val="12305B"/>
                </a:solidFill>
                <a:latin typeface="Segoe UI"/>
              </a:rPr>
              <a:t>Re-base the SLA policy</a:t>
            </a:r>
          </a:p>
        </p:txBody>
      </p:sp>
      <p:sp>
        <p:nvSpPr>
          <p:cNvPr id="16" name="TextBox 15"/>
          <p:cNvSpPr txBox="1"/>
          <p:nvPr/>
        </p:nvSpPr>
        <p:spPr>
          <a:xfrm>
            <a:off x="1325880" y="2770632"/>
            <a:ext cx="7863840" cy="411480"/>
          </a:xfrm>
          <a:prstGeom prst="rect">
            <a:avLst/>
          </a:prstGeom>
          <a:noFill/>
        </p:spPr>
        <p:txBody>
          <a:bodyPr wrap="square" anchor="t" lIns="0" rIns="0" tIns="0" bIns="0">
            <a:spAutoFit/>
          </a:bodyPr>
          <a:lstStyle/>
          <a:p>
            <a:pPr algn="l">
              <a:lnSpc>
                <a:spcPct val="110000"/>
              </a:lnSpc>
              <a:spcBef>
                <a:spcPts val="0"/>
              </a:spcBef>
            </a:pPr>
            <a:r>
              <a:rPr sz="1050" b="0">
                <a:solidFill>
                  <a:srgbClr val="5A6672"/>
                </a:solidFill>
                <a:latin typeface="Segoe UI"/>
              </a:rPr>
              <a:t>94.7% of breaches come from Critical/High because targets run inverse to workload. A 90th-percentile-compliant Critical SLA would be ~120h</a:t>
            </a:r>
          </a:p>
        </p:txBody>
      </p:sp>
      <p:sp>
        <p:nvSpPr>
          <p:cNvPr id="17" name="TextBox 16"/>
          <p:cNvSpPr txBox="1"/>
          <p:nvPr/>
        </p:nvSpPr>
        <p:spPr>
          <a:xfrm>
            <a:off x="9418320" y="2587751"/>
            <a:ext cx="2103120" cy="365760"/>
          </a:xfrm>
          <a:prstGeom prst="rect">
            <a:avLst/>
          </a:prstGeom>
          <a:noFill/>
        </p:spPr>
        <p:txBody>
          <a:bodyPr wrap="square" anchor="t" lIns="0" rIns="0" tIns="0" bIns="0">
            <a:spAutoFit/>
          </a:bodyPr>
          <a:lstStyle/>
          <a:p>
            <a:pPr algn="r">
              <a:lnSpc>
                <a:spcPct val="100000"/>
              </a:lnSpc>
              <a:spcBef>
                <a:spcPts val="0"/>
              </a:spcBef>
            </a:pPr>
            <a:r>
              <a:rPr sz="1400" b="1">
                <a:solidFill>
                  <a:srgbClr val="E8A317"/>
                </a:solidFill>
                <a:latin typeface="Segoe UI"/>
              </a:rPr>
              <a:t>Restores the metric</a:t>
            </a:r>
          </a:p>
        </p:txBody>
      </p:sp>
      <p:sp>
        <p:nvSpPr>
          <p:cNvPr id="18" name="Rounded Rectangle 17"/>
          <p:cNvSpPr/>
          <p:nvPr/>
        </p:nvSpPr>
        <p:spPr>
          <a:xfrm>
            <a:off x="502920" y="3346703"/>
            <a:ext cx="11201400" cy="941832"/>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 y="3511296"/>
            <a:ext cx="502920" cy="566928"/>
          </a:xfrm>
          <a:prstGeom prst="round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621023"/>
            <a:ext cx="502920" cy="320040"/>
          </a:xfrm>
          <a:prstGeom prst="rect">
            <a:avLst/>
          </a:prstGeom>
          <a:noFill/>
        </p:spPr>
        <p:txBody>
          <a:bodyPr wrap="square" anchor="t" lIns="0" rIns="0" tIns="0" bIns="0">
            <a:spAutoFit/>
          </a:bodyPr>
          <a:lstStyle/>
          <a:p>
            <a:pPr algn="ctr">
              <a:lnSpc>
                <a:spcPct val="100000"/>
              </a:lnSpc>
              <a:spcBef>
                <a:spcPts val="0"/>
              </a:spcBef>
            </a:pPr>
            <a:r>
              <a:rPr sz="1700" b="1">
                <a:solidFill>
                  <a:srgbClr val="FFFFFF"/>
                </a:solidFill>
                <a:latin typeface="Segoe UI"/>
              </a:rPr>
              <a:t>3</a:t>
            </a:r>
          </a:p>
        </p:txBody>
      </p:sp>
      <p:sp>
        <p:nvSpPr>
          <p:cNvPr id="21" name="TextBox 20"/>
          <p:cNvSpPr txBox="1"/>
          <p:nvPr/>
        </p:nvSpPr>
        <p:spPr>
          <a:xfrm>
            <a:off x="1325880" y="3474720"/>
            <a:ext cx="4572000" cy="274320"/>
          </a:xfrm>
          <a:prstGeom prst="rect">
            <a:avLst/>
          </a:prstGeom>
          <a:noFill/>
        </p:spPr>
        <p:txBody>
          <a:bodyPr wrap="square" anchor="t" lIns="0" rIns="0" tIns="0" bIns="0">
            <a:spAutoFit/>
          </a:bodyPr>
          <a:lstStyle/>
          <a:p>
            <a:pPr algn="l">
              <a:lnSpc>
                <a:spcPct val="100000"/>
              </a:lnSpc>
              <a:spcBef>
                <a:spcPts val="0"/>
              </a:spcBef>
            </a:pPr>
            <a:r>
              <a:rPr sz="1350" b="1">
                <a:solidFill>
                  <a:srgbClr val="12305B"/>
                </a:solidFill>
                <a:latin typeface="Segoe UI"/>
              </a:rPr>
              <a:t>Root-cause Durban Cash Hub's ticket volume</a:t>
            </a:r>
          </a:p>
        </p:txBody>
      </p:sp>
      <p:sp>
        <p:nvSpPr>
          <p:cNvPr id="22" name="TextBox 21"/>
          <p:cNvSpPr txBox="1"/>
          <p:nvPr/>
        </p:nvSpPr>
        <p:spPr>
          <a:xfrm>
            <a:off x="1325880" y="3803904"/>
            <a:ext cx="7863840" cy="411480"/>
          </a:xfrm>
          <a:prstGeom prst="rect">
            <a:avLst/>
          </a:prstGeom>
          <a:noFill/>
        </p:spPr>
        <p:txBody>
          <a:bodyPr wrap="square" anchor="t" lIns="0" rIns="0" tIns="0" bIns="0">
            <a:spAutoFit/>
          </a:bodyPr>
          <a:lstStyle/>
          <a:p>
            <a:pPr algn="l">
              <a:lnSpc>
                <a:spcPct val="110000"/>
              </a:lnSpc>
              <a:spcBef>
                <a:spcPts val="0"/>
              </a:spcBef>
            </a:pPr>
            <a:r>
              <a:rPr sz="1050" b="0">
                <a:solidFill>
                  <a:srgbClr val="5A6672"/>
                </a:solidFill>
                <a:latin typeface="Segoe UI"/>
              </a:rPr>
              <a:t>+780% tickets on the largest merchant in the book while sales still grow — a service problem that has not yet become a commercial one</a:t>
            </a:r>
          </a:p>
        </p:txBody>
      </p:sp>
      <p:sp>
        <p:nvSpPr>
          <p:cNvPr id="23" name="TextBox 22"/>
          <p:cNvSpPr txBox="1"/>
          <p:nvPr/>
        </p:nvSpPr>
        <p:spPr>
          <a:xfrm>
            <a:off x="9418320" y="3621023"/>
            <a:ext cx="2103120" cy="365760"/>
          </a:xfrm>
          <a:prstGeom prst="rect">
            <a:avLst/>
          </a:prstGeom>
          <a:noFill/>
        </p:spPr>
        <p:txBody>
          <a:bodyPr wrap="square" anchor="t" lIns="0" rIns="0" tIns="0" bIns="0">
            <a:spAutoFit/>
          </a:bodyPr>
          <a:lstStyle/>
          <a:p>
            <a:pPr algn="r">
              <a:lnSpc>
                <a:spcPct val="100000"/>
              </a:lnSpc>
              <a:spcBef>
                <a:spcPts val="0"/>
              </a:spcBef>
            </a:pPr>
            <a:r>
              <a:rPr sz="1400" b="1">
                <a:solidFill>
                  <a:srgbClr val="12305B"/>
                </a:solidFill>
                <a:latin typeface="Segoe UI"/>
              </a:rPr>
              <a:t>R5.8m</a:t>
            </a:r>
          </a:p>
        </p:txBody>
      </p:sp>
      <p:sp>
        <p:nvSpPr>
          <p:cNvPr id="24" name="Rounded Rectangle 23"/>
          <p:cNvSpPr/>
          <p:nvPr/>
        </p:nvSpPr>
        <p:spPr>
          <a:xfrm>
            <a:off x="502920" y="4379975"/>
            <a:ext cx="11201400" cy="941832"/>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080" y="4544567"/>
            <a:ext cx="502920" cy="566928"/>
          </a:xfrm>
          <a:prstGeom prst="roundRect">
            <a:avLst/>
          </a:prstGeom>
          <a:solidFill>
            <a:srgbClr val="0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654295"/>
            <a:ext cx="502920" cy="320040"/>
          </a:xfrm>
          <a:prstGeom prst="rect">
            <a:avLst/>
          </a:prstGeom>
          <a:noFill/>
        </p:spPr>
        <p:txBody>
          <a:bodyPr wrap="square" anchor="t" lIns="0" rIns="0" tIns="0" bIns="0">
            <a:spAutoFit/>
          </a:bodyPr>
          <a:lstStyle/>
          <a:p>
            <a:pPr algn="ctr">
              <a:lnSpc>
                <a:spcPct val="100000"/>
              </a:lnSpc>
              <a:spcBef>
                <a:spcPts val="0"/>
              </a:spcBef>
            </a:pPr>
            <a:r>
              <a:rPr sz="1700" b="1">
                <a:solidFill>
                  <a:srgbClr val="FFFFFF"/>
                </a:solidFill>
                <a:latin typeface="Segoe UI"/>
              </a:rPr>
              <a:t>4</a:t>
            </a:r>
          </a:p>
        </p:txBody>
      </p:sp>
      <p:sp>
        <p:nvSpPr>
          <p:cNvPr id="27" name="TextBox 26"/>
          <p:cNvSpPr txBox="1"/>
          <p:nvPr/>
        </p:nvSpPr>
        <p:spPr>
          <a:xfrm>
            <a:off x="1325880" y="4507991"/>
            <a:ext cx="4572000" cy="274320"/>
          </a:xfrm>
          <a:prstGeom prst="rect">
            <a:avLst/>
          </a:prstGeom>
          <a:noFill/>
        </p:spPr>
        <p:txBody>
          <a:bodyPr wrap="square" anchor="t" lIns="0" rIns="0" tIns="0" bIns="0">
            <a:spAutoFit/>
          </a:bodyPr>
          <a:lstStyle/>
          <a:p>
            <a:pPr algn="l">
              <a:lnSpc>
                <a:spcPct val="100000"/>
              </a:lnSpc>
              <a:spcBef>
                <a:spcPts val="0"/>
              </a:spcBef>
            </a:pPr>
            <a:r>
              <a:rPr sz="1350" b="1">
                <a:solidFill>
                  <a:srgbClr val="12305B"/>
                </a:solidFill>
                <a:latin typeface="Segoe UI"/>
              </a:rPr>
              <a:t>Eastern Cape regional review</a:t>
            </a:r>
          </a:p>
        </p:txBody>
      </p:sp>
      <p:sp>
        <p:nvSpPr>
          <p:cNvPr id="28" name="TextBox 27"/>
          <p:cNvSpPr txBox="1"/>
          <p:nvPr/>
        </p:nvSpPr>
        <p:spPr>
          <a:xfrm>
            <a:off x="1325880" y="4837175"/>
            <a:ext cx="7863840" cy="411480"/>
          </a:xfrm>
          <a:prstGeom prst="rect">
            <a:avLst/>
          </a:prstGeom>
          <a:noFill/>
        </p:spPr>
        <p:txBody>
          <a:bodyPr wrap="square" anchor="t" lIns="0" rIns="0" tIns="0" bIns="0">
            <a:spAutoFit/>
          </a:bodyPr>
          <a:lstStyle/>
          <a:p>
            <a:pPr algn="l">
              <a:lnSpc>
                <a:spcPct val="110000"/>
              </a:lnSpc>
              <a:spcBef>
                <a:spcPts val="0"/>
              </a:spcBef>
            </a:pPr>
            <a:r>
              <a:rPr sz="1050" b="0">
                <a:solidFill>
                  <a:srgbClr val="5A6672"/>
                </a:solidFill>
                <a:latin typeface="Segoe UI"/>
              </a:rPr>
              <a:t>The only region below its own peak; 3 of the 5 Critical/Watch merchants sit there</a:t>
            </a:r>
          </a:p>
        </p:txBody>
      </p:sp>
      <p:sp>
        <p:nvSpPr>
          <p:cNvPr id="29" name="TextBox 28"/>
          <p:cNvSpPr txBox="1"/>
          <p:nvPr/>
        </p:nvSpPr>
        <p:spPr>
          <a:xfrm>
            <a:off x="9418320" y="4654295"/>
            <a:ext cx="2103120" cy="365760"/>
          </a:xfrm>
          <a:prstGeom prst="rect">
            <a:avLst/>
          </a:prstGeom>
          <a:noFill/>
        </p:spPr>
        <p:txBody>
          <a:bodyPr wrap="square" anchor="t" lIns="0" rIns="0" tIns="0" bIns="0">
            <a:spAutoFit/>
          </a:bodyPr>
          <a:lstStyle/>
          <a:p>
            <a:pPr algn="r">
              <a:lnSpc>
                <a:spcPct val="100000"/>
              </a:lnSpc>
              <a:spcBef>
                <a:spcPts val="0"/>
              </a:spcBef>
            </a:pPr>
            <a:r>
              <a:rPr sz="1400" b="1">
                <a:solidFill>
                  <a:srgbClr val="0E8B8B"/>
                </a:solidFill>
                <a:latin typeface="Segoe UI"/>
              </a:rPr>
              <a:t>R8.8m</a:t>
            </a:r>
          </a:p>
        </p:txBody>
      </p:sp>
      <p:sp>
        <p:nvSpPr>
          <p:cNvPr id="30" name="Rounded Rectangle 29"/>
          <p:cNvSpPr/>
          <p:nvPr/>
        </p:nvSpPr>
        <p:spPr>
          <a:xfrm>
            <a:off x="502920" y="5413247"/>
            <a:ext cx="11201400" cy="941832"/>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0080" y="5577839"/>
            <a:ext cx="502920" cy="566928"/>
          </a:xfrm>
          <a:prstGeom prst="roundRect">
            <a:avLst/>
          </a:prstGeom>
          <a:solidFill>
            <a:srgbClr val="7B4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687567"/>
            <a:ext cx="502920" cy="320040"/>
          </a:xfrm>
          <a:prstGeom prst="rect">
            <a:avLst/>
          </a:prstGeom>
          <a:noFill/>
        </p:spPr>
        <p:txBody>
          <a:bodyPr wrap="square" anchor="t" lIns="0" rIns="0" tIns="0" bIns="0">
            <a:spAutoFit/>
          </a:bodyPr>
          <a:lstStyle/>
          <a:p>
            <a:pPr algn="ctr">
              <a:lnSpc>
                <a:spcPct val="100000"/>
              </a:lnSpc>
              <a:spcBef>
                <a:spcPts val="0"/>
              </a:spcBef>
            </a:pPr>
            <a:r>
              <a:rPr sz="1700" b="1">
                <a:solidFill>
                  <a:srgbClr val="FFFFFF"/>
                </a:solidFill>
                <a:latin typeface="Segoe UI"/>
              </a:rPr>
              <a:t>5</a:t>
            </a:r>
          </a:p>
        </p:txBody>
      </p:sp>
      <p:sp>
        <p:nvSpPr>
          <p:cNvPr id="33" name="TextBox 32"/>
          <p:cNvSpPr txBox="1"/>
          <p:nvPr/>
        </p:nvSpPr>
        <p:spPr>
          <a:xfrm>
            <a:off x="1325880" y="5541263"/>
            <a:ext cx="4572000" cy="274320"/>
          </a:xfrm>
          <a:prstGeom prst="rect">
            <a:avLst/>
          </a:prstGeom>
          <a:noFill/>
        </p:spPr>
        <p:txBody>
          <a:bodyPr wrap="square" anchor="t" lIns="0" rIns="0" tIns="0" bIns="0">
            <a:spAutoFit/>
          </a:bodyPr>
          <a:lstStyle/>
          <a:p>
            <a:pPr algn="l">
              <a:lnSpc>
                <a:spcPct val="100000"/>
              </a:lnSpc>
              <a:spcBef>
                <a:spcPts val="0"/>
              </a:spcBef>
            </a:pPr>
            <a:r>
              <a:rPr sz="1350" b="1">
                <a:solidFill>
                  <a:srgbClr val="12305B"/>
                </a:solidFill>
                <a:latin typeface="Segoe UI"/>
              </a:rPr>
              <a:t>Confirm the sales target basis with Finance</a:t>
            </a:r>
          </a:p>
        </p:txBody>
      </p:sp>
      <p:sp>
        <p:nvSpPr>
          <p:cNvPr id="34" name="TextBox 33"/>
          <p:cNvSpPr txBox="1"/>
          <p:nvPr/>
        </p:nvSpPr>
        <p:spPr>
          <a:xfrm>
            <a:off x="1325880" y="5870447"/>
            <a:ext cx="7863840" cy="411480"/>
          </a:xfrm>
          <a:prstGeom prst="rect">
            <a:avLst/>
          </a:prstGeom>
          <a:noFill/>
        </p:spPr>
        <p:txBody>
          <a:bodyPr wrap="square" anchor="t" lIns="0" rIns="0" tIns="0" bIns="0">
            <a:spAutoFit/>
          </a:bodyPr>
          <a:lstStyle/>
          <a:p>
            <a:pPr algn="l">
              <a:lnSpc>
                <a:spcPct val="110000"/>
              </a:lnSpc>
              <a:spcBef>
                <a:spcPts val="0"/>
              </a:spcBef>
            </a:pPr>
            <a:r>
              <a:rPr sz="1050" b="0">
                <a:solidFill>
                  <a:srgbClr val="5A6672"/>
                </a:solidFill>
                <a:latin typeface="Segoe UI"/>
              </a:rPr>
              <a:t>Targets sit ~6.1× below realised sales for ALL 25 merchants — a basis error, not outperformance</a:t>
            </a:r>
          </a:p>
        </p:txBody>
      </p:sp>
      <p:sp>
        <p:nvSpPr>
          <p:cNvPr id="35" name="TextBox 34"/>
          <p:cNvSpPr txBox="1"/>
          <p:nvPr/>
        </p:nvSpPr>
        <p:spPr>
          <a:xfrm>
            <a:off x="9418320" y="5687567"/>
            <a:ext cx="2103120" cy="365760"/>
          </a:xfrm>
          <a:prstGeom prst="rect">
            <a:avLst/>
          </a:prstGeom>
          <a:noFill/>
        </p:spPr>
        <p:txBody>
          <a:bodyPr wrap="square" anchor="t" lIns="0" rIns="0" tIns="0" bIns="0">
            <a:spAutoFit/>
          </a:bodyPr>
          <a:lstStyle/>
          <a:p>
            <a:pPr algn="r">
              <a:lnSpc>
                <a:spcPct val="100000"/>
              </a:lnSpc>
              <a:spcBef>
                <a:spcPts val="0"/>
              </a:spcBef>
            </a:pPr>
            <a:r>
              <a:rPr sz="1400" b="1">
                <a:solidFill>
                  <a:srgbClr val="7B4B94"/>
                </a:solidFill>
                <a:latin typeface="Segoe UI"/>
              </a:rPr>
              <a:t>Makes attainment reportable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8686800" cy="548640"/>
          </a:xfrm>
          <a:prstGeom prst="rect">
            <a:avLst/>
          </a:prstGeom>
          <a:noFill/>
        </p:spPr>
        <p:txBody>
          <a:bodyPr wrap="square" anchor="t" lIns="0" rIns="0" tIns="0" bIns="0">
            <a:spAutoFit/>
          </a:bodyPr>
          <a:lstStyle/>
          <a:p>
            <a:pPr algn="l">
              <a:lnSpc>
                <a:spcPct val="100000"/>
              </a:lnSpc>
              <a:spcBef>
                <a:spcPts val="0"/>
              </a:spcBef>
            </a:pPr>
            <a:r>
              <a:rPr sz="2600" b="1">
                <a:solidFill>
                  <a:srgbClr val="FFFFFF"/>
                </a:solidFill>
                <a:latin typeface="Segoe UI"/>
              </a:rPr>
              <a:t>Further questions and answers</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0000"/>
              </a:lnSpc>
              <a:spcBef>
                <a:spcPts val="0"/>
              </a:spcBef>
            </a:pPr>
            <a:r>
              <a:rPr sz="1200" b="0">
                <a:solidFill>
                  <a:srgbClr val="9FB6D4"/>
                </a:solidFill>
                <a:latin typeface="Segoe UI"/>
              </a:rPr>
              <a:t>Questions this solution raises beyond the brief, with the evidence behind each answer</a:t>
            </a:r>
          </a:p>
        </p:txBody>
      </p:sp>
      <p:sp>
        <p:nvSpPr>
          <p:cNvPr id="6" name="Rounded Rectangle 5"/>
          <p:cNvSpPr/>
          <p:nvPr/>
        </p:nvSpPr>
        <p:spPr>
          <a:xfrm>
            <a:off x="502920" y="1234440"/>
            <a:ext cx="11201400" cy="841248"/>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73152" cy="841248"/>
          </a:xfrm>
          <a:prstGeom prst="rect">
            <a:avLst/>
          </a:prstGeom>
          <a:solidFill>
            <a:srgbClr val="0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325880"/>
            <a:ext cx="10698480" cy="237744"/>
          </a:xfrm>
          <a:prstGeom prst="rect">
            <a:avLst/>
          </a:prstGeom>
          <a:noFill/>
        </p:spPr>
        <p:txBody>
          <a:bodyPr wrap="square" anchor="t" lIns="0" rIns="0" tIns="0" bIns="0">
            <a:spAutoFit/>
          </a:bodyPr>
          <a:lstStyle/>
          <a:p>
            <a:pPr algn="l">
              <a:lnSpc>
                <a:spcPct val="100000"/>
              </a:lnSpc>
              <a:spcBef>
                <a:spcPts val="0"/>
              </a:spcBef>
            </a:pPr>
            <a:r>
              <a:rPr sz="1250" b="1">
                <a:solidFill>
                  <a:srgbClr val="12305B"/>
                </a:solidFill>
                <a:latin typeface="Segoe UI"/>
              </a:rPr>
              <a:t>Why not simply average the per-merchant redemption rates?</a:t>
            </a:r>
          </a:p>
        </p:txBody>
      </p:sp>
      <p:sp>
        <p:nvSpPr>
          <p:cNvPr id="9" name="TextBox 8"/>
          <p:cNvSpPr txBox="1"/>
          <p:nvPr/>
        </p:nvSpPr>
        <p:spPr>
          <a:xfrm>
            <a:off x="777240" y="1581912"/>
            <a:ext cx="10698480" cy="457200"/>
          </a:xfrm>
          <a:prstGeom prst="rect">
            <a:avLst/>
          </a:prstGeom>
          <a:noFill/>
        </p:spPr>
        <p:txBody>
          <a:bodyPr wrap="square" anchor="t" lIns="0" rIns="0" tIns="0" bIns="0">
            <a:spAutoFit/>
          </a:bodyPr>
          <a:lstStyle/>
          <a:p>
            <a:pPr algn="l">
              <a:lnSpc>
                <a:spcPct val="112000"/>
              </a:lnSpc>
              <a:spcBef>
                <a:spcPts val="0"/>
              </a:spcBef>
            </a:pPr>
            <a:r>
              <a:rPr sz="1050" b="0">
                <a:solidFill>
                  <a:srgbClr val="5A6672"/>
                </a:solidFill>
                <a:latin typeface="Segoe UI"/>
              </a:rPr>
              <a:t>It would weight a 3,500-voucher merchant the same as a 5,400-voucher one. Every ratio in the model is SUM/SUM, never an average of ratios — including in the filtered views of the report.</a:t>
            </a:r>
          </a:p>
        </p:txBody>
      </p:sp>
      <p:sp>
        <p:nvSpPr>
          <p:cNvPr id="10" name="Rounded Rectangle 9"/>
          <p:cNvSpPr/>
          <p:nvPr/>
        </p:nvSpPr>
        <p:spPr>
          <a:xfrm>
            <a:off x="502920" y="2139696"/>
            <a:ext cx="11201400" cy="841248"/>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39696"/>
            <a:ext cx="73152" cy="841248"/>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231136"/>
            <a:ext cx="10698480" cy="237744"/>
          </a:xfrm>
          <a:prstGeom prst="rect">
            <a:avLst/>
          </a:prstGeom>
          <a:noFill/>
        </p:spPr>
        <p:txBody>
          <a:bodyPr wrap="square" anchor="t" lIns="0" rIns="0" tIns="0" bIns="0">
            <a:spAutoFit/>
          </a:bodyPr>
          <a:lstStyle/>
          <a:p>
            <a:pPr algn="l">
              <a:lnSpc>
                <a:spcPct val="100000"/>
              </a:lnSpc>
              <a:spcBef>
                <a:spcPts val="0"/>
              </a:spcBef>
            </a:pPr>
            <a:r>
              <a:rPr sz="1250" b="1">
                <a:solidFill>
                  <a:srgbClr val="12305B"/>
                </a:solidFill>
                <a:latin typeface="Segoe UI"/>
              </a:rPr>
              <a:t>The two value facts differ by R43.5m. Is that a reconciliation break?</a:t>
            </a:r>
          </a:p>
        </p:txBody>
      </p:sp>
      <p:sp>
        <p:nvSpPr>
          <p:cNvPr id="13" name="TextBox 12"/>
          <p:cNvSpPr txBox="1"/>
          <p:nvPr/>
        </p:nvSpPr>
        <p:spPr>
          <a:xfrm>
            <a:off x="777240" y="2487168"/>
            <a:ext cx="10698480" cy="457200"/>
          </a:xfrm>
          <a:prstGeom prst="rect">
            <a:avLst/>
          </a:prstGeom>
          <a:noFill/>
        </p:spPr>
        <p:txBody>
          <a:bodyPr wrap="square" anchor="t" lIns="0" rIns="0" tIns="0" bIns="0">
            <a:spAutoFit/>
          </a:bodyPr>
          <a:lstStyle/>
          <a:p>
            <a:pPr algn="l">
              <a:lnSpc>
                <a:spcPct val="112000"/>
              </a:lnSpc>
              <a:spcBef>
                <a:spcPts val="0"/>
              </a:spcBef>
            </a:pPr>
            <a:r>
              <a:rPr sz="1050" b="0">
                <a:solidFill>
                  <a:srgbClr val="5A6672"/>
                </a:solidFill>
                <a:latin typeface="Segoe UI"/>
              </a:rPr>
              <a:t>No, and the control records it as EXPECTED. MerchantSales aggregates all 510,127 transactions; VoucherRedemptions covers 120,969 individual vouchers — a 4.2 : 1 ratio, two different populations. Forcing them to tie would be the error.</a:t>
            </a:r>
          </a:p>
        </p:txBody>
      </p:sp>
      <p:sp>
        <p:nvSpPr>
          <p:cNvPr id="14" name="Rounded Rectangle 13"/>
          <p:cNvSpPr/>
          <p:nvPr/>
        </p:nvSpPr>
        <p:spPr>
          <a:xfrm>
            <a:off x="502920" y="3044952"/>
            <a:ext cx="11201400" cy="841248"/>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044952"/>
            <a:ext cx="73152" cy="84124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136392"/>
            <a:ext cx="10698480" cy="237744"/>
          </a:xfrm>
          <a:prstGeom prst="rect">
            <a:avLst/>
          </a:prstGeom>
          <a:noFill/>
        </p:spPr>
        <p:txBody>
          <a:bodyPr wrap="square" anchor="t" lIns="0" rIns="0" tIns="0" bIns="0">
            <a:spAutoFit/>
          </a:bodyPr>
          <a:lstStyle/>
          <a:p>
            <a:pPr algn="l">
              <a:lnSpc>
                <a:spcPct val="100000"/>
              </a:lnSpc>
              <a:spcBef>
                <a:spcPts val="0"/>
              </a:spcBef>
            </a:pPr>
            <a:r>
              <a:rPr sz="1250" b="1">
                <a:solidFill>
                  <a:srgbClr val="12305B"/>
                </a:solidFill>
                <a:latin typeface="Segoe UI"/>
              </a:rPr>
              <a:t>Why is target attainment shown as an index rather than a percentage?</a:t>
            </a:r>
          </a:p>
        </p:txBody>
      </p:sp>
      <p:sp>
        <p:nvSpPr>
          <p:cNvPr id="17" name="TextBox 16"/>
          <p:cNvSpPr txBox="1"/>
          <p:nvPr/>
        </p:nvSpPr>
        <p:spPr>
          <a:xfrm>
            <a:off x="777240" y="3392424"/>
            <a:ext cx="10698480" cy="457200"/>
          </a:xfrm>
          <a:prstGeom prst="rect">
            <a:avLst/>
          </a:prstGeom>
          <a:noFill/>
        </p:spPr>
        <p:txBody>
          <a:bodyPr wrap="square" anchor="t" lIns="0" rIns="0" tIns="0" bIns="0">
            <a:spAutoFit/>
          </a:bodyPr>
          <a:lstStyle/>
          <a:p>
            <a:pPr algn="l">
              <a:lnSpc>
                <a:spcPct val="112000"/>
              </a:lnSpc>
              <a:spcBef>
                <a:spcPts val="0"/>
              </a:spcBef>
            </a:pPr>
            <a:r>
              <a:rPr sz="1050" b="0">
                <a:solidFill>
                  <a:srgbClr val="5A6672"/>
                </a:solidFill>
                <a:latin typeface="Segoe UI"/>
              </a:rPr>
              <a:t>The supplied BaseMonthlySalesTarget sits ~6.1x below realised sales for ALL 25 merchants, so raw attainment reads 614%. The value is retained unchanged and flagged; a relative index is reported alongside it, which is comparable across merchants and immune to the calibration error.</a:t>
            </a:r>
          </a:p>
        </p:txBody>
      </p:sp>
      <p:sp>
        <p:nvSpPr>
          <p:cNvPr id="18" name="Rounded Rectangle 17"/>
          <p:cNvSpPr/>
          <p:nvPr/>
        </p:nvSpPr>
        <p:spPr>
          <a:xfrm>
            <a:off x="502920" y="3950208"/>
            <a:ext cx="11201400" cy="841248"/>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950208"/>
            <a:ext cx="73152" cy="84124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041648"/>
            <a:ext cx="10698480" cy="237744"/>
          </a:xfrm>
          <a:prstGeom prst="rect">
            <a:avLst/>
          </a:prstGeom>
          <a:noFill/>
        </p:spPr>
        <p:txBody>
          <a:bodyPr wrap="square" anchor="t" lIns="0" rIns="0" tIns="0" bIns="0">
            <a:spAutoFit/>
          </a:bodyPr>
          <a:lstStyle/>
          <a:p>
            <a:pPr algn="l">
              <a:lnSpc>
                <a:spcPct val="100000"/>
              </a:lnSpc>
              <a:spcBef>
                <a:spcPts val="0"/>
              </a:spcBef>
            </a:pPr>
            <a:r>
              <a:rPr sz="1250" b="1">
                <a:solidFill>
                  <a:srgbClr val="12305B"/>
                </a:solidFill>
                <a:latin typeface="Segoe UI"/>
              </a:rPr>
              <a:t>Can this detect fraud?</a:t>
            </a:r>
          </a:p>
        </p:txBody>
      </p:sp>
      <p:sp>
        <p:nvSpPr>
          <p:cNvPr id="21" name="TextBox 20"/>
          <p:cNvSpPr txBox="1"/>
          <p:nvPr/>
        </p:nvSpPr>
        <p:spPr>
          <a:xfrm>
            <a:off x="777240" y="4297680"/>
            <a:ext cx="10698480" cy="457200"/>
          </a:xfrm>
          <a:prstGeom prst="rect">
            <a:avLst/>
          </a:prstGeom>
          <a:noFill/>
        </p:spPr>
        <p:txBody>
          <a:bodyPr wrap="square" anchor="t" lIns="0" rIns="0" tIns="0" bIns="0">
            <a:spAutoFit/>
          </a:bodyPr>
          <a:lstStyle/>
          <a:p>
            <a:pPr algn="l">
              <a:lnSpc>
                <a:spcPct val="112000"/>
              </a:lnSpc>
              <a:spcBef>
                <a:spcPts val="0"/>
              </a:spcBef>
            </a:pPr>
            <a:r>
              <a:rPr sz="1050" b="0">
                <a:solidFill>
                  <a:srgbClr val="5A6672"/>
                </a:solidFill>
                <a:latin typeface="Segoe UI"/>
              </a:rPr>
              <a:t>Partly, and the boundary is documented. Reversal rate, redemption velocity, liability concentration and behavioural anomaly are built. Voucher-value outliers were implemented and correctly return zero. Duplicate redemption, geographic anomaly and PIN misuse cannot be built — each names the telemetry required.</a:t>
            </a:r>
          </a:p>
        </p:txBody>
      </p:sp>
      <p:sp>
        <p:nvSpPr>
          <p:cNvPr id="22" name="Rounded Rectangle 21"/>
          <p:cNvSpPr/>
          <p:nvPr/>
        </p:nvSpPr>
        <p:spPr>
          <a:xfrm>
            <a:off x="502920" y="4855464"/>
            <a:ext cx="11201400" cy="841248"/>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855464"/>
            <a:ext cx="73152" cy="841248"/>
          </a:xfrm>
          <a:prstGeom prst="rect">
            <a:avLst/>
          </a:prstGeom>
          <a:solidFill>
            <a:srgbClr val="7B4B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946904"/>
            <a:ext cx="10698480" cy="237744"/>
          </a:xfrm>
          <a:prstGeom prst="rect">
            <a:avLst/>
          </a:prstGeom>
          <a:noFill/>
        </p:spPr>
        <p:txBody>
          <a:bodyPr wrap="square" anchor="t" lIns="0" rIns="0" tIns="0" bIns="0">
            <a:spAutoFit/>
          </a:bodyPr>
          <a:lstStyle/>
          <a:p>
            <a:pPr algn="l">
              <a:lnSpc>
                <a:spcPct val="100000"/>
              </a:lnSpc>
              <a:spcBef>
                <a:spcPts val="0"/>
              </a:spcBef>
            </a:pPr>
            <a:r>
              <a:rPr sz="1250" b="1">
                <a:solidFill>
                  <a:srgbClr val="12305B"/>
                </a:solidFill>
                <a:latin typeface="Segoe UI"/>
              </a:rPr>
              <a:t>What happens if the source file arrives truncated?</a:t>
            </a:r>
          </a:p>
        </p:txBody>
      </p:sp>
      <p:sp>
        <p:nvSpPr>
          <p:cNvPr id="25" name="TextBox 24"/>
          <p:cNvSpPr txBox="1"/>
          <p:nvPr/>
        </p:nvSpPr>
        <p:spPr>
          <a:xfrm>
            <a:off x="777240" y="5202936"/>
            <a:ext cx="10698480" cy="457200"/>
          </a:xfrm>
          <a:prstGeom prst="rect">
            <a:avLst/>
          </a:prstGeom>
          <a:noFill/>
        </p:spPr>
        <p:txBody>
          <a:bodyPr wrap="square" anchor="t" lIns="0" rIns="0" tIns="0" bIns="0">
            <a:spAutoFit/>
          </a:bodyPr>
          <a:lstStyle/>
          <a:p>
            <a:pPr algn="l">
              <a:lnSpc>
                <a:spcPct val="112000"/>
              </a:lnSpc>
              <a:spcBef>
                <a:spcPts val="0"/>
              </a:spcBef>
            </a:pPr>
            <a:r>
              <a:rPr sz="1050" b="0">
                <a:solidFill>
                  <a:srgbClr val="5A6672"/>
                </a:solidFill>
                <a:latin typeface="Segoe UI"/>
              </a:rPr>
              <a:t>The pipeline fails loudly. Per-source minimum row counts turn a silent partial load into an error, because a truncated file otherwise looks identical to a quiet trading day on the dashboard.</a:t>
            </a:r>
          </a:p>
        </p:txBody>
      </p:sp>
      <p:sp>
        <p:nvSpPr>
          <p:cNvPr id="26" name="Rounded Rectangle 25"/>
          <p:cNvSpPr/>
          <p:nvPr/>
        </p:nvSpPr>
        <p:spPr>
          <a:xfrm>
            <a:off x="502920" y="5760720"/>
            <a:ext cx="11201400" cy="841248"/>
          </a:xfrm>
          <a:prstGeom prst="roundRect">
            <a:avLst>
              <a:gd name="adj" fmla="val 6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5760720"/>
            <a:ext cx="73152" cy="841248"/>
          </a:xfrm>
          <a:prstGeom prst="rect">
            <a:avLst/>
          </a:prstGeom>
          <a:solidFill>
            <a:srgbClr val="1B40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852160"/>
            <a:ext cx="10698480" cy="237744"/>
          </a:xfrm>
          <a:prstGeom prst="rect">
            <a:avLst/>
          </a:prstGeom>
          <a:noFill/>
        </p:spPr>
        <p:txBody>
          <a:bodyPr wrap="square" anchor="t" lIns="0" rIns="0" tIns="0" bIns="0">
            <a:spAutoFit/>
          </a:bodyPr>
          <a:lstStyle/>
          <a:p>
            <a:pPr algn="l">
              <a:lnSpc>
                <a:spcPct val="100000"/>
              </a:lnSpc>
              <a:spcBef>
                <a:spcPts val="0"/>
              </a:spcBef>
            </a:pPr>
            <a:r>
              <a:rPr sz="1250" b="1">
                <a:solidFill>
                  <a:srgbClr val="12305B"/>
                </a:solidFill>
                <a:latin typeface="Segoe UI"/>
              </a:rPr>
              <a:t>How is the report protected from a bad data load?</a:t>
            </a:r>
          </a:p>
        </p:txBody>
      </p:sp>
      <p:sp>
        <p:nvSpPr>
          <p:cNvPr id="29" name="TextBox 28"/>
          <p:cNvSpPr txBox="1"/>
          <p:nvPr/>
        </p:nvSpPr>
        <p:spPr>
          <a:xfrm>
            <a:off x="777240" y="6108192"/>
            <a:ext cx="10698480" cy="457200"/>
          </a:xfrm>
          <a:prstGeom prst="rect">
            <a:avLst/>
          </a:prstGeom>
          <a:noFill/>
        </p:spPr>
        <p:txBody>
          <a:bodyPr wrap="square" anchor="t" lIns="0" rIns="0" tIns="0" bIns="0">
            <a:spAutoFit/>
          </a:bodyPr>
          <a:lstStyle/>
          <a:p>
            <a:pPr algn="l">
              <a:lnSpc>
                <a:spcPct val="112000"/>
              </a:lnSpc>
              <a:spcBef>
                <a:spcPts val="0"/>
              </a:spcBef>
            </a:pPr>
            <a:r>
              <a:rPr sz="1050" b="0">
                <a:solidFill>
                  <a:srgbClr val="5A6672"/>
                </a:solidFill>
                <a:latin typeface="Segoe UI"/>
              </a:rPr>
              <a:t>The dbt test suite runs BETWEEN silver and gold. If it fails, gold is not rebuilt and the report continues to serve the last good load rather than publishing wrong figures.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32720" cy="731520"/>
          </a:xfrm>
          <a:prstGeom prst="rect">
            <a:avLst/>
          </a:prstGeom>
          <a:noFill/>
        </p:spPr>
        <p:txBody>
          <a:bodyPr wrap="square" anchor="t" lIns="0" rIns="0" tIns="0" bIns="0">
            <a:spAutoFit/>
          </a:bodyPr>
          <a:lstStyle/>
          <a:p>
            <a:pPr algn="l">
              <a:lnSpc>
                <a:spcPct val="100000"/>
              </a:lnSpc>
              <a:spcBef>
                <a:spcPts val="0"/>
              </a:spcBef>
            </a:pPr>
            <a:r>
              <a:rPr sz="3200" b="1">
                <a:solidFill>
                  <a:srgbClr val="FFFFFF"/>
                </a:solidFill>
                <a:latin typeface="Segoe UI"/>
              </a:rPr>
              <a:t>Principles applied throughout</a:t>
            </a:r>
          </a:p>
        </p:txBody>
      </p:sp>
      <p:sp>
        <p:nvSpPr>
          <p:cNvPr id="4" name="Rectangle 3"/>
          <p:cNvSpPr/>
          <p:nvPr/>
        </p:nvSpPr>
        <p:spPr>
          <a:xfrm>
            <a:off x="914400" y="2148840"/>
            <a:ext cx="64008" cy="868680"/>
          </a:xfrm>
          <a:prstGeom prst="rect">
            <a:avLst/>
          </a:prstGeom>
          <a:solidFill>
            <a:srgbClr val="0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70432" y="2148840"/>
            <a:ext cx="9966960" cy="868680"/>
          </a:xfrm>
          <a:prstGeom prst="rect">
            <a:avLst/>
          </a:prstGeom>
          <a:noFill/>
        </p:spPr>
        <p:txBody>
          <a:bodyPr wrap="square" anchor="t" lIns="0" rIns="0" tIns="0" bIns="0">
            <a:spAutoFit/>
          </a:bodyPr>
          <a:lstStyle/>
          <a:p>
            <a:pPr algn="l">
              <a:lnSpc>
                <a:spcPct val="115000"/>
              </a:lnSpc>
              <a:spcBef>
                <a:spcPts val="0"/>
              </a:spcBef>
            </a:pPr>
            <a:r>
              <a:rPr sz="1500" b="1">
                <a:solidFill>
                  <a:srgbClr val="FFFFFF"/>
                </a:solidFill>
                <a:latin typeface="Segoe UI"/>
              </a:rPr>
              <a:t>Figures are verifiable, not asserted.</a:t>
            </a:r>
          </a:p>
          <a:p>
            <a:pPr algn="l">
              <a:lnSpc>
                <a:spcPct val="115000"/>
              </a:lnSpc>
              <a:spcBef>
                <a:spcPts val="400"/>
              </a:spcBef>
            </a:pPr>
            <a:r>
              <a:rPr sz="1200" b="0">
                <a:solidFill>
                  <a:srgbClr val="9FB6D4"/>
                </a:solidFill>
                <a:latin typeface="Segoe UI"/>
              </a:rPr>
              <a:t>The gold layer is built twice by independent implementations and reconciled to the cent. 33 idempotency assertions prove a re-run cannot duplicate data.</a:t>
            </a:r>
          </a:p>
        </p:txBody>
      </p:sp>
      <p:sp>
        <p:nvSpPr>
          <p:cNvPr id="6" name="Rectangle 5"/>
          <p:cNvSpPr/>
          <p:nvPr/>
        </p:nvSpPr>
        <p:spPr>
          <a:xfrm>
            <a:off x="914400" y="3172968"/>
            <a:ext cx="64008" cy="868680"/>
          </a:xfrm>
          <a:prstGeom prst="rect">
            <a:avLst/>
          </a:prstGeom>
          <a:solidFill>
            <a:srgbClr val="0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70432" y="3172968"/>
            <a:ext cx="9966960" cy="868680"/>
          </a:xfrm>
          <a:prstGeom prst="rect">
            <a:avLst/>
          </a:prstGeom>
          <a:noFill/>
        </p:spPr>
        <p:txBody>
          <a:bodyPr wrap="square" anchor="t" lIns="0" rIns="0" tIns="0" bIns="0">
            <a:spAutoFit/>
          </a:bodyPr>
          <a:lstStyle/>
          <a:p>
            <a:pPr algn="l">
              <a:lnSpc>
                <a:spcPct val="115000"/>
              </a:lnSpc>
              <a:spcBef>
                <a:spcPts val="0"/>
              </a:spcBef>
            </a:pPr>
            <a:r>
              <a:rPr sz="1500" b="1">
                <a:solidFill>
                  <a:srgbClr val="FFFFFF"/>
                </a:solidFill>
                <a:latin typeface="Segoe UI"/>
              </a:rPr>
              <a:t>Findings are tested before they are reported.</a:t>
            </a:r>
          </a:p>
          <a:p>
            <a:pPr algn="l">
              <a:lnSpc>
                <a:spcPct val="115000"/>
              </a:lnSpc>
              <a:spcBef>
                <a:spcPts val="400"/>
              </a:spcBef>
            </a:pPr>
            <a:r>
              <a:rPr sz="1200" b="0">
                <a:solidFill>
                  <a:srgbClr val="9FB6D4"/>
                </a:solidFill>
                <a:latin typeface="Segoe UI"/>
              </a:rPr>
              <a:t>The friction/performance correlation proved confounded by merchant size. The redemption AUC sits at the data's ceiling. The two value facts do not tie — and correctly should not.</a:t>
            </a:r>
          </a:p>
        </p:txBody>
      </p:sp>
      <p:sp>
        <p:nvSpPr>
          <p:cNvPr id="8" name="Rectangle 7"/>
          <p:cNvSpPr/>
          <p:nvPr/>
        </p:nvSpPr>
        <p:spPr>
          <a:xfrm>
            <a:off x="914400" y="4197096"/>
            <a:ext cx="64008" cy="868680"/>
          </a:xfrm>
          <a:prstGeom prst="rect">
            <a:avLst/>
          </a:prstGeom>
          <a:solidFill>
            <a:srgbClr val="0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4197096"/>
            <a:ext cx="9966960" cy="868680"/>
          </a:xfrm>
          <a:prstGeom prst="rect">
            <a:avLst/>
          </a:prstGeom>
          <a:noFill/>
        </p:spPr>
        <p:txBody>
          <a:bodyPr wrap="square" anchor="t" lIns="0" rIns="0" tIns="0" bIns="0">
            <a:spAutoFit/>
          </a:bodyPr>
          <a:lstStyle/>
          <a:p>
            <a:pPr algn="l">
              <a:lnSpc>
                <a:spcPct val="115000"/>
              </a:lnSpc>
              <a:spcBef>
                <a:spcPts val="0"/>
              </a:spcBef>
            </a:pPr>
            <a:r>
              <a:rPr sz="1500" b="1">
                <a:solidFill>
                  <a:srgbClr val="FFFFFF"/>
                </a:solidFill>
                <a:latin typeface="Segoe UI"/>
              </a:rPr>
              <a:t>Known gaps are documented, not omitted.</a:t>
            </a:r>
          </a:p>
          <a:p>
            <a:pPr algn="l">
              <a:lnSpc>
                <a:spcPct val="115000"/>
              </a:lnSpc>
              <a:spcBef>
                <a:spcPts val="400"/>
              </a:spcBef>
            </a:pPr>
            <a:r>
              <a:rPr sz="1200" b="0">
                <a:solidFill>
                  <a:srgbClr val="9FB6D4"/>
                </a:solidFill>
                <a:latin typeface="Segoe UI"/>
              </a:rPr>
              <a:t>dbt connects to Fabric and writes; the transformation models required a T-SQL port, which is recorded with its scope and current status.</a:t>
            </a:r>
          </a:p>
        </p:txBody>
      </p:sp>
      <p:sp>
        <p:nvSpPr>
          <p:cNvPr id="10" name="Rectangle 9"/>
          <p:cNvSpPr/>
          <p:nvPr/>
        </p:nvSpPr>
        <p:spPr>
          <a:xfrm>
            <a:off x="914400" y="5221224"/>
            <a:ext cx="64008" cy="868680"/>
          </a:xfrm>
          <a:prstGeom prst="rect">
            <a:avLst/>
          </a:prstGeom>
          <a:solidFill>
            <a:srgbClr val="0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70432" y="5221224"/>
            <a:ext cx="9966960" cy="868680"/>
          </a:xfrm>
          <a:prstGeom prst="rect">
            <a:avLst/>
          </a:prstGeom>
          <a:noFill/>
        </p:spPr>
        <p:txBody>
          <a:bodyPr wrap="square" anchor="t" lIns="0" rIns="0" tIns="0" bIns="0">
            <a:spAutoFit/>
          </a:bodyPr>
          <a:lstStyle/>
          <a:p>
            <a:pPr algn="l">
              <a:lnSpc>
                <a:spcPct val="115000"/>
              </a:lnSpc>
              <a:spcBef>
                <a:spcPts val="0"/>
              </a:spcBef>
            </a:pPr>
            <a:r>
              <a:rPr sz="1500" b="1">
                <a:solidFill>
                  <a:srgbClr val="FFFFFF"/>
                </a:solidFill>
                <a:latin typeface="Segoe UI"/>
              </a:rPr>
              <a:t>Unbuildable requirements are named with the telemetry they need.</a:t>
            </a:r>
          </a:p>
          <a:p>
            <a:pPr algn="l">
              <a:lnSpc>
                <a:spcPct val="115000"/>
              </a:lnSpc>
              <a:spcBef>
                <a:spcPts val="400"/>
              </a:spcBef>
            </a:pPr>
            <a:r>
              <a:rPr sz="1200" b="0">
                <a:solidFill>
                  <a:srgbClr val="9FB6D4"/>
                </a:solidFill>
                <a:latin typeface="Segoe UI"/>
              </a:rPr>
              <a:t>Customer lifetime value, churn, duplicate-redemption and geographic anomaly controls cannot be built from this dataset. Documenting that is more useful than metrics derived from fields that do not carry the signal.</a:t>
            </a:r>
          </a:p>
        </p:txBody>
      </p:sp>
      <p:sp>
        <p:nvSpPr>
          <p:cNvPr id="12" name="TextBox 11"/>
          <p:cNvSpPr txBox="1"/>
          <p:nvPr/>
        </p:nvSpPr>
        <p:spPr>
          <a:xfrm>
            <a:off x="914400" y="6263640"/>
            <a:ext cx="10332720" cy="365760"/>
          </a:xfrm>
          <a:prstGeom prst="rect">
            <a:avLst/>
          </a:prstGeom>
          <a:noFill/>
        </p:spPr>
        <p:txBody>
          <a:bodyPr wrap="square" anchor="t" lIns="0" rIns="0" tIns="0" bIns="0">
            <a:spAutoFit/>
          </a:bodyPr>
          <a:lstStyle/>
          <a:p>
            <a:pPr algn="l">
              <a:lnSpc>
                <a:spcPct val="100000"/>
              </a:lnSpc>
              <a:spcBef>
                <a:spcPts val="0"/>
              </a:spcBef>
            </a:pPr>
            <a:r>
              <a:rPr sz="1100" b="0">
                <a:solidFill>
                  <a:srgbClr val="6E8CB4"/>
                </a:solidFill>
                <a:latin typeface="Segoe UI"/>
              </a:rPr>
              <a:t>Anthony Apollis  ·  August 2026  ·  python scripts/run_all.py rebuilds everything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23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
            <a:ext cx="10058400" cy="548640"/>
          </a:xfrm>
          <a:prstGeom prst="rect">
            <a:avLst/>
          </a:prstGeom>
          <a:noFill/>
        </p:spPr>
        <p:txBody>
          <a:bodyPr wrap="square" anchor="t" lIns="0" rIns="0" tIns="0" bIns="0">
            <a:spAutoFit/>
          </a:bodyPr>
          <a:lstStyle/>
          <a:p>
            <a:pPr algn="l">
              <a:lnSpc>
                <a:spcPct val="105000"/>
              </a:lnSpc>
              <a:spcBef>
                <a:spcPts val="0"/>
              </a:spcBef>
            </a:pPr>
            <a:r>
              <a:rPr sz="2600" b="1">
                <a:solidFill>
                  <a:srgbClr val="FFFFFF"/>
                </a:solidFill>
                <a:latin typeface="Segoe UI"/>
              </a:rPr>
              <a:t>What the numbers mean</a:t>
            </a:r>
          </a:p>
        </p:txBody>
      </p:sp>
      <p:sp>
        <p:nvSpPr>
          <p:cNvPr id="5" name="TextBox 4"/>
          <p:cNvSpPr txBox="1"/>
          <p:nvPr/>
        </p:nvSpPr>
        <p:spPr>
          <a:xfrm>
            <a:off x="502920" y="603504"/>
            <a:ext cx="11155680" cy="274320"/>
          </a:xfrm>
          <a:prstGeom prst="rect">
            <a:avLst/>
          </a:prstGeom>
          <a:noFill/>
        </p:spPr>
        <p:txBody>
          <a:bodyPr wrap="square" anchor="t" lIns="0" rIns="0" tIns="0" bIns="0">
            <a:spAutoFit/>
          </a:bodyPr>
          <a:lstStyle/>
          <a:p>
            <a:pPr algn="l">
              <a:lnSpc>
                <a:spcPct val="105000"/>
              </a:lnSpc>
              <a:spcBef>
                <a:spcPts val="0"/>
              </a:spcBef>
            </a:pPr>
            <a:r>
              <a:rPr sz="1200" b="0">
                <a:solidFill>
                  <a:srgbClr val="9FB6D4"/>
                </a:solidFill>
                <a:latin typeface="Segoe UI"/>
              </a:rPr>
              <a:t>A legend for the previous slide — every metric and method in plain English</a:t>
            </a:r>
          </a:p>
        </p:txBody>
      </p:sp>
      <p:sp>
        <p:nvSpPr>
          <p:cNvPr id="6" name="TextBox 5"/>
          <p:cNvSpPr txBox="1"/>
          <p:nvPr/>
        </p:nvSpPr>
        <p:spPr>
          <a:xfrm>
            <a:off x="548640" y="1115568"/>
            <a:ext cx="5532120" cy="274320"/>
          </a:xfrm>
          <a:prstGeom prst="rect">
            <a:avLst/>
          </a:prstGeom>
          <a:noFill/>
        </p:spPr>
        <p:txBody>
          <a:bodyPr wrap="square" anchor="t" lIns="0" rIns="0" tIns="0" bIns="0">
            <a:spAutoFit/>
          </a:bodyPr>
          <a:lstStyle/>
          <a:p>
            <a:pPr algn="l">
              <a:lnSpc>
                <a:spcPct val="105000"/>
              </a:lnSpc>
              <a:spcBef>
                <a:spcPts val="0"/>
              </a:spcBef>
            </a:pPr>
            <a:r>
              <a:rPr sz="1350" b="1">
                <a:solidFill>
                  <a:srgbClr val="0E8B8B"/>
                </a:solidFill>
                <a:latin typeface="Segoe UI"/>
              </a:rPr>
              <a:t>Metrics — how good is good</a:t>
            </a:r>
          </a:p>
        </p:txBody>
      </p:sp>
      <p:sp>
        <p:nvSpPr>
          <p:cNvPr id="7" name="Rounded Rectangle 6"/>
          <p:cNvSpPr/>
          <p:nvPr/>
        </p:nvSpPr>
        <p:spPr>
          <a:xfrm>
            <a:off x="502920" y="1463040"/>
            <a:ext cx="5532120" cy="841248"/>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554480"/>
            <a:ext cx="5202936" cy="658368"/>
          </a:xfrm>
          <a:prstGeom prst="rect">
            <a:avLst/>
          </a:prstGeom>
          <a:noFill/>
        </p:spPr>
        <p:txBody>
          <a:bodyPr wrap="square" anchor="t" lIns="0" rIns="0" tIns="0" bIns="0">
            <a:spAutoFit/>
          </a:bodyPr>
          <a:lstStyle/>
          <a:p>
            <a:pPr algn="l">
              <a:lnSpc>
                <a:spcPct val="102000"/>
              </a:lnSpc>
              <a:spcBef>
                <a:spcPts val="0"/>
              </a:spcBef>
            </a:pPr>
            <a:r>
              <a:rPr sz="1100" b="1">
                <a:solidFill>
                  <a:srgbClr val="0E8B8B"/>
                </a:solidFill>
                <a:latin typeface="Segoe UI"/>
              </a:rPr>
              <a:t>Area under the ROC curve (AUC)  ·  0.620</a:t>
            </a:r>
          </a:p>
          <a:p>
            <a:pPr algn="l">
              <a:lnSpc>
                <a:spcPct val="102000"/>
              </a:lnSpc>
              <a:spcBef>
                <a:spcPts val="200"/>
              </a:spcBef>
            </a:pPr>
            <a:r>
              <a:rPr sz="900" b="1">
                <a:solidFill>
                  <a:srgbClr val="1E8449"/>
                </a:solidFill>
                <a:latin typeface="Segoe UI"/>
              </a:rPr>
              <a:t>HIGHER is better  (0.5 = useless, 1.0 = perfect)</a:t>
            </a:r>
          </a:p>
          <a:p>
            <a:pPr algn="l">
              <a:lnSpc>
                <a:spcPct val="102000"/>
              </a:lnSpc>
              <a:spcBef>
                <a:spcPts val="200"/>
              </a:spcBef>
            </a:pPr>
            <a:r>
              <a:rPr sz="950" b="0">
                <a:solidFill>
                  <a:srgbClr val="12203A"/>
                </a:solidFill>
                <a:latin typeface="Segoe UI"/>
              </a:rPr>
              <a:t>Ranking quality. ROC = receiver operating characteristic. Read it as: the chance the model scores a real redeemer above a non-redeemer.</a:t>
            </a:r>
          </a:p>
          <a:p>
            <a:pPr algn="l">
              <a:lnSpc>
                <a:spcPct val="102000"/>
              </a:lnSpc>
              <a:spcBef>
                <a:spcPts val="100"/>
              </a:spcBef>
            </a:pPr>
            <a:r>
              <a:rPr sz="850" b="0">
                <a:solidFill>
                  <a:srgbClr val="5A6672"/>
                </a:solidFill>
                <a:latin typeface="Segoe UI"/>
              </a:rPr>
              <a:t>0.620 against a measured ceiling of 0.621 for this data — 99.8% of the signal that exists here. Low because the data has no customer features, not because the model is weak.</a:t>
            </a:r>
          </a:p>
        </p:txBody>
      </p:sp>
      <p:sp>
        <p:nvSpPr>
          <p:cNvPr id="9" name="Rounded Rectangle 8"/>
          <p:cNvSpPr/>
          <p:nvPr/>
        </p:nvSpPr>
        <p:spPr>
          <a:xfrm>
            <a:off x="502920" y="2359152"/>
            <a:ext cx="5532120" cy="841248"/>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0592"/>
            <a:ext cx="5202936" cy="658368"/>
          </a:xfrm>
          <a:prstGeom prst="rect">
            <a:avLst/>
          </a:prstGeom>
          <a:noFill/>
        </p:spPr>
        <p:txBody>
          <a:bodyPr wrap="square" anchor="t" lIns="0" rIns="0" tIns="0" bIns="0">
            <a:spAutoFit/>
          </a:bodyPr>
          <a:lstStyle/>
          <a:p>
            <a:pPr algn="l">
              <a:lnSpc>
                <a:spcPct val="102000"/>
              </a:lnSpc>
              <a:spcBef>
                <a:spcPts val="0"/>
              </a:spcBef>
            </a:pPr>
            <a:r>
              <a:rPr sz="1100" b="1">
                <a:solidFill>
                  <a:srgbClr val="0E8B8B"/>
                </a:solidFill>
                <a:latin typeface="Segoe UI"/>
              </a:rPr>
              <a:t>Mean absolute percentage error (MAPE)  ·  4.69%</a:t>
            </a:r>
          </a:p>
          <a:p>
            <a:pPr algn="l">
              <a:lnSpc>
                <a:spcPct val="102000"/>
              </a:lnSpc>
              <a:spcBef>
                <a:spcPts val="200"/>
              </a:spcBef>
            </a:pPr>
            <a:r>
              <a:rPr sz="900" b="1">
                <a:solidFill>
                  <a:srgbClr val="C0392B"/>
                </a:solidFill>
                <a:latin typeface="Segoe UI"/>
              </a:rPr>
              <a:t>LOWER is better  (0% = perfect, no upper limit)</a:t>
            </a:r>
          </a:p>
          <a:p>
            <a:pPr algn="l">
              <a:lnSpc>
                <a:spcPct val="102000"/>
              </a:lnSpc>
              <a:spcBef>
                <a:spcPts val="200"/>
              </a:spcBef>
            </a:pPr>
            <a:r>
              <a:rPr sz="950" b="0">
                <a:solidFill>
                  <a:srgbClr val="12203A"/>
                </a:solidFill>
                <a:latin typeface="Segoe UI"/>
              </a:rPr>
              <a:t>Average forecast error as a percentage of the actual value.</a:t>
            </a:r>
          </a:p>
          <a:p>
            <a:pPr algn="l">
              <a:lnSpc>
                <a:spcPct val="102000"/>
              </a:lnSpc>
              <a:spcBef>
                <a:spcPts val="100"/>
              </a:spcBef>
            </a:pPr>
            <a:r>
              <a:rPr sz="850" b="0">
                <a:solidFill>
                  <a:srgbClr val="5A6672"/>
                </a:solidFill>
                <a:latin typeface="Segoe UI"/>
              </a:rPr>
              <a:t>A 30-day sales forecast wrong by about 4.7% on average. 49.7% better than assuming tomorrow equals today.</a:t>
            </a:r>
          </a:p>
        </p:txBody>
      </p:sp>
      <p:sp>
        <p:nvSpPr>
          <p:cNvPr id="11" name="Rounded Rectangle 10"/>
          <p:cNvSpPr/>
          <p:nvPr/>
        </p:nvSpPr>
        <p:spPr>
          <a:xfrm>
            <a:off x="502920" y="3255264"/>
            <a:ext cx="5532120" cy="841248"/>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3346704"/>
            <a:ext cx="5202936" cy="658368"/>
          </a:xfrm>
          <a:prstGeom prst="rect">
            <a:avLst/>
          </a:prstGeom>
          <a:noFill/>
        </p:spPr>
        <p:txBody>
          <a:bodyPr wrap="square" anchor="t" lIns="0" rIns="0" tIns="0" bIns="0">
            <a:spAutoFit/>
          </a:bodyPr>
          <a:lstStyle/>
          <a:p>
            <a:pPr algn="l">
              <a:lnSpc>
                <a:spcPct val="102000"/>
              </a:lnSpc>
              <a:spcBef>
                <a:spcPts val="0"/>
              </a:spcBef>
            </a:pPr>
            <a:r>
              <a:rPr sz="1100" b="1">
                <a:solidFill>
                  <a:srgbClr val="0E8B8B"/>
                </a:solidFill>
                <a:latin typeface="Segoe UI"/>
              </a:rPr>
              <a:t>Mean absolute error (MAE)  ·  9.8 hours</a:t>
            </a:r>
          </a:p>
          <a:p>
            <a:pPr algn="l">
              <a:lnSpc>
                <a:spcPct val="102000"/>
              </a:lnSpc>
              <a:spcBef>
                <a:spcPts val="200"/>
              </a:spcBef>
            </a:pPr>
            <a:r>
              <a:rPr sz="900" b="1">
                <a:solidFill>
                  <a:srgbClr val="C0392B"/>
                </a:solidFill>
                <a:latin typeface="Segoe UI"/>
              </a:rPr>
              <a:t>LOWER is better  (0 = perfect, measured in hours)</a:t>
            </a:r>
          </a:p>
          <a:p>
            <a:pPr algn="l">
              <a:lnSpc>
                <a:spcPct val="102000"/>
              </a:lnSpc>
              <a:spcBef>
                <a:spcPts val="200"/>
              </a:spcBef>
            </a:pPr>
            <a:r>
              <a:rPr sz="950" b="0">
                <a:solidFill>
                  <a:srgbClr val="12203A"/>
                </a:solidFill>
                <a:latin typeface="Segoe UI"/>
              </a:rPr>
              <a:t>Average error in the units being predicted — here, hours.</a:t>
            </a:r>
          </a:p>
          <a:p>
            <a:pPr algn="l">
              <a:lnSpc>
                <a:spcPct val="102000"/>
              </a:lnSpc>
              <a:spcBef>
                <a:spcPts val="100"/>
              </a:spcBef>
            </a:pPr>
            <a:r>
              <a:rPr sz="850" b="0">
                <a:solidFill>
                  <a:srgbClr val="5A6672"/>
                </a:solidFill>
                <a:latin typeface="Segoe UI"/>
              </a:rPr>
              <a:t>Predicted ticket resolution time is out by about 10 hours on average, against a spread running to 74 hours at the 90th percentile.</a:t>
            </a:r>
          </a:p>
        </p:txBody>
      </p:sp>
      <p:sp>
        <p:nvSpPr>
          <p:cNvPr id="13" name="Rounded Rectangle 12"/>
          <p:cNvSpPr/>
          <p:nvPr/>
        </p:nvSpPr>
        <p:spPr>
          <a:xfrm>
            <a:off x="502920" y="4151376"/>
            <a:ext cx="5532120" cy="841248"/>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242816"/>
            <a:ext cx="5202936" cy="658368"/>
          </a:xfrm>
          <a:prstGeom prst="rect">
            <a:avLst/>
          </a:prstGeom>
          <a:noFill/>
        </p:spPr>
        <p:txBody>
          <a:bodyPr wrap="square" anchor="t" lIns="0" rIns="0" tIns="0" bIns="0">
            <a:spAutoFit/>
          </a:bodyPr>
          <a:lstStyle/>
          <a:p>
            <a:pPr algn="l">
              <a:lnSpc>
                <a:spcPct val="102000"/>
              </a:lnSpc>
              <a:spcBef>
                <a:spcPts val="0"/>
              </a:spcBef>
            </a:pPr>
            <a:r>
              <a:rPr sz="1100" b="1">
                <a:solidFill>
                  <a:srgbClr val="E8A317"/>
                </a:solidFill>
                <a:latin typeface="Segoe UI"/>
              </a:rPr>
              <a:t>Silhouette score  ·  0.185</a:t>
            </a:r>
          </a:p>
          <a:p>
            <a:pPr algn="l">
              <a:lnSpc>
                <a:spcPct val="102000"/>
              </a:lnSpc>
              <a:spcBef>
                <a:spcPts val="200"/>
              </a:spcBef>
            </a:pPr>
            <a:r>
              <a:rPr sz="900" b="1">
                <a:solidFill>
                  <a:srgbClr val="1E8449"/>
                </a:solidFill>
                <a:latin typeface="Segoe UI"/>
              </a:rPr>
              <a:t>HIGHER is better  (-1 to 1; above 0.5 = well separated)</a:t>
            </a:r>
          </a:p>
          <a:p>
            <a:pPr algn="l">
              <a:lnSpc>
                <a:spcPct val="102000"/>
              </a:lnSpc>
              <a:spcBef>
                <a:spcPts val="200"/>
              </a:spcBef>
            </a:pPr>
            <a:r>
              <a:rPr sz="950" b="0">
                <a:solidFill>
                  <a:srgbClr val="12203A"/>
                </a:solidFill>
                <a:latin typeface="Segoe UI"/>
              </a:rPr>
              <a:t>How cleanly separated the clusters are.</a:t>
            </a:r>
          </a:p>
          <a:p>
            <a:pPr algn="l">
              <a:lnSpc>
                <a:spcPct val="102000"/>
              </a:lnSpc>
              <a:spcBef>
                <a:spcPts val="100"/>
              </a:spcBef>
            </a:pPr>
            <a:r>
              <a:rPr sz="850" b="0">
                <a:solidFill>
                  <a:srgbClr val="5A6672"/>
                </a:solidFill>
                <a:latin typeface="Segoe UI"/>
              </a:rPr>
              <a:t>Low, and stated rather than hidden. The merchants form a continuum, not four distinct types — so k was chosen on business grounds and the statistical cost is declared.</a:t>
            </a:r>
          </a:p>
        </p:txBody>
      </p:sp>
      <p:sp>
        <p:nvSpPr>
          <p:cNvPr id="15" name="Rounded Rectangle 14"/>
          <p:cNvSpPr/>
          <p:nvPr/>
        </p:nvSpPr>
        <p:spPr>
          <a:xfrm>
            <a:off x="502920" y="5047488"/>
            <a:ext cx="5532120" cy="841248"/>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5138927"/>
            <a:ext cx="5202936" cy="658368"/>
          </a:xfrm>
          <a:prstGeom prst="rect">
            <a:avLst/>
          </a:prstGeom>
          <a:noFill/>
        </p:spPr>
        <p:txBody>
          <a:bodyPr wrap="square" anchor="t" lIns="0" rIns="0" tIns="0" bIns="0">
            <a:spAutoFit/>
          </a:bodyPr>
          <a:lstStyle/>
          <a:p>
            <a:pPr algn="l">
              <a:lnSpc>
                <a:spcPct val="102000"/>
              </a:lnSpc>
              <a:spcBef>
                <a:spcPts val="0"/>
              </a:spcBef>
            </a:pPr>
            <a:r>
              <a:rPr sz="1100" b="1">
                <a:solidFill>
                  <a:srgbClr val="5A6672"/>
                </a:solidFill>
                <a:latin typeface="Segoe UI"/>
              </a:rPr>
              <a:t>Naive baseline</a:t>
            </a:r>
          </a:p>
          <a:p>
            <a:pPr algn="l">
              <a:lnSpc>
                <a:spcPct val="102000"/>
              </a:lnSpc>
              <a:spcBef>
                <a:spcPts val="200"/>
              </a:spcBef>
            </a:pPr>
            <a:r>
              <a:rPr sz="900" b="1">
                <a:solidFill>
                  <a:srgbClr val="1E8449"/>
                </a:solidFill>
                <a:latin typeface="Segoe UI"/>
              </a:rPr>
              <a:t>BEAT IT or the model is not worth deploying</a:t>
            </a:r>
          </a:p>
          <a:p>
            <a:pPr algn="l">
              <a:lnSpc>
                <a:spcPct val="102000"/>
              </a:lnSpc>
              <a:spcBef>
                <a:spcPts val="200"/>
              </a:spcBef>
            </a:pPr>
            <a:r>
              <a:rPr sz="950" b="0">
                <a:solidFill>
                  <a:srgbClr val="12203A"/>
                </a:solidFill>
                <a:latin typeface="Segoe UI"/>
              </a:rPr>
              <a:t>The simplest possible prediction: tomorrow equals today.</a:t>
            </a:r>
          </a:p>
          <a:p>
            <a:pPr algn="l">
              <a:lnSpc>
                <a:spcPct val="102000"/>
              </a:lnSpc>
              <a:spcBef>
                <a:spcPts val="100"/>
              </a:spcBef>
            </a:pPr>
            <a:r>
              <a:rPr sz="850" b="0">
                <a:solidFill>
                  <a:srgbClr val="5A6672"/>
                </a:solidFill>
                <a:latin typeface="Segoe UI"/>
              </a:rPr>
              <a:t>Every model is reported against it. A model that cannot beat the naive baseline is not worth deploying, whatever its headline score.</a:t>
            </a:r>
          </a:p>
        </p:txBody>
      </p:sp>
      <p:sp>
        <p:nvSpPr>
          <p:cNvPr id="17" name="TextBox 16"/>
          <p:cNvSpPr txBox="1"/>
          <p:nvPr/>
        </p:nvSpPr>
        <p:spPr>
          <a:xfrm>
            <a:off x="6217920" y="1115568"/>
            <a:ext cx="5532120" cy="274320"/>
          </a:xfrm>
          <a:prstGeom prst="rect">
            <a:avLst/>
          </a:prstGeom>
          <a:noFill/>
        </p:spPr>
        <p:txBody>
          <a:bodyPr wrap="square" anchor="t" lIns="0" rIns="0" tIns="0" bIns="0">
            <a:spAutoFit/>
          </a:bodyPr>
          <a:lstStyle/>
          <a:p>
            <a:pPr algn="l">
              <a:lnSpc>
                <a:spcPct val="105000"/>
              </a:lnSpc>
              <a:spcBef>
                <a:spcPts val="0"/>
              </a:spcBef>
            </a:pPr>
            <a:r>
              <a:rPr sz="1350" b="1">
                <a:solidFill>
                  <a:srgbClr val="12305B"/>
                </a:solidFill>
                <a:latin typeface="Segoe UI"/>
              </a:rPr>
              <a:t>Methods — what each model does</a:t>
            </a:r>
          </a:p>
        </p:txBody>
      </p:sp>
      <p:sp>
        <p:nvSpPr>
          <p:cNvPr id="18" name="Rounded Rectangle 17"/>
          <p:cNvSpPr/>
          <p:nvPr/>
        </p:nvSpPr>
        <p:spPr>
          <a:xfrm>
            <a:off x="6172200" y="1463040"/>
            <a:ext cx="5532120" cy="841248"/>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6792" y="1554480"/>
            <a:ext cx="5202936" cy="658368"/>
          </a:xfrm>
          <a:prstGeom prst="rect">
            <a:avLst/>
          </a:prstGeom>
          <a:noFill/>
        </p:spPr>
        <p:txBody>
          <a:bodyPr wrap="square" anchor="t" lIns="0" rIns="0" tIns="0" bIns="0">
            <a:spAutoFit/>
          </a:bodyPr>
          <a:lstStyle/>
          <a:p>
            <a:pPr algn="l">
              <a:lnSpc>
                <a:spcPct val="102000"/>
              </a:lnSpc>
              <a:spcBef>
                <a:spcPts val="0"/>
              </a:spcBef>
            </a:pPr>
            <a:r>
              <a:rPr sz="1100" b="1">
                <a:solidFill>
                  <a:srgbClr val="0E8B8B"/>
                </a:solidFill>
                <a:latin typeface="Segoe UI"/>
              </a:rPr>
              <a:t>Isolation Forest</a:t>
            </a:r>
          </a:p>
          <a:p>
            <a:pPr algn="l">
              <a:lnSpc>
                <a:spcPct val="102000"/>
              </a:lnSpc>
              <a:spcBef>
                <a:spcPts val="200"/>
              </a:spcBef>
            </a:pPr>
            <a:r>
              <a:rPr sz="900" b="1">
                <a:solidFill>
                  <a:srgbClr val="1E8449"/>
                </a:solidFill>
                <a:latin typeface="Segoe UI"/>
              </a:rPr>
              <a:t/>
            </a:r>
          </a:p>
          <a:p>
            <a:pPr algn="l">
              <a:lnSpc>
                <a:spcPct val="102000"/>
              </a:lnSpc>
              <a:spcBef>
                <a:spcPts val="200"/>
              </a:spcBef>
            </a:pPr>
            <a:r>
              <a:rPr sz="950" b="0">
                <a:solidFill>
                  <a:srgbClr val="12203A"/>
                </a:solidFill>
                <a:latin typeface="Segoe UI"/>
              </a:rPr>
              <a:t>Unsupervised — finds rows unlike the rest without being told what to look for.</a:t>
            </a:r>
          </a:p>
          <a:p>
            <a:pPr algn="l">
              <a:lnSpc>
                <a:spcPct val="102000"/>
              </a:lnSpc>
              <a:spcBef>
                <a:spcPts val="100"/>
              </a:spcBef>
            </a:pPr>
            <a:r>
              <a:rPr sz="850" b="0">
                <a:solidFill>
                  <a:srgbClr val="5A6672"/>
                </a:solidFill>
                <a:latin typeface="Segoe UI"/>
              </a:rPr>
              <a:t>Given no hints, it recovered all four documented patterns in the data.</a:t>
            </a:r>
          </a:p>
        </p:txBody>
      </p:sp>
      <p:sp>
        <p:nvSpPr>
          <p:cNvPr id="20" name="Rounded Rectangle 19"/>
          <p:cNvSpPr/>
          <p:nvPr/>
        </p:nvSpPr>
        <p:spPr>
          <a:xfrm>
            <a:off x="6172200" y="2359152"/>
            <a:ext cx="5532120" cy="841248"/>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792" y="2450592"/>
            <a:ext cx="5202936" cy="658368"/>
          </a:xfrm>
          <a:prstGeom prst="rect">
            <a:avLst/>
          </a:prstGeom>
          <a:noFill/>
        </p:spPr>
        <p:txBody>
          <a:bodyPr wrap="square" anchor="t" lIns="0" rIns="0" tIns="0" bIns="0">
            <a:spAutoFit/>
          </a:bodyPr>
          <a:lstStyle/>
          <a:p>
            <a:pPr algn="l">
              <a:lnSpc>
                <a:spcPct val="102000"/>
              </a:lnSpc>
              <a:spcBef>
                <a:spcPts val="0"/>
              </a:spcBef>
            </a:pPr>
            <a:r>
              <a:rPr sz="1100" b="1">
                <a:solidFill>
                  <a:srgbClr val="0E8B8B"/>
                </a:solidFill>
                <a:latin typeface="Segoe UI"/>
              </a:rPr>
              <a:t>Histogram-based gradient boosting</a:t>
            </a:r>
          </a:p>
          <a:p>
            <a:pPr algn="l">
              <a:lnSpc>
                <a:spcPct val="102000"/>
              </a:lnSpc>
              <a:spcBef>
                <a:spcPts val="200"/>
              </a:spcBef>
            </a:pPr>
            <a:r>
              <a:rPr sz="900" b="1">
                <a:solidFill>
                  <a:srgbClr val="1E8449"/>
                </a:solidFill>
                <a:latin typeface="Segoe UI"/>
              </a:rPr>
              <a:t/>
            </a:r>
          </a:p>
          <a:p>
            <a:pPr algn="l">
              <a:lnSpc>
                <a:spcPct val="102000"/>
              </a:lnSpc>
              <a:spcBef>
                <a:spcPts val="200"/>
              </a:spcBef>
            </a:pPr>
            <a:r>
              <a:rPr sz="950" b="0">
                <a:solidFill>
                  <a:srgbClr val="12203A"/>
                </a:solidFill>
                <a:latin typeface="Segoe UI"/>
              </a:rPr>
              <a:t>Supervised — many small decision trees, each correcting the last.</a:t>
            </a:r>
          </a:p>
          <a:p>
            <a:pPr algn="l">
              <a:lnSpc>
                <a:spcPct val="102000"/>
              </a:lnSpc>
              <a:spcBef>
                <a:spcPts val="100"/>
              </a:spcBef>
            </a:pPr>
            <a:r>
              <a:rPr sz="850" b="0">
                <a:solidFill>
                  <a:srgbClr val="5A6672"/>
                </a:solidFill>
                <a:latin typeface="Segoe UI"/>
              </a:rPr>
              <a:t>Used for redemption propensity and resolution time. Handles missing values and mixed column types without manual preparation.</a:t>
            </a:r>
          </a:p>
        </p:txBody>
      </p:sp>
      <p:sp>
        <p:nvSpPr>
          <p:cNvPr id="22" name="Rounded Rectangle 21"/>
          <p:cNvSpPr/>
          <p:nvPr/>
        </p:nvSpPr>
        <p:spPr>
          <a:xfrm>
            <a:off x="6172200" y="3255264"/>
            <a:ext cx="5532120" cy="841248"/>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792" y="3346704"/>
            <a:ext cx="5202936" cy="658368"/>
          </a:xfrm>
          <a:prstGeom prst="rect">
            <a:avLst/>
          </a:prstGeom>
          <a:noFill/>
        </p:spPr>
        <p:txBody>
          <a:bodyPr wrap="square" anchor="t" lIns="0" rIns="0" tIns="0" bIns="0">
            <a:spAutoFit/>
          </a:bodyPr>
          <a:lstStyle/>
          <a:p>
            <a:pPr algn="l">
              <a:lnSpc>
                <a:spcPct val="102000"/>
              </a:lnSpc>
              <a:spcBef>
                <a:spcPts val="0"/>
              </a:spcBef>
            </a:pPr>
            <a:r>
              <a:rPr sz="1100" b="1">
                <a:solidFill>
                  <a:srgbClr val="0E8B8B"/>
                </a:solidFill>
                <a:latin typeface="Segoe UI"/>
              </a:rPr>
              <a:t>Holt-Winters exponential smoothing</a:t>
            </a:r>
          </a:p>
          <a:p>
            <a:pPr algn="l">
              <a:lnSpc>
                <a:spcPct val="102000"/>
              </a:lnSpc>
              <a:spcBef>
                <a:spcPts val="200"/>
              </a:spcBef>
            </a:pPr>
            <a:r>
              <a:rPr sz="900" b="1">
                <a:solidFill>
                  <a:srgbClr val="1E8449"/>
                </a:solidFill>
                <a:latin typeface="Segoe UI"/>
              </a:rPr>
              <a:t/>
            </a:r>
          </a:p>
          <a:p>
            <a:pPr algn="l">
              <a:lnSpc>
                <a:spcPct val="102000"/>
              </a:lnSpc>
              <a:spcBef>
                <a:spcPts val="200"/>
              </a:spcBef>
            </a:pPr>
            <a:r>
              <a:rPr sz="950" b="0">
                <a:solidFill>
                  <a:srgbClr val="12203A"/>
                </a:solidFill>
                <a:latin typeface="Segoe UI"/>
              </a:rPr>
              <a:t>Classical time series — level, trend and repeating seasonality.</a:t>
            </a:r>
          </a:p>
          <a:p>
            <a:pPr algn="l">
              <a:lnSpc>
                <a:spcPct val="102000"/>
              </a:lnSpc>
              <a:spcBef>
                <a:spcPts val="100"/>
              </a:spcBef>
            </a:pPr>
            <a:r>
              <a:rPr sz="850" b="0">
                <a:solidFill>
                  <a:srgbClr val="5A6672"/>
                </a:solidFill>
                <a:latin typeface="Segoe UI"/>
              </a:rPr>
              <a:t>Chosen over a heavier model because seven months of daily data supports weekly seasonality and nothing more.</a:t>
            </a:r>
          </a:p>
        </p:txBody>
      </p:sp>
      <p:sp>
        <p:nvSpPr>
          <p:cNvPr id="24" name="Rounded Rectangle 23"/>
          <p:cNvSpPr/>
          <p:nvPr/>
        </p:nvSpPr>
        <p:spPr>
          <a:xfrm>
            <a:off x="6172200" y="4151376"/>
            <a:ext cx="5532120" cy="841248"/>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36792" y="4242816"/>
            <a:ext cx="5202936" cy="658368"/>
          </a:xfrm>
          <a:prstGeom prst="rect">
            <a:avLst/>
          </a:prstGeom>
          <a:noFill/>
        </p:spPr>
        <p:txBody>
          <a:bodyPr wrap="square" anchor="t" lIns="0" rIns="0" tIns="0" bIns="0">
            <a:spAutoFit/>
          </a:bodyPr>
          <a:lstStyle/>
          <a:p>
            <a:pPr algn="l">
              <a:lnSpc>
                <a:spcPct val="102000"/>
              </a:lnSpc>
              <a:spcBef>
                <a:spcPts val="0"/>
              </a:spcBef>
            </a:pPr>
            <a:r>
              <a:rPr sz="1100" b="1">
                <a:solidFill>
                  <a:srgbClr val="E8A317"/>
                </a:solidFill>
                <a:latin typeface="Segoe UI"/>
              </a:rPr>
              <a:t>K-means clustering, k = 4</a:t>
            </a:r>
          </a:p>
          <a:p>
            <a:pPr algn="l">
              <a:lnSpc>
                <a:spcPct val="102000"/>
              </a:lnSpc>
              <a:spcBef>
                <a:spcPts val="200"/>
              </a:spcBef>
            </a:pPr>
            <a:r>
              <a:rPr sz="900" b="1">
                <a:solidFill>
                  <a:srgbClr val="1E8449"/>
                </a:solidFill>
                <a:latin typeface="Segoe UI"/>
              </a:rPr>
              <a:t/>
            </a:r>
          </a:p>
          <a:p>
            <a:pPr algn="l">
              <a:lnSpc>
                <a:spcPct val="102000"/>
              </a:lnSpc>
              <a:spcBef>
                <a:spcPts val="200"/>
              </a:spcBef>
            </a:pPr>
            <a:r>
              <a:rPr sz="950" b="0">
                <a:solidFill>
                  <a:srgbClr val="12203A"/>
                </a:solidFill>
                <a:latin typeface="Segoe UI"/>
              </a:rPr>
              <a:t>Groups merchants by similarity into a chosen number of clusters.</a:t>
            </a:r>
          </a:p>
          <a:p>
            <a:pPr algn="l">
              <a:lnSpc>
                <a:spcPct val="102000"/>
              </a:lnSpc>
              <a:spcBef>
                <a:spcPts val="100"/>
              </a:spcBef>
            </a:pPr>
            <a:r>
              <a:rPr sz="850" b="0">
                <a:solidFill>
                  <a:srgbClr val="5A6672"/>
                </a:solidFill>
                <a:latin typeface="Segoe UI"/>
              </a:rPr>
              <a:t>k=4 matches how the business already talks about accounts, which matters more than a marginally better statistical score nobody can action.</a:t>
            </a:r>
          </a:p>
        </p:txBody>
      </p:sp>
      <p:sp>
        <p:nvSpPr>
          <p:cNvPr id="26" name="Rounded Rectangle 25"/>
          <p:cNvSpPr/>
          <p:nvPr/>
        </p:nvSpPr>
        <p:spPr>
          <a:xfrm>
            <a:off x="6172200" y="5047488"/>
            <a:ext cx="5532120" cy="841248"/>
          </a:xfrm>
          <a:prstGeom prst="roundRect">
            <a:avLst>
              <a:gd name="adj" fmla="val 4000"/>
            </a:avLst>
          </a:prstGeom>
          <a:solidFill>
            <a:srgbClr val="FFFFFF"/>
          </a:solidFill>
          <a:ln w="9525">
            <a:solidFill>
              <a:srgbClr val="DCE4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6792" y="5138927"/>
            <a:ext cx="5202936" cy="658368"/>
          </a:xfrm>
          <a:prstGeom prst="rect">
            <a:avLst/>
          </a:prstGeom>
          <a:noFill/>
        </p:spPr>
        <p:txBody>
          <a:bodyPr wrap="square" anchor="t" lIns="0" rIns="0" tIns="0" bIns="0">
            <a:spAutoFit/>
          </a:bodyPr>
          <a:lstStyle/>
          <a:p>
            <a:pPr algn="l">
              <a:lnSpc>
                <a:spcPct val="102000"/>
              </a:lnSpc>
              <a:spcBef>
                <a:spcPts val="0"/>
              </a:spcBef>
            </a:pPr>
            <a:r>
              <a:rPr sz="1100" b="1">
                <a:solidFill>
                  <a:srgbClr val="1E8449"/>
                </a:solidFill>
                <a:latin typeface="Segoe UI"/>
              </a:rPr>
              <a:t>Time-based split</a:t>
            </a:r>
          </a:p>
          <a:p>
            <a:pPr algn="l">
              <a:lnSpc>
                <a:spcPct val="102000"/>
              </a:lnSpc>
              <a:spcBef>
                <a:spcPts val="200"/>
              </a:spcBef>
            </a:pPr>
            <a:r>
              <a:rPr sz="900" b="1">
                <a:solidFill>
                  <a:srgbClr val="1E8449"/>
                </a:solidFill>
                <a:latin typeface="Segoe UI"/>
              </a:rPr>
              <a:t/>
            </a:r>
          </a:p>
          <a:p>
            <a:pPr algn="l">
              <a:lnSpc>
                <a:spcPct val="102000"/>
              </a:lnSpc>
              <a:spcBef>
                <a:spcPts val="200"/>
              </a:spcBef>
            </a:pPr>
            <a:r>
              <a:rPr sz="950" b="0">
                <a:solidFill>
                  <a:srgbClr val="12203A"/>
                </a:solidFill>
                <a:latin typeface="Segoe UI"/>
              </a:rPr>
              <a:t>Train on earlier data, test on later data. Never random.</a:t>
            </a:r>
          </a:p>
          <a:p>
            <a:pPr algn="l">
              <a:lnSpc>
                <a:spcPct val="102000"/>
              </a:lnSpc>
              <a:spcBef>
                <a:spcPts val="100"/>
              </a:spcBef>
            </a:pPr>
            <a:r>
              <a:rPr sz="850" b="0">
                <a:solidFill>
                  <a:srgbClr val="5A6672"/>
                </a:solidFill>
                <a:latin typeface="Segoe UI"/>
              </a:rPr>
              <a:t>Train Jan-May, test Jun-Jul. A random split lets the model see the future and reports a score that will not survive production.</a:t>
            </a:r>
          </a:p>
        </p:txBody>
      </p:sp>
      <p:sp>
        <p:nvSpPr>
          <p:cNvPr id="28" name="Rounded Rectangle 27"/>
          <p:cNvSpPr/>
          <p:nvPr/>
        </p:nvSpPr>
        <p:spPr>
          <a:xfrm>
            <a:off x="502920" y="6035040"/>
            <a:ext cx="11201400" cy="731520"/>
          </a:xfrm>
          <a:prstGeom prst="roundRect">
            <a:avLst>
              <a:gd name="adj" fmla="val 4000"/>
            </a:avLst>
          </a:prstGeom>
          <a:solidFill>
            <a:srgbClr val="EEF3F9"/>
          </a:solidFill>
          <a:ln w="9525">
            <a:solidFill>
              <a:srgbClr val="123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6126479"/>
            <a:ext cx="10515600" cy="566928"/>
          </a:xfrm>
          <a:prstGeom prst="rect">
            <a:avLst/>
          </a:prstGeom>
          <a:noFill/>
        </p:spPr>
        <p:txBody>
          <a:bodyPr wrap="square" anchor="t" lIns="0" rIns="0" tIns="0" bIns="0">
            <a:spAutoFit/>
          </a:bodyPr>
          <a:lstStyle/>
          <a:p>
            <a:pPr algn="l">
              <a:lnSpc>
                <a:spcPct val="115000"/>
              </a:lnSpc>
              <a:spcBef>
                <a:spcPts val="0"/>
              </a:spcBef>
            </a:pPr>
            <a:r>
              <a:rPr sz="1200" b="1">
                <a:solidFill>
                  <a:srgbClr val="12305B"/>
                </a:solidFill>
                <a:latin typeface="Segoe UI"/>
              </a:rPr>
              <a:t>The four numbers that decide whether a model is any good — in this order</a:t>
            </a:r>
          </a:p>
          <a:p>
            <a:pPr algn="l">
              <a:lnSpc>
                <a:spcPct val="115000"/>
              </a:lnSpc>
              <a:spcBef>
                <a:spcPts val="400"/>
              </a:spcBef>
            </a:pPr>
            <a:r>
              <a:rPr sz="1000" b="0">
                <a:solidFill>
                  <a:srgbClr val="12203A"/>
                </a:solidFill>
                <a:latin typeface="Segoe UI"/>
              </a:rPr>
              <a:t>1. Does it beat the naive baseline?  If not, stop — nothing else matters.      2. Train score vs test score.  A wide gap means it memorised rather than learned.      3. The headline metric against its CEILING, not against 1.0.      4. How was it validated?  A great score from a random split on time-series data is worthless.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